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今天，我要向你们展示一个东西。一个能让旅游信息查找变得简单到不可思议的东西。</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你们有没有过这样的经历？</a:t>
            </a:r>
          </a:p>
          <a:p>
            <a:endParaRPr lang="zh-CN" dirty="0"/>
          </a:p>
          <a:p>
            <a:r>
              <a:rPr lang="zh-CN" dirty="0"/>
              <a:t>你打开手机，想查一下去贵州玩什么。携程上有一份攻略，马蜂窝上有一份，小红书上还有十几篇。你想知道黄果树瀑布门票多少钱——对不起，你得翻五个页面。你想知道怎么去——对不起，再去另外三个App查。</a:t>
            </a:r>
          </a:p>
          <a:p>
            <a:endParaRPr lang="zh-CN" dirty="0"/>
          </a:p>
          <a:p>
            <a:r>
              <a:rPr lang="zh-CN" dirty="0"/>
              <a:t>一个简单的旅行计划，你要在十几个平台之间来回跳转。最后你拼凑出来的信息，还不知道哪个是对的。</a:t>
            </a:r>
          </a:p>
          <a:p>
            <a:endParaRPr lang="zh-CN" dirty="0"/>
          </a:p>
          <a:p>
            <a:r>
              <a:rPr lang="zh-CN" dirty="0"/>
              <a:t>这太荒谬了。信息明明都在那里，但你就是找不到。</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所以我们做了一个东西。</a:t>
            </a:r>
          </a:p>
          <a:p>
            <a:endParaRPr lang="zh-CN" dirty="0"/>
          </a:p>
          <a:p>
            <a:r>
              <a:rPr lang="zh-CN" dirty="0"/>
              <a:t>你只需要问一个问题。随便问，用你自己的话。比如——"黄果树瀑布门票多少钱"。</a:t>
            </a:r>
          </a:p>
          <a:p>
            <a:endParaRPr lang="zh-CN" dirty="0"/>
          </a:p>
          <a:p>
            <a:r>
              <a:rPr lang="zh-CN" dirty="0"/>
              <a:t>然后，两秒钟。</a:t>
            </a:r>
          </a:p>
          <a:p>
            <a:endParaRPr lang="zh-CN" dirty="0"/>
          </a:p>
          <a:p>
            <a:r>
              <a:rPr lang="zh-CN" dirty="0"/>
              <a:t>答案就出来了。而且它会告诉你，这个答案是从哪里来的。不是瞎编的，是有据可查的。</a:t>
            </a:r>
          </a:p>
          <a:p>
            <a:endParaRPr lang="zh-CN" dirty="0"/>
          </a:p>
          <a:p>
            <a:r>
              <a:rPr lang="zh-CN" dirty="0"/>
              <a:t>就这么简单。输入问题，得到答案。</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它能做什么？三件事。</a:t>
            </a:r>
          </a:p>
          <a:p>
            <a:endParaRPr lang="zh-CN" dirty="0"/>
          </a:p>
          <a:p>
            <a:r>
              <a:rPr lang="zh-CN" dirty="0"/>
              <a:t>第一，智能问答。你问什么，它答什么。门票、交通、开放时间、推荐——它都能理解，都能回答。</a:t>
            </a:r>
          </a:p>
          <a:p>
            <a:endParaRPr lang="zh-CN" dirty="0"/>
          </a:p>
          <a:p>
            <a:r>
              <a:rPr lang="zh-CN" dirty="0"/>
              <a:t>第二，景点地图。117个贵州景点，全部标注在地图上。你可以按类别筛选，可以看路线，可以看图片。</a:t>
            </a:r>
          </a:p>
          <a:p>
            <a:endParaRPr lang="zh-CN" dirty="0"/>
          </a:p>
          <a:p>
            <a:r>
              <a:rPr lang="zh-CN" dirty="0"/>
              <a:t>第三，信息管理。所有的景点、攻略、路线，都可以在后台管理。增删改查，一个不少。</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你们可能会问——这背后是什么？</a:t>
            </a:r>
          </a:p>
          <a:p>
            <a:endParaRPr lang="zh-CN" dirty="0"/>
          </a:p>
          <a:p>
            <a:r>
              <a:rPr lang="zh-CN" dirty="0"/>
              <a:t>四层架构。前端是HTML、CSS、JavaScript加上Leaflet（一个开源的JavaScript地图库，能在网页上显示可交互的地图，支持缩放、拖动、标注）。后端是Python Flask（Python的一个轻量级Web框架，负责接收前端请求、处理业务逻辑、调用AI模块、返回结果）。中间是AI核心——这是最关键的部分。最底层是SQLite数据库（一种轻量级嵌入式数据库，不需要单独安装数据库服务器，整个数据库就是一个.db文件），存着117个景点的全部信息。</a:t>
            </a:r>
          </a:p>
          <a:p>
            <a:endParaRPr lang="zh-CN" dirty="0"/>
          </a:p>
          <a:p>
            <a:r>
              <a:rPr lang="zh-CN" dirty="0"/>
              <a:t>每一层都在做它该做的事。简单、清晰、高效。</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AI核心是怎么工作的？六个步骤。</a:t>
            </a:r>
          </a:p>
          <a:p>
            <a:endParaRPr lang="zh-CN" dirty="0"/>
          </a:p>
          <a:p>
            <a:r>
              <a:rPr lang="zh-CN" dirty="0"/>
              <a:t>你输入问题。系统先判断你问的是什么——门票？交通？还是推荐？然后它去数据库里搜索，用TF-IDF（词频-逆文档频率，一种文本匹配算法，通过计算一个词在当前问题中出现的频率和在所有文档中出现的稀有程度，来判断哪些景点与你的问题最相关）找到最相关的景点。最后，它把这些信息整合起来，给你一个完整的答案。</a:t>
            </a:r>
          </a:p>
          <a:p>
            <a:endParaRPr lang="zh-CN" dirty="0"/>
          </a:p>
          <a:p>
            <a:r>
              <a:rPr lang="zh-CN" dirty="0"/>
              <a:t>整个过程，基于真实的数据。不会胡说八道，不会凭空捏造。每个回答，都有来源。</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用数字说话。</a:t>
            </a:r>
          </a:p>
          <a:p>
            <a:endParaRPr lang="zh-CN" dirty="0"/>
          </a:p>
          <a:p>
            <a:r>
              <a:rPr lang="zh-CN" dirty="0"/>
              <a:t>117个景点。5种意图分类。6张数据表。响应时间——不到一秒。</a:t>
            </a:r>
          </a:p>
          <a:p>
            <a:endParaRPr lang="zh-CN" dirty="0"/>
          </a:p>
          <a:p>
            <a:r>
              <a:rPr lang="zh-CN" dirty="0"/>
              <a:t>这些数字意味着什么？意味着这是一个真正能用的系统。不是demo，不是玩具，是一个完整的产品。</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我们是怎么做到的？五个阶段。</a:t>
            </a:r>
          </a:p>
          <a:p>
            <a:endParaRPr lang="zh-CN" dirty="0"/>
          </a:p>
          <a:p>
            <a:r>
              <a:rPr lang="zh-CN" dirty="0"/>
              <a:t>先搞清楚用户到底需要什么。然后去爬数据——117个景点，从多个来源整合。接着设计系统架构。然后写代码——前后端一起上。最后测试、优化、打磨。</a:t>
            </a:r>
          </a:p>
          <a:p>
            <a:endParaRPr lang="zh-CN" dirty="0"/>
          </a:p>
          <a:p>
            <a:r>
              <a:rPr lang="zh-CN" dirty="0"/>
              <a:t>技术栈？Python、Flask、SQLite。前端HTML、CSS、JavaScript。AI核心是TF-IDF检索加RAG（检索增强生成，一种让AI先从数据库中检索相关资料，再基于这些真实资料生成回答的技术，避免AI凭空捏造信息）增强。不花哨，但管用。</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总结一下。</a:t>
            </a:r>
          </a:p>
          <a:p>
            <a:endParaRPr lang="zh-CN" dirty="0"/>
          </a:p>
          <a:p>
            <a:r>
              <a:rPr lang="zh-CN" dirty="0"/>
              <a:t>已完成的：数据入库、智能问答、路线推荐、地图、管理后台、数据大屏、收藏、响应式UI——主路全部跑通。</a:t>
            </a:r>
          </a:p>
          <a:p>
            <a:endParaRPr lang="zh-CN" dirty="0"/>
          </a:p>
          <a:p>
            <a:r>
              <a:rPr lang="zh-CN" dirty="0"/>
              <a:t>还没做的：用户账号、多轮对话、更多数据、语音交互、移动端。</a:t>
            </a:r>
          </a:p>
          <a:p>
            <a:endParaRPr lang="zh-CN" dirty="0"/>
          </a:p>
          <a:p>
            <a:r>
              <a:rPr lang="zh-CN" dirty="0"/>
              <a:t>这是一个可以一直做下去的项目。它有无限的可能性。</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这就是我们的项目。一个能让旅游信息查找变得简单的东西。</a:t>
            </a:r>
          </a:p>
          <a:p>
            <a:endParaRPr lang="zh-CN" dirty="0"/>
          </a:p>
          <a:p>
            <a:r>
              <a:rPr lang="zh-CN" dirty="0"/>
              <a:t>谢谢大家。现在，欢迎提问。</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60e923c31e42244.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6144e1a411f77ef.png"/>
  <Relationship Id="rId3"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df88f8db87abcea.png"/>
  <Relationship Id="rId3"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e5933dc906a226d.png"/>
  <Relationship Id="rId3"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32949eb0cf8e292.png"/>
  <Relationship Id="rId3"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60e923c31e42244.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06144e1a411f77ef.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df88f8db87abcea.png"/>
  <Relationship Id="rId3"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4e5933dc906a226d.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e32949eb0cf8e292.png"/>
  <Relationship Id="rId3"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1A1A2E">
                  <a:alpha val="30000"/>
                </a:srgbClr>
              </a:gs>
              <a:gs pos="60000">
                <a:srgbClr val="1A1A2E">
                  <a:alpha val="50000"/>
                </a:srgbClr>
              </a:gs>
              <a:gs pos="100000">
                <a:srgbClr val="1A1A2E">
                  <a:alpha val="80000"/>
                </a:srgbClr>
              </a:gs>
            </a:gsLst>
            <a:lin ang="5400000" scaled="1"/>
          </a:gradFill>
          <a:ln>
            <a:noFill/>
          </a:ln>
        </p:spPr>
      </p:sp>
      <p:grpSp>
        <p:nvGrpSpPr>
          <p:cNvPr id="7" name="Group 7"/>
          <p:cNvGrpSpPr/>
          <p:nvPr/>
        </p:nvGrpSpPr>
        <p:grpSpPr>
          <a:xfrm>
            <a:off x="5708656" y="1765306"/>
            <a:ext cx="374638" cy="355587"/>
            <a:chOff x="5708656" y="1765306"/>
            <a:chExt cx="374638" cy="355587"/>
          </a:xfrm>
        </p:grpSpPr>
        <p:sp>
          <p:nvSpPr>
            <p:cNvPr id="4" name="Freeform 4"/>
            <p:cNvSpPr/>
            <p:nvPr/>
          </p:nvSpPr>
          <p:spPr>
            <a:xfrm>
              <a:off x="5962650" y="1993906"/>
              <a:ext cx="120644" cy="126987"/>
            </a:xfrm>
            <a:custGeom>
              <a:avLst/>
              <a:gdLst/>
              <a:ahLst/>
              <a:cxnLst/>
              <a:rect l="l" t="t" r="r" b="b"/>
              <a:pathLst>
                <a:path w="120644" h="126987">
                  <a:moveTo>
                    <a:pt x="19050" y="82544"/>
                  </a:moveTo>
                  <a:cubicBezTo>
                    <a:pt x="8529" y="82544"/>
                    <a:pt x="0" y="74015"/>
                    <a:pt x="0" y="63494"/>
                  </a:cubicBezTo>
                  <a:cubicBezTo>
                    <a:pt x="0" y="52973"/>
                    <a:pt x="8529" y="44444"/>
                    <a:pt x="19050" y="44444"/>
                  </a:cubicBezTo>
                  <a:cubicBezTo>
                    <a:pt x="29571" y="44444"/>
                    <a:pt x="38100" y="35915"/>
                    <a:pt x="38100" y="25394"/>
                  </a:cubicBezTo>
                  <a:cubicBezTo>
                    <a:pt x="38100" y="0"/>
                    <a:pt x="76200" y="0"/>
                    <a:pt x="76200" y="25394"/>
                  </a:cubicBezTo>
                  <a:cubicBezTo>
                    <a:pt x="76200" y="35915"/>
                    <a:pt x="84729" y="44444"/>
                    <a:pt x="95250" y="44444"/>
                  </a:cubicBezTo>
                  <a:cubicBezTo>
                    <a:pt x="120644" y="44444"/>
                    <a:pt x="120644" y="82544"/>
                    <a:pt x="95250" y="82544"/>
                  </a:cubicBezTo>
                  <a:cubicBezTo>
                    <a:pt x="84729" y="82544"/>
                    <a:pt x="76200" y="91073"/>
                    <a:pt x="76200" y="101594"/>
                  </a:cubicBezTo>
                  <a:cubicBezTo>
                    <a:pt x="76200" y="126987"/>
                    <a:pt x="38100" y="126987"/>
                    <a:pt x="38100" y="101594"/>
                  </a:cubicBezTo>
                  <a:cubicBezTo>
                    <a:pt x="38100" y="91073"/>
                    <a:pt x="29571" y="82544"/>
                    <a:pt x="19050" y="82544"/>
                  </a:cubicBezTo>
                </a:path>
              </a:pathLst>
            </a:custGeom>
            <a:solidFill>
              <a:srgbClr val="FFFFFF"/>
            </a:solidFill>
            <a:ln>
              <a:noFill/>
            </a:ln>
          </p:spPr>
        </p:sp>
        <p:sp>
          <p:nvSpPr>
            <p:cNvPr id="5" name="Freeform 5"/>
            <p:cNvSpPr/>
            <p:nvPr/>
          </p:nvSpPr>
          <p:spPr>
            <a:xfrm>
              <a:off x="5708656" y="1803406"/>
              <a:ext cx="279387" cy="273044"/>
            </a:xfrm>
            <a:custGeom>
              <a:avLst/>
              <a:gdLst/>
              <a:ahLst/>
              <a:cxnLst/>
              <a:rect l="l" t="t" r="r" b="b"/>
              <a:pathLst>
                <a:path w="279387" h="273044">
                  <a:moveTo>
                    <a:pt x="25394" y="120644"/>
                  </a:moveTo>
                  <a:cubicBezTo>
                    <a:pt x="77999" y="120644"/>
                    <a:pt x="120644" y="77999"/>
                    <a:pt x="120644" y="25394"/>
                  </a:cubicBezTo>
                  <a:cubicBezTo>
                    <a:pt x="120644" y="0"/>
                    <a:pt x="158744" y="0"/>
                    <a:pt x="158744" y="25394"/>
                  </a:cubicBezTo>
                  <a:cubicBezTo>
                    <a:pt x="158744" y="77999"/>
                    <a:pt x="201389" y="120644"/>
                    <a:pt x="253994" y="120644"/>
                  </a:cubicBezTo>
                  <a:cubicBezTo>
                    <a:pt x="279387" y="120644"/>
                    <a:pt x="279387" y="158744"/>
                    <a:pt x="253994" y="158744"/>
                  </a:cubicBezTo>
                  <a:cubicBezTo>
                    <a:pt x="201389" y="158744"/>
                    <a:pt x="158744" y="201389"/>
                    <a:pt x="158744" y="253994"/>
                  </a:cubicBezTo>
                  <a:cubicBezTo>
                    <a:pt x="158744" y="264515"/>
                    <a:pt x="150215" y="273044"/>
                    <a:pt x="139694" y="273044"/>
                  </a:cubicBezTo>
                  <a:cubicBezTo>
                    <a:pt x="129173" y="273044"/>
                    <a:pt x="120644" y="264515"/>
                    <a:pt x="120644" y="253994"/>
                  </a:cubicBezTo>
                  <a:cubicBezTo>
                    <a:pt x="120644" y="201389"/>
                    <a:pt x="77999" y="158744"/>
                    <a:pt x="25394" y="158744"/>
                  </a:cubicBezTo>
                  <a:cubicBezTo>
                    <a:pt x="0" y="158744"/>
                    <a:pt x="0" y="120644"/>
                    <a:pt x="25394" y="120644"/>
                  </a:cubicBezTo>
                </a:path>
              </a:pathLst>
            </a:custGeom>
            <a:solidFill>
              <a:srgbClr val="FFFFFF"/>
            </a:solidFill>
            <a:ln>
              <a:noFill/>
            </a:ln>
          </p:spPr>
        </p:sp>
        <p:sp>
          <p:nvSpPr>
            <p:cNvPr id="6" name="Freeform 6"/>
            <p:cNvSpPr/>
            <p:nvPr/>
          </p:nvSpPr>
          <p:spPr>
            <a:xfrm>
              <a:off x="5962650" y="1765306"/>
              <a:ext cx="120644" cy="126987"/>
            </a:xfrm>
            <a:custGeom>
              <a:avLst/>
              <a:gdLst/>
              <a:ahLst/>
              <a:cxnLst/>
              <a:rect l="l" t="t" r="r" b="b"/>
              <a:pathLst>
                <a:path w="120644" h="126987">
                  <a:moveTo>
                    <a:pt x="19050" y="82544"/>
                  </a:moveTo>
                  <a:cubicBezTo>
                    <a:pt x="8529" y="82544"/>
                    <a:pt x="0" y="74015"/>
                    <a:pt x="0" y="63494"/>
                  </a:cubicBezTo>
                  <a:cubicBezTo>
                    <a:pt x="0" y="52973"/>
                    <a:pt x="8529" y="44444"/>
                    <a:pt x="19050" y="44444"/>
                  </a:cubicBezTo>
                  <a:cubicBezTo>
                    <a:pt x="29571" y="44444"/>
                    <a:pt x="38100" y="35915"/>
                    <a:pt x="38100" y="25394"/>
                  </a:cubicBezTo>
                  <a:cubicBezTo>
                    <a:pt x="38100" y="0"/>
                    <a:pt x="76200" y="0"/>
                    <a:pt x="76200" y="25394"/>
                  </a:cubicBezTo>
                  <a:cubicBezTo>
                    <a:pt x="76200" y="35915"/>
                    <a:pt x="84729" y="44444"/>
                    <a:pt x="95250" y="44444"/>
                  </a:cubicBezTo>
                  <a:cubicBezTo>
                    <a:pt x="120644" y="44444"/>
                    <a:pt x="120644" y="82544"/>
                    <a:pt x="95250" y="82544"/>
                  </a:cubicBezTo>
                  <a:cubicBezTo>
                    <a:pt x="84729" y="82544"/>
                    <a:pt x="76200" y="91073"/>
                    <a:pt x="76200" y="101594"/>
                  </a:cubicBezTo>
                  <a:cubicBezTo>
                    <a:pt x="76200" y="126987"/>
                    <a:pt x="38100" y="126987"/>
                    <a:pt x="38100" y="101594"/>
                  </a:cubicBezTo>
                  <a:cubicBezTo>
                    <a:pt x="38100" y="91073"/>
                    <a:pt x="29571" y="82544"/>
                    <a:pt x="19050" y="82544"/>
                  </a:cubicBezTo>
                </a:path>
              </a:pathLst>
            </a:custGeom>
            <a:solidFill>
              <a:srgbClr val="FFFFFF"/>
            </a:solidFill>
            <a:ln>
              <a:noFill/>
            </a:ln>
          </p:spPr>
        </p:sp>
      </p:grpSp>
      <p:sp>
        <p:nvSpPr>
          <p:cNvPr id="8" name="TextBox 8"/>
          <p:cNvSpPr txBox="1"/>
          <p:nvPr/>
        </p:nvSpPr>
        <p:spPr>
          <a:xfrm>
            <a:off x="4252246" y="2245995"/>
            <a:ext cx="3687508" cy="792480"/>
          </a:xfrm>
          <a:prstGeom prst="rect">
            <a:avLst/>
          </a:prstGeom>
          <a:noFill/>
          <a:ln>
            <a:noFill/>
          </a:ln>
        </p:spPr>
        <p:txBody>
          <a:bodyPr wrap="none" lIns="0" tIns="0" rIns="0" bIns="0" anchor="t" anchorCtr="0">
            <a:spAutoFit/>
          </a:bodyPr>
          <a:lstStyle/>
          <a:p>
            <a:pPr algn="ctr"/>
            <a:r>
              <a:rPr lang="zh-CN" sz="3900" b="1" dirty="0">
                <a:solidFill>
                  <a:srgbClr val="FFFFFF"/>
                </a:solidFill>
                <a:latin typeface="Georgia"/>
                <a:ea typeface="Microsoft YaHei"/>
                <a:cs typeface="Georgia"/>
              </a:rPr>
              <a:t>贵州旅游景点</a:t>
            </a:r>
          </a:p>
        </p:txBody>
      </p:sp>
      <p:sp>
        <p:nvSpPr>
          <p:cNvPr id="9" name="TextBox 9"/>
          <p:cNvSpPr txBox="1"/>
          <p:nvPr/>
        </p:nvSpPr>
        <p:spPr>
          <a:xfrm>
            <a:off x="4252246" y="2817495"/>
            <a:ext cx="3687508" cy="792480"/>
          </a:xfrm>
          <a:prstGeom prst="rect">
            <a:avLst/>
          </a:prstGeom>
          <a:noFill/>
          <a:ln>
            <a:noFill/>
          </a:ln>
        </p:spPr>
        <p:txBody>
          <a:bodyPr wrap="none" lIns="0" tIns="0" rIns="0" bIns="0" anchor="t" anchorCtr="0">
            <a:spAutoFit/>
          </a:bodyPr>
          <a:lstStyle/>
          <a:p>
            <a:pPr algn="ctr"/>
            <a:r>
              <a:rPr lang="zh-CN" sz="3900" b="1" dirty="0">
                <a:solidFill>
                  <a:srgbClr val="FFFFFF"/>
                </a:solidFill>
                <a:latin typeface="Georgia"/>
                <a:ea typeface="Microsoft YaHei"/>
                <a:cs typeface="Georgia"/>
              </a:rPr>
              <a:t>智能问答助手</a:t>
            </a:r>
          </a:p>
        </p:txBody>
      </p:sp>
      <p:sp>
        <p:nvSpPr>
          <p:cNvPr id="10" name="TextBox 10"/>
          <p:cNvSpPr txBox="1"/>
          <p:nvPr/>
        </p:nvSpPr>
        <p:spPr>
          <a:xfrm>
            <a:off x="4478536" y="3631882"/>
            <a:ext cx="3234928" cy="335280"/>
          </a:xfrm>
          <a:prstGeom prst="rect">
            <a:avLst/>
          </a:prstGeom>
          <a:noFill/>
          <a:ln>
            <a:noFill/>
          </a:ln>
        </p:spPr>
        <p:txBody>
          <a:bodyPr wrap="none" lIns="0" tIns="0" rIns="0" bIns="0" anchor="t" anchorCtr="0">
            <a:spAutoFit/>
          </a:bodyPr>
          <a:lstStyle/>
          <a:p>
            <a:pPr algn="ctr"/>
            <a:r>
              <a:rPr lang="zh-CN" sz="1650" dirty="0">
                <a:solidFill>
                  <a:srgbClr val="FFFFFF">
                    <a:alpha val="90000"/>
                  </a:srgbClr>
                </a:solidFill>
                <a:latin typeface="Arial"/>
                <a:ea typeface="Microsoft YaHei"/>
                <a:cs typeface="Arial"/>
              </a:rPr>
              <a:t>基于 RAG 的智慧旅游问答系统</a:t>
            </a:r>
          </a:p>
        </p:txBody>
      </p:sp>
      <p:sp>
        <p:nvSpPr>
          <p:cNvPr id="11" name="Line 11"/>
          <p:cNvSpPr/>
          <p:nvPr/>
        </p:nvSpPr>
        <p:spPr>
          <a:xfrm>
            <a:off x="5143500" y="4095750"/>
            <a:ext cx="1905000" cy="9525"/>
          </a:xfrm>
          <a:custGeom>
            <a:avLst/>
            <a:gdLst/>
            <a:ahLst/>
            <a:cxnLst/>
            <a:rect l="l" t="t" r="r" b="b"/>
            <a:pathLst>
              <a:path w="1905000" h="9525">
                <a:moveTo>
                  <a:pt x="0" y="0"/>
                </a:moveTo>
                <a:lnTo>
                  <a:pt x="1905000" y="0"/>
                </a:lnTo>
              </a:path>
            </a:pathLst>
          </a:custGeom>
          <a:noFill/>
          <a:ln w="19050">
            <a:solidFill>
              <a:srgbClr val="00B96B"/>
            </a:solidFill>
          </a:ln>
        </p:spPr>
      </p:sp>
      <p:sp>
        <p:nvSpPr>
          <p:cNvPr id="12" name="TextBox 12"/>
          <p:cNvSpPr txBox="1"/>
          <p:nvPr/>
        </p:nvSpPr>
        <p:spPr>
          <a:xfrm>
            <a:off x="5261420" y="4347210"/>
            <a:ext cx="1669161" cy="243840"/>
          </a:xfrm>
          <a:prstGeom prst="rect">
            <a:avLst/>
          </a:prstGeom>
          <a:noFill/>
          <a:ln>
            <a:noFill/>
          </a:ln>
        </p:spPr>
        <p:txBody>
          <a:bodyPr wrap="none" lIns="0" tIns="0" rIns="0" bIns="0" anchor="t" anchorCtr="0">
            <a:spAutoFit/>
          </a:bodyPr>
          <a:lstStyle/>
          <a:p>
            <a:pPr algn="ctr"/>
            <a:r>
              <a:rPr lang="zh-CN" sz="1200" dirty="0">
                <a:solidFill>
                  <a:srgbClr val="FFFFFF">
                    <a:alpha val="80000"/>
                  </a:srgbClr>
                </a:solidFill>
                <a:latin typeface="Arial"/>
                <a:ea typeface="Microsoft YaHei"/>
                <a:cs typeface="Arial"/>
              </a:rPr>
              <a:t>期末课程答辩 · 2026</a:t>
            </a:r>
          </a:p>
        </p:txBody>
      </p:sp>
      <p:sp>
        <p:nvSpPr>
          <p:cNvPr id="13" name="Rectangle 13"/>
          <p:cNvSpPr/>
          <p:nvPr/>
        </p:nvSpPr>
        <p:spPr>
          <a:xfrm>
            <a:off x="0" y="6477000"/>
            <a:ext cx="12192000" cy="381000"/>
          </a:xfrm>
          <a:prstGeom prst="rect">
            <a:avLst/>
          </a:prstGeom>
          <a:solidFill>
            <a:srgbClr val="000000">
              <a:alpha val="40000"/>
            </a:srgbClr>
          </a:solidFill>
          <a:ln>
            <a:noFill/>
          </a:ln>
        </p:spPr>
      </p:sp>
      <p:sp>
        <p:nvSpPr>
          <p:cNvPr id="14" name="TextBox 14"/>
          <p:cNvSpPr txBox="1"/>
          <p:nvPr/>
        </p:nvSpPr>
        <p:spPr>
          <a:xfrm>
            <a:off x="4478072" y="6619399"/>
            <a:ext cx="3235857" cy="198120"/>
          </a:xfrm>
          <a:prstGeom prst="rect">
            <a:avLst/>
          </a:prstGeom>
          <a:noFill/>
          <a:ln>
            <a:noFill/>
          </a:ln>
        </p:spPr>
        <p:txBody>
          <a:bodyPr wrap="none" lIns="0" tIns="0" rIns="0" bIns="0" anchor="t" anchorCtr="0">
            <a:spAutoFit/>
          </a:bodyPr>
          <a:lstStyle/>
          <a:p>
            <a:pPr algn="ctr"/>
            <a:r>
              <a:rPr lang="zh-CN" sz="975" dirty="0">
                <a:solidFill>
                  <a:srgbClr val="FFFFFF">
                    <a:alpha val="70000"/>
                  </a:srgbClr>
                </a:solidFill>
                <a:latin typeface="Arial"/>
                <a:ea typeface="Microsoft YaHei"/>
                <a:cs typeface="Arial"/>
              </a:rPr>
              <a:t>贵州旅游景点智能问答助手 — Graduation Defense</a:t>
            </a: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1A1A2E">
                  <a:alpha val="85000"/>
                </a:srgbClr>
              </a:gs>
              <a:gs pos="100000">
                <a:srgbClr val="0D1B2A">
                  <a:alpha val="90000"/>
                </a:srgbClr>
              </a:gs>
            </a:gsLst>
            <a:lin ang="2700000" scaled="1"/>
          </a:gradFill>
          <a:ln>
            <a:noFill/>
          </a:ln>
        </p:spPr>
      </p:sp>
      <p:sp>
        <p:nvSpPr>
          <p:cNvPr id="4" name="Rectangle 4"/>
          <p:cNvSpPr/>
          <p:nvPr/>
        </p:nvSpPr>
        <p:spPr>
          <a:xfrm>
            <a:off x="0" y="0"/>
            <a:ext cx="76200" cy="6858000"/>
          </a:xfrm>
          <a:prstGeom prst="rect">
            <a:avLst/>
          </a:prstGeom>
          <a:solidFill>
            <a:srgbClr val="00B96B"/>
          </a:solidFill>
          <a:ln>
            <a:noFill/>
          </a:ln>
        </p:spPr>
      </p:sp>
      <p:sp>
        <p:nvSpPr>
          <p:cNvPr id="5" name="TextBox 5"/>
          <p:cNvSpPr txBox="1"/>
          <p:nvPr/>
        </p:nvSpPr>
        <p:spPr>
          <a:xfrm>
            <a:off x="748665" y="1029652"/>
            <a:ext cx="670750" cy="213360"/>
          </a:xfrm>
          <a:prstGeom prst="rect">
            <a:avLst/>
          </a:prstGeom>
          <a:noFill/>
          <a:ln>
            <a:noFill/>
          </a:ln>
        </p:spPr>
        <p:txBody>
          <a:bodyPr wrap="none" lIns="0" tIns="0" rIns="0" bIns="0" anchor="t" anchorCtr="0">
            <a:spAutoFit/>
          </a:bodyPr>
          <a:lstStyle/>
          <a:p>
            <a:pPr algn="l"/>
            <a:r>
              <a:rPr lang="zh-CN" sz="1050" b="1" dirty="0">
                <a:solidFill>
                  <a:srgbClr val="00B96B"/>
                </a:solidFill>
                <a:latin typeface="Arial"/>
                <a:ea typeface="Microsoft YaHei"/>
                <a:cs typeface="Arial"/>
              </a:rPr>
              <a:t>问题背景</a:t>
            </a:r>
          </a:p>
        </p:txBody>
      </p:sp>
      <p:sp>
        <p:nvSpPr>
          <p:cNvPr id="6" name="TextBox 6"/>
          <p:cNvSpPr txBox="1"/>
          <p:nvPr/>
        </p:nvSpPr>
        <p:spPr>
          <a:xfrm>
            <a:off x="721995" y="1374458"/>
            <a:ext cx="4427553" cy="640080"/>
          </a:xfrm>
          <a:prstGeom prst="rect">
            <a:avLst/>
          </a:prstGeom>
          <a:noFill/>
          <a:ln>
            <a:noFill/>
          </a:ln>
        </p:spPr>
        <p:txBody>
          <a:bodyPr wrap="none" lIns="0" tIns="0" rIns="0" bIns="0" anchor="t" anchorCtr="0">
            <a:spAutoFit/>
          </a:bodyPr>
          <a:lstStyle/>
          <a:p>
            <a:pPr algn="l"/>
            <a:r>
              <a:rPr lang="zh-CN" sz="3150" b="1" dirty="0">
                <a:solidFill>
                  <a:srgbClr val="FFFFFF"/>
                </a:solidFill>
                <a:latin typeface="Georgia"/>
                <a:ea typeface="Microsoft YaHei"/>
                <a:cs typeface="Georgia"/>
              </a:rPr>
              <a:t>旅游信息查找的困境</a:t>
            </a:r>
          </a:p>
        </p:txBody>
      </p:sp>
      <p:sp>
        <p:nvSpPr>
          <p:cNvPr id="7" name="TextBox 7"/>
          <p:cNvSpPr txBox="1"/>
          <p:nvPr/>
        </p:nvSpPr>
        <p:spPr>
          <a:xfrm>
            <a:off x="744855" y="1949768"/>
            <a:ext cx="2400300" cy="274320"/>
          </a:xfrm>
          <a:prstGeom prst="rect">
            <a:avLst/>
          </a:prstGeom>
          <a:noFill/>
          <a:ln>
            <a:noFill/>
          </a:ln>
        </p:spPr>
        <p:txBody>
          <a:bodyPr wrap="none" lIns="0" tIns="0" rIns="0" bIns="0" anchor="t" anchorCtr="0">
            <a:spAutoFit/>
          </a:bodyPr>
          <a:lstStyle/>
          <a:p>
            <a:pPr algn="l"/>
            <a:r>
              <a:rPr lang="zh-CN" sz="1350" dirty="0">
                <a:solidFill>
                  <a:srgbClr val="CCCCCC"/>
                </a:solidFill>
                <a:latin typeface="Arial"/>
                <a:ea typeface="Microsoft YaHei"/>
                <a:cs typeface="Arial"/>
              </a:rPr>
              <a:t>你是否也有过这样的经历？</a:t>
            </a:r>
          </a:p>
        </p:txBody>
      </p:sp>
      <p:grpSp>
        <p:nvGrpSpPr>
          <p:cNvPr id="12" name="Group 12"/>
          <p:cNvGrpSpPr/>
          <p:nvPr/>
        </p:nvGrpSpPr>
        <p:grpSpPr>
          <a:xfrm>
            <a:off x="762000" y="2667000"/>
            <a:ext cx="4953000" cy="952500"/>
            <a:chOff x="762000" y="2667000"/>
            <a:chExt cx="4953000" cy="952500"/>
          </a:xfrm>
        </p:grpSpPr>
        <p:sp>
          <p:nvSpPr>
            <p:cNvPr id="8" name="Rectangle 8"/>
            <p:cNvSpPr/>
            <p:nvPr/>
          </p:nvSpPr>
          <p:spPr>
            <a:xfrm>
              <a:off x="762000" y="2667000"/>
              <a:ext cx="4953000" cy="952500"/>
            </a:xfrm>
            <a:prstGeom prst="roundRect">
              <a:avLst>
                <a:gd name="adj" fmla="val 12000"/>
              </a:avLst>
            </a:prstGeom>
            <a:solidFill>
              <a:srgbClr val="FFFFFF">
                <a:alpha val="12000"/>
              </a:srgbClr>
            </a:solidFill>
            <a:ln>
              <a:noFill/>
            </a:ln>
          </p:spPr>
        </p:sp>
        <p:sp>
          <p:nvSpPr>
            <p:cNvPr id="9" name="Freeform 9"/>
            <p:cNvSpPr/>
            <p:nvPr/>
          </p:nvSpPr>
          <p:spPr>
            <a:xfrm>
              <a:off x="1066855" y="2950548"/>
              <a:ext cx="331510" cy="333766"/>
            </a:xfrm>
            <a:custGeom>
              <a:avLst/>
              <a:gdLst/>
              <a:ahLst/>
              <a:cxnLst/>
              <a:rect l="l" t="t" r="r" b="b"/>
              <a:pathLst>
                <a:path w="331510" h="333766">
                  <a:moveTo>
                    <a:pt x="203145" y="31920"/>
                  </a:moveTo>
                  <a:cubicBezTo>
                    <a:pt x="234928" y="50266"/>
                    <a:pt x="257220" y="81464"/>
                    <a:pt x="264280" y="117477"/>
                  </a:cubicBezTo>
                  <a:cubicBezTo>
                    <a:pt x="271340" y="153489"/>
                    <a:pt x="262478" y="190795"/>
                    <a:pt x="239975" y="219784"/>
                  </a:cubicBezTo>
                  <a:lnTo>
                    <a:pt x="325493" y="305303"/>
                  </a:lnTo>
                  <a:cubicBezTo>
                    <a:pt x="331510" y="311532"/>
                    <a:pt x="331424" y="321433"/>
                    <a:pt x="325300" y="327557"/>
                  </a:cubicBezTo>
                  <a:cubicBezTo>
                    <a:pt x="319176" y="333680"/>
                    <a:pt x="309275" y="333766"/>
                    <a:pt x="303046" y="327750"/>
                  </a:cubicBezTo>
                  <a:lnTo>
                    <a:pt x="217512" y="242232"/>
                  </a:lnTo>
                  <a:cubicBezTo>
                    <a:pt x="167092" y="281355"/>
                    <a:pt x="95470" y="276985"/>
                    <a:pt x="50180" y="232024"/>
                  </a:cubicBezTo>
                  <a:cubicBezTo>
                    <a:pt x="4890" y="187062"/>
                    <a:pt x="0" y="115473"/>
                    <a:pt x="38755" y="64771"/>
                  </a:cubicBezTo>
                  <a:cubicBezTo>
                    <a:pt x="77511" y="14068"/>
                    <a:pt x="147874" y="0"/>
                    <a:pt x="203145" y="31904"/>
                  </a:cubicBezTo>
                </a:path>
              </a:pathLst>
            </a:custGeom>
            <a:solidFill>
              <a:srgbClr val="FA541C"/>
            </a:solidFill>
            <a:ln>
              <a:noFill/>
            </a:ln>
          </p:spPr>
        </p:sp>
        <p:sp>
          <p:nvSpPr>
            <p:cNvPr id="10" name="TextBox 10"/>
            <p:cNvSpPr txBox="1"/>
            <p:nvPr/>
          </p:nvSpPr>
          <p:spPr>
            <a:xfrm>
              <a:off x="1600200" y="2867025"/>
              <a:ext cx="1188244"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信息碎片化</a:t>
              </a:r>
            </a:p>
          </p:txBody>
        </p:sp>
        <p:sp>
          <p:nvSpPr>
            <p:cNvPr id="11" name="TextBox 11"/>
            <p:cNvSpPr txBox="1"/>
            <p:nvPr/>
          </p:nvSpPr>
          <p:spPr>
            <a:xfrm>
              <a:off x="1604010" y="3185160"/>
              <a:ext cx="3605784" cy="243840"/>
            </a:xfrm>
            <a:prstGeom prst="rect">
              <a:avLst/>
            </a:prstGeom>
            <a:noFill/>
            <a:ln>
              <a:noFill/>
            </a:ln>
          </p:spPr>
          <p:txBody>
            <a:bodyPr wrap="none" lIns="0" tIns="0" rIns="0" bIns="0" anchor="t" anchorCtr="0">
              <a:spAutoFit/>
            </a:bodyPr>
            <a:lstStyle/>
            <a:p>
              <a:pPr algn="l"/>
              <a:r>
                <a:rPr lang="zh-CN" sz="1200" dirty="0">
                  <a:solidFill>
                    <a:srgbClr val="CCCCCC"/>
                  </a:solidFill>
                  <a:latin typeface="Arial"/>
                  <a:ea typeface="Microsoft YaHei"/>
                  <a:cs typeface="Arial"/>
                </a:rPr>
                <a:t>攻略散落在携程、马蜂窝、小红书等10+个平台</a:t>
              </a:r>
            </a:p>
          </p:txBody>
        </p:sp>
      </p:grpSp>
      <p:grpSp>
        <p:nvGrpSpPr>
          <p:cNvPr id="17" name="Group 17"/>
          <p:cNvGrpSpPr/>
          <p:nvPr/>
        </p:nvGrpSpPr>
        <p:grpSpPr>
          <a:xfrm>
            <a:off x="762000" y="3810000"/>
            <a:ext cx="4953000" cy="952500"/>
            <a:chOff x="762000" y="3810000"/>
            <a:chExt cx="4953000" cy="952500"/>
          </a:xfrm>
        </p:grpSpPr>
        <p:sp>
          <p:nvSpPr>
            <p:cNvPr id="13" name="Rectangle 13"/>
            <p:cNvSpPr/>
            <p:nvPr/>
          </p:nvSpPr>
          <p:spPr>
            <a:xfrm>
              <a:off x="762000" y="3810000"/>
              <a:ext cx="4953000" cy="952500"/>
            </a:xfrm>
            <a:prstGeom prst="roundRect">
              <a:avLst>
                <a:gd name="adj" fmla="val 12000"/>
              </a:avLst>
            </a:prstGeom>
            <a:solidFill>
              <a:srgbClr val="FFFFFF">
                <a:alpha val="12000"/>
              </a:srgbClr>
            </a:solidFill>
            <a:ln>
              <a:noFill/>
            </a:ln>
          </p:spPr>
        </p:sp>
        <p:sp>
          <p:nvSpPr>
            <p:cNvPr id="14" name="Freeform 14"/>
            <p:cNvSpPr/>
            <p:nvPr/>
          </p:nvSpPr>
          <p:spPr>
            <a:xfrm>
              <a:off x="1079500" y="4124325"/>
              <a:ext cx="317500" cy="302368"/>
            </a:xfrm>
            <a:custGeom>
              <a:avLst/>
              <a:gdLst/>
              <a:ahLst/>
              <a:cxnLst/>
              <a:rect l="l" t="t" r="r" b="b"/>
              <a:pathLst>
                <a:path w="317500" h="302368">
                  <a:moveTo>
                    <a:pt x="254000" y="0"/>
                  </a:moveTo>
                  <a:cubicBezTo>
                    <a:pt x="289070" y="0"/>
                    <a:pt x="317500" y="28430"/>
                    <a:pt x="317500" y="63500"/>
                  </a:cubicBezTo>
                  <a:lnTo>
                    <a:pt x="317500" y="190500"/>
                  </a:lnTo>
                  <a:cubicBezTo>
                    <a:pt x="317500" y="225570"/>
                    <a:pt x="289070" y="254000"/>
                    <a:pt x="254000" y="254000"/>
                  </a:cubicBezTo>
                  <a:lnTo>
                    <a:pt x="179007" y="254000"/>
                  </a:lnTo>
                  <a:lnTo>
                    <a:pt x="103410" y="299355"/>
                  </a:lnTo>
                  <a:cubicBezTo>
                    <a:pt x="98784" y="302131"/>
                    <a:pt x="93064" y="302368"/>
                    <a:pt x="88225" y="299983"/>
                  </a:cubicBezTo>
                  <a:cubicBezTo>
                    <a:pt x="83385" y="297599"/>
                    <a:pt x="80088" y="292919"/>
                    <a:pt x="79470" y="287560"/>
                  </a:cubicBezTo>
                  <a:lnTo>
                    <a:pt x="79375" y="285750"/>
                  </a:lnTo>
                  <a:lnTo>
                    <a:pt x="79375" y="254000"/>
                  </a:lnTo>
                  <a:lnTo>
                    <a:pt x="63500" y="254000"/>
                  </a:lnTo>
                  <a:cubicBezTo>
                    <a:pt x="29664" y="254000"/>
                    <a:pt x="1771" y="227469"/>
                    <a:pt x="79" y="193675"/>
                  </a:cubicBezTo>
                  <a:lnTo>
                    <a:pt x="0" y="190500"/>
                  </a:lnTo>
                  <a:lnTo>
                    <a:pt x="0" y="63500"/>
                  </a:lnTo>
                  <a:cubicBezTo>
                    <a:pt x="0" y="28430"/>
                    <a:pt x="28430" y="0"/>
                    <a:pt x="63500" y="0"/>
                  </a:cubicBezTo>
                  <a:close/>
                  <a:moveTo>
                    <a:pt x="209550" y="147415"/>
                  </a:moveTo>
                  <a:cubicBezTo>
                    <a:pt x="203290" y="141279"/>
                    <a:pt x="193240" y="141378"/>
                    <a:pt x="187103" y="147638"/>
                  </a:cubicBezTo>
                  <a:cubicBezTo>
                    <a:pt x="179638" y="155259"/>
                    <a:pt x="169418" y="159554"/>
                    <a:pt x="158750" y="159554"/>
                  </a:cubicBezTo>
                  <a:cubicBezTo>
                    <a:pt x="148082" y="159554"/>
                    <a:pt x="137862" y="155259"/>
                    <a:pt x="130397" y="147638"/>
                  </a:cubicBezTo>
                  <a:cubicBezTo>
                    <a:pt x="124233" y="141527"/>
                    <a:pt x="114305" y="141500"/>
                    <a:pt x="108108" y="147576"/>
                  </a:cubicBezTo>
                  <a:cubicBezTo>
                    <a:pt x="101910" y="153652"/>
                    <a:pt x="101741" y="163579"/>
                    <a:pt x="107728" y="169862"/>
                  </a:cubicBezTo>
                  <a:cubicBezTo>
                    <a:pt x="121164" y="183573"/>
                    <a:pt x="139553" y="191300"/>
                    <a:pt x="158750" y="191300"/>
                  </a:cubicBezTo>
                  <a:cubicBezTo>
                    <a:pt x="177947" y="191300"/>
                    <a:pt x="196336" y="183573"/>
                    <a:pt x="209772" y="169862"/>
                  </a:cubicBezTo>
                  <a:cubicBezTo>
                    <a:pt x="215909" y="163602"/>
                    <a:pt x="215809" y="153553"/>
                    <a:pt x="209550" y="147415"/>
                  </a:cubicBezTo>
                  <a:moveTo>
                    <a:pt x="119221" y="79375"/>
                  </a:moveTo>
                  <a:lnTo>
                    <a:pt x="119062" y="79375"/>
                  </a:lnTo>
                  <a:cubicBezTo>
                    <a:pt x="110295" y="79375"/>
                    <a:pt x="103187" y="86482"/>
                    <a:pt x="103187" y="95250"/>
                  </a:cubicBezTo>
                  <a:cubicBezTo>
                    <a:pt x="103187" y="104018"/>
                    <a:pt x="110295" y="111125"/>
                    <a:pt x="119062" y="111125"/>
                  </a:cubicBezTo>
                  <a:lnTo>
                    <a:pt x="119221" y="111125"/>
                  </a:lnTo>
                  <a:cubicBezTo>
                    <a:pt x="127989" y="111125"/>
                    <a:pt x="135096" y="104018"/>
                    <a:pt x="135096" y="95250"/>
                  </a:cubicBezTo>
                  <a:cubicBezTo>
                    <a:pt x="135096" y="86482"/>
                    <a:pt x="127989" y="79375"/>
                    <a:pt x="119221" y="79375"/>
                  </a:cubicBezTo>
                  <a:moveTo>
                    <a:pt x="198596" y="79375"/>
                  </a:moveTo>
                  <a:lnTo>
                    <a:pt x="198437" y="79375"/>
                  </a:lnTo>
                  <a:cubicBezTo>
                    <a:pt x="189670" y="79375"/>
                    <a:pt x="182563" y="86482"/>
                    <a:pt x="182563" y="95250"/>
                  </a:cubicBezTo>
                  <a:cubicBezTo>
                    <a:pt x="182563" y="104018"/>
                    <a:pt x="189670" y="111125"/>
                    <a:pt x="198437" y="111125"/>
                  </a:cubicBezTo>
                  <a:lnTo>
                    <a:pt x="198596" y="111125"/>
                  </a:lnTo>
                  <a:cubicBezTo>
                    <a:pt x="207364" y="111125"/>
                    <a:pt x="214471" y="104018"/>
                    <a:pt x="214471" y="95250"/>
                  </a:cubicBezTo>
                  <a:cubicBezTo>
                    <a:pt x="214471" y="86482"/>
                    <a:pt x="207364" y="79375"/>
                    <a:pt x="198596" y="79375"/>
                  </a:cubicBezTo>
                </a:path>
              </a:pathLst>
            </a:custGeom>
            <a:solidFill>
              <a:srgbClr val="FA541C"/>
            </a:solidFill>
            <a:ln>
              <a:noFill/>
            </a:ln>
          </p:spPr>
        </p:sp>
        <p:sp>
          <p:nvSpPr>
            <p:cNvPr id="15" name="TextBox 15"/>
            <p:cNvSpPr txBox="1"/>
            <p:nvPr/>
          </p:nvSpPr>
          <p:spPr>
            <a:xfrm>
              <a:off x="1600200" y="4010025"/>
              <a:ext cx="1188244"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查找效率低</a:t>
              </a:r>
            </a:p>
          </p:txBody>
        </p:sp>
        <p:sp>
          <p:nvSpPr>
            <p:cNvPr id="16" name="TextBox 16"/>
            <p:cNvSpPr txBox="1"/>
            <p:nvPr/>
          </p:nvSpPr>
          <p:spPr>
            <a:xfrm>
              <a:off x="1604010" y="4328160"/>
              <a:ext cx="4078986" cy="243840"/>
            </a:xfrm>
            <a:prstGeom prst="rect">
              <a:avLst/>
            </a:prstGeom>
            <a:noFill/>
            <a:ln>
              <a:noFill/>
            </a:ln>
          </p:spPr>
          <p:txBody>
            <a:bodyPr wrap="none" lIns="0" tIns="0" rIns="0" bIns="0" anchor="t" anchorCtr="0">
              <a:spAutoFit/>
            </a:bodyPr>
            <a:lstStyle/>
            <a:p>
              <a:pPr algn="l"/>
              <a:r>
                <a:rPr lang="zh-CN" sz="1200" dirty="0">
                  <a:solidFill>
                    <a:srgbClr val="CCCCCC"/>
                  </a:solidFill>
                  <a:latin typeface="Arial"/>
                  <a:ea typeface="Microsoft YaHei"/>
                  <a:cs typeface="Arial"/>
                </a:rPr>
                <a:t>找一个景点的门票+交通+最佳时间，要翻十几个页面</a:t>
              </a:r>
            </a:p>
          </p:txBody>
        </p:sp>
      </p:grpSp>
      <p:grpSp>
        <p:nvGrpSpPr>
          <p:cNvPr id="22" name="Group 22"/>
          <p:cNvGrpSpPr/>
          <p:nvPr/>
        </p:nvGrpSpPr>
        <p:grpSpPr>
          <a:xfrm>
            <a:off x="762000" y="4953000"/>
            <a:ext cx="4953000" cy="952500"/>
            <a:chOff x="762000" y="4953000"/>
            <a:chExt cx="4953000" cy="952500"/>
          </a:xfrm>
        </p:grpSpPr>
        <p:sp>
          <p:nvSpPr>
            <p:cNvPr id="18" name="Rectangle 18"/>
            <p:cNvSpPr/>
            <p:nvPr/>
          </p:nvSpPr>
          <p:spPr>
            <a:xfrm>
              <a:off x="762000" y="4953000"/>
              <a:ext cx="4953000" cy="952500"/>
            </a:xfrm>
            <a:prstGeom prst="roundRect">
              <a:avLst>
                <a:gd name="adj" fmla="val 12000"/>
              </a:avLst>
            </a:prstGeom>
            <a:solidFill>
              <a:srgbClr val="FFFFFF">
                <a:alpha val="12000"/>
              </a:srgbClr>
            </a:solidFill>
            <a:ln>
              <a:noFill/>
            </a:ln>
          </p:spPr>
        </p:sp>
        <p:sp>
          <p:nvSpPr>
            <p:cNvPr id="19" name="Freeform 19"/>
            <p:cNvSpPr/>
            <p:nvPr/>
          </p:nvSpPr>
          <p:spPr>
            <a:xfrm>
              <a:off x="1110531" y="5251450"/>
              <a:ext cx="255438" cy="323390"/>
            </a:xfrm>
            <a:custGeom>
              <a:avLst/>
              <a:gdLst/>
              <a:ahLst/>
              <a:cxnLst/>
              <a:rect l="l" t="t" r="r" b="b"/>
              <a:pathLst>
                <a:path w="255438" h="323390">
                  <a:moveTo>
                    <a:pt x="143594" y="0"/>
                  </a:moveTo>
                  <a:lnTo>
                    <a:pt x="143880" y="16"/>
                  </a:lnTo>
                  <a:lnTo>
                    <a:pt x="144134" y="32"/>
                  </a:lnTo>
                  <a:lnTo>
                    <a:pt x="145451" y="111"/>
                  </a:lnTo>
                  <a:lnTo>
                    <a:pt x="145626" y="143"/>
                  </a:lnTo>
                  <a:lnTo>
                    <a:pt x="145800" y="143"/>
                  </a:lnTo>
                  <a:lnTo>
                    <a:pt x="146404" y="286"/>
                  </a:lnTo>
                  <a:lnTo>
                    <a:pt x="147229" y="413"/>
                  </a:lnTo>
                  <a:lnTo>
                    <a:pt x="147483" y="508"/>
                  </a:lnTo>
                  <a:lnTo>
                    <a:pt x="147658" y="524"/>
                  </a:lnTo>
                  <a:lnTo>
                    <a:pt x="148118" y="698"/>
                  </a:lnTo>
                  <a:lnTo>
                    <a:pt x="148944" y="921"/>
                  </a:lnTo>
                  <a:lnTo>
                    <a:pt x="149245" y="1064"/>
                  </a:lnTo>
                  <a:lnTo>
                    <a:pt x="149483" y="1127"/>
                  </a:lnTo>
                  <a:lnTo>
                    <a:pt x="149928" y="1349"/>
                  </a:lnTo>
                  <a:lnTo>
                    <a:pt x="150563" y="1619"/>
                  </a:lnTo>
                  <a:lnTo>
                    <a:pt x="150896" y="1810"/>
                  </a:lnTo>
                  <a:lnTo>
                    <a:pt x="151246" y="1968"/>
                  </a:lnTo>
                  <a:lnTo>
                    <a:pt x="151611" y="2207"/>
                  </a:lnTo>
                  <a:lnTo>
                    <a:pt x="152103" y="2476"/>
                  </a:lnTo>
                  <a:lnTo>
                    <a:pt x="152643" y="2857"/>
                  </a:lnTo>
                  <a:lnTo>
                    <a:pt x="152928" y="3032"/>
                  </a:lnTo>
                  <a:lnTo>
                    <a:pt x="153135" y="3223"/>
                  </a:lnTo>
                  <a:lnTo>
                    <a:pt x="153516" y="3493"/>
                  </a:lnTo>
                  <a:lnTo>
                    <a:pt x="154119" y="4032"/>
                  </a:lnTo>
                  <a:lnTo>
                    <a:pt x="154468" y="4302"/>
                  </a:lnTo>
                  <a:lnTo>
                    <a:pt x="154595" y="4461"/>
                  </a:lnTo>
                  <a:lnTo>
                    <a:pt x="154817" y="4651"/>
                  </a:lnTo>
                  <a:lnTo>
                    <a:pt x="155389" y="5302"/>
                  </a:lnTo>
                  <a:lnTo>
                    <a:pt x="155802" y="5731"/>
                  </a:lnTo>
                  <a:lnTo>
                    <a:pt x="155897" y="5874"/>
                  </a:lnTo>
                  <a:cubicBezTo>
                    <a:pt x="157802" y="8207"/>
                    <a:pt x="159008" y="10985"/>
                    <a:pt x="159358" y="14018"/>
                  </a:cubicBezTo>
                  <a:lnTo>
                    <a:pt x="159374" y="14208"/>
                  </a:lnTo>
                  <a:lnTo>
                    <a:pt x="159405" y="14859"/>
                  </a:lnTo>
                  <a:lnTo>
                    <a:pt x="159469" y="15875"/>
                  </a:lnTo>
                  <a:lnTo>
                    <a:pt x="159469" y="111125"/>
                  </a:lnTo>
                  <a:lnTo>
                    <a:pt x="238844" y="111125"/>
                  </a:lnTo>
                  <a:cubicBezTo>
                    <a:pt x="244506" y="111124"/>
                    <a:pt x="249741" y="114138"/>
                    <a:pt x="252581" y="119037"/>
                  </a:cubicBezTo>
                  <a:cubicBezTo>
                    <a:pt x="255421" y="123936"/>
                    <a:pt x="255438" y="129976"/>
                    <a:pt x="252623" y="134890"/>
                  </a:cubicBezTo>
                  <a:lnTo>
                    <a:pt x="251671" y="136334"/>
                  </a:lnTo>
                  <a:lnTo>
                    <a:pt x="124671" y="310959"/>
                  </a:lnTo>
                  <a:cubicBezTo>
                    <a:pt x="115654" y="323390"/>
                    <a:pt x="95969" y="316992"/>
                    <a:pt x="95969" y="301625"/>
                  </a:cubicBezTo>
                  <a:lnTo>
                    <a:pt x="95969" y="206375"/>
                  </a:lnTo>
                  <a:lnTo>
                    <a:pt x="16594" y="206375"/>
                  </a:lnTo>
                  <a:cubicBezTo>
                    <a:pt x="10931" y="206376"/>
                    <a:pt x="5697" y="203362"/>
                    <a:pt x="2856" y="198463"/>
                  </a:cubicBezTo>
                  <a:cubicBezTo>
                    <a:pt x="16" y="193564"/>
                    <a:pt x="0" y="187524"/>
                    <a:pt x="2814" y="182610"/>
                  </a:cubicBezTo>
                  <a:lnTo>
                    <a:pt x="3767" y="181165"/>
                  </a:lnTo>
                  <a:lnTo>
                    <a:pt x="130767" y="6540"/>
                  </a:lnTo>
                  <a:lnTo>
                    <a:pt x="130926" y="6334"/>
                  </a:lnTo>
                  <a:lnTo>
                    <a:pt x="131211" y="5953"/>
                  </a:lnTo>
                  <a:lnTo>
                    <a:pt x="131735" y="5350"/>
                  </a:lnTo>
                  <a:lnTo>
                    <a:pt x="132021" y="5001"/>
                  </a:lnTo>
                  <a:lnTo>
                    <a:pt x="132164" y="4874"/>
                  </a:lnTo>
                  <a:lnTo>
                    <a:pt x="132370" y="4651"/>
                  </a:lnTo>
                  <a:lnTo>
                    <a:pt x="133005" y="4080"/>
                  </a:lnTo>
                  <a:lnTo>
                    <a:pt x="133450" y="3667"/>
                  </a:lnTo>
                  <a:lnTo>
                    <a:pt x="133577" y="3572"/>
                  </a:lnTo>
                  <a:cubicBezTo>
                    <a:pt x="135437" y="2049"/>
                    <a:pt x="137619" y="969"/>
                    <a:pt x="139958" y="413"/>
                  </a:cubicBezTo>
                  <a:lnTo>
                    <a:pt x="140133" y="397"/>
                  </a:lnTo>
                  <a:lnTo>
                    <a:pt x="140562" y="317"/>
                  </a:lnTo>
                  <a:lnTo>
                    <a:pt x="141736" y="111"/>
                  </a:lnTo>
                  <a:lnTo>
                    <a:pt x="141911" y="95"/>
                  </a:lnTo>
                  <a:lnTo>
                    <a:pt x="142562" y="63"/>
                  </a:lnTo>
                  <a:close/>
                </a:path>
              </a:pathLst>
            </a:custGeom>
            <a:solidFill>
              <a:srgbClr val="FA541C"/>
            </a:solidFill>
            <a:ln>
              <a:noFill/>
            </a:ln>
          </p:spPr>
        </p:sp>
        <p:sp>
          <p:nvSpPr>
            <p:cNvPr id="20" name="TextBox 20"/>
            <p:cNvSpPr txBox="1"/>
            <p:nvPr/>
          </p:nvSpPr>
          <p:spPr>
            <a:xfrm>
              <a:off x="1600200" y="5153025"/>
              <a:ext cx="1188244"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a:ea typeface="Microsoft YaHei"/>
                  <a:cs typeface="Arial"/>
                </a:rPr>
                <a:t>答案不精准</a:t>
              </a:r>
            </a:p>
          </p:txBody>
        </p:sp>
        <p:sp>
          <p:nvSpPr>
            <p:cNvPr id="21" name="TextBox 21"/>
            <p:cNvSpPr txBox="1"/>
            <p:nvPr/>
          </p:nvSpPr>
          <p:spPr>
            <a:xfrm>
              <a:off x="1604010" y="5471160"/>
              <a:ext cx="3009900" cy="243840"/>
            </a:xfrm>
            <a:prstGeom prst="rect">
              <a:avLst/>
            </a:prstGeom>
            <a:noFill/>
            <a:ln>
              <a:noFill/>
            </a:ln>
          </p:spPr>
          <p:txBody>
            <a:bodyPr wrap="none" lIns="0" tIns="0" rIns="0" bIns="0" anchor="t" anchorCtr="0">
              <a:spAutoFit/>
            </a:bodyPr>
            <a:lstStyle/>
            <a:p>
              <a:pPr algn="l"/>
              <a:r>
                <a:rPr lang="zh-CN" sz="1200" dirty="0">
                  <a:solidFill>
                    <a:srgbClr val="CCCCCC"/>
                  </a:solidFill>
                  <a:latin typeface="Arial"/>
                  <a:ea typeface="Microsoft YaHei"/>
                  <a:cs typeface="Arial"/>
                </a:rPr>
                <a:t>搜索引擎给的是链接，不是直接的答案</a:t>
              </a:r>
            </a:p>
          </p:txBody>
        </p:sp>
      </p:grpSp>
      <p:grpSp>
        <p:nvGrpSpPr>
          <p:cNvPr id="25" name="Group 25"/>
          <p:cNvGrpSpPr/>
          <p:nvPr/>
        </p:nvGrpSpPr>
        <p:grpSpPr>
          <a:xfrm>
            <a:off x="8001000" y="2095500"/>
            <a:ext cx="3048000" cy="3048000"/>
            <a:chOff x="8001000" y="2095500"/>
            <a:chExt cx="3048000" cy="3048000"/>
          </a:xfrm>
        </p:grpSpPr>
        <p:sp>
          <p:nvSpPr>
            <p:cNvPr id="23" name="Ellipse 23"/>
            <p:cNvSpPr/>
            <p:nvPr/>
          </p:nvSpPr>
          <p:spPr>
            <a:xfrm>
              <a:off x="8001000" y="2095500"/>
              <a:ext cx="3048000" cy="3048000"/>
            </a:xfrm>
            <a:prstGeom prst="ellipse">
              <a:avLst/>
            </a:prstGeom>
            <a:solidFill>
              <a:srgbClr val="00B96B">
                <a:alpha val="15000"/>
              </a:srgbClr>
            </a:solidFill>
            <a:ln>
              <a:noFill/>
            </a:ln>
          </p:spPr>
        </p:sp>
        <p:sp>
          <p:nvSpPr>
            <p:cNvPr id="24" name="TextBox 24"/>
            <p:cNvSpPr txBox="1"/>
            <p:nvPr/>
          </p:nvSpPr>
          <p:spPr>
            <a:xfrm>
              <a:off x="9031153" y="3028950"/>
              <a:ext cx="987695" cy="1828800"/>
            </a:xfrm>
            <a:prstGeom prst="rect">
              <a:avLst/>
            </a:prstGeom>
            <a:noFill/>
            <a:ln>
              <a:noFill/>
            </a:ln>
          </p:spPr>
          <p:txBody>
            <a:bodyPr wrap="none" lIns="0" tIns="0" rIns="0" bIns="0" anchor="t" anchorCtr="0">
              <a:spAutoFit/>
            </a:bodyPr>
            <a:lstStyle/>
            <a:p>
              <a:pPr algn="ctr"/>
              <a:r>
                <a:rPr lang="zh-CN" sz="9000" b="1" dirty="0">
                  <a:solidFill>
                    <a:srgbClr val="00B96B">
                      <a:alpha val="30000"/>
                    </a:srgbClr>
                  </a:solidFill>
                  <a:latin typeface="Georgia"/>
                  <a:ea typeface="SimSun"/>
                  <a:cs typeface="Georgia"/>
                </a:rPr>
                <a:t>?</a:t>
              </a:r>
            </a:p>
          </p:txBody>
        </p:sp>
      </p:grpSp>
      <p:sp>
        <p:nvSpPr>
          <p:cNvPr id="26" name="TextBox 26"/>
          <p:cNvSpPr txBox="1"/>
          <p:nvPr/>
        </p:nvSpPr>
        <p:spPr>
          <a:xfrm>
            <a:off x="11608118" y="6562249"/>
            <a:ext cx="181404"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02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900"/>
                            </p:stCondLst>
                            <p:childTnLst>
                              <p:par>
                                <p:cTn id="9" presetID="3" presetClass="entr" presetSubtype="10"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blinds(horizontal)">
                                      <p:cBhvr>
                                        <p:cTn id="11" dur="400"/>
                                        <p:tgtEl>
                                          <p:spTgt spid="17"/>
                                        </p:tgtEl>
                                      </p:cBhvr>
                                    </p:animEffect>
                                  </p:childTnLst>
                                </p:cTn>
                              </p:par>
                            </p:childTnLst>
                          </p:cTn>
                        </p:par>
                        <p:par>
                          <p:cTn id="12" fill="hold">
                            <p:stCondLst>
                              <p:cond delay="1800"/>
                            </p:stCondLst>
                            <p:childTnLst>
                              <p:par>
                                <p:cTn id="13" presetID="5" presetClass="entr" presetSubtype="6"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checkerboard(across)">
                                      <p:cBhvr>
                                        <p:cTn id="15"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D1B2A">
                  <a:alpha val="70000"/>
                </a:srgbClr>
              </a:gs>
              <a:gs pos="50000">
                <a:srgbClr val="1A1A2E">
                  <a:alpha val="60000"/>
                </a:srgbClr>
              </a:gs>
              <a:gs pos="100000">
                <a:srgbClr val="0D1B2A">
                  <a:alpha val="80000"/>
                </a:srgbClr>
              </a:gs>
            </a:gsLst>
            <a:lin ang="5400000" scaled="1"/>
          </a:gradFill>
          <a:ln>
            <a:noFill/>
          </a:ln>
        </p:spPr>
      </p:sp>
      <p:sp>
        <p:nvSpPr>
          <p:cNvPr id="4" name="Rectangle 4"/>
          <p:cNvSpPr/>
          <p:nvPr/>
        </p:nvSpPr>
        <p:spPr>
          <a:xfrm>
            <a:off x="0" y="0"/>
            <a:ext cx="12192000" cy="6858000"/>
          </a:xfrm>
          <a:prstGeom prst="rect">
            <a:avLst/>
          </a:prstGeom>
          <a:gradFill>
            <a:gsLst>
              <a:gs pos="0">
                <a:srgbClr val="00B96B">
                  <a:alpha val="20000"/>
                </a:srgbClr>
              </a:gs>
              <a:gs pos="100000">
                <a:srgbClr val="00B96B">
                  <a:alpha val="0"/>
                </a:srgbClr>
              </a:gs>
            </a:gsLst>
            <a:path path="circle">
              <a:fillToRect l="50000" t="50000" r="50000" b="50000"/>
            </a:path>
          </a:gradFill>
          <a:ln>
            <a:noFill/>
          </a:ln>
        </p:spPr>
      </p:sp>
      <p:sp>
        <p:nvSpPr>
          <p:cNvPr id="5" name="Ellipse 5"/>
          <p:cNvSpPr/>
          <p:nvPr/>
        </p:nvSpPr>
        <p:spPr>
          <a:xfrm>
            <a:off x="1876425" y="1400175"/>
            <a:ext cx="57150" cy="57150"/>
          </a:xfrm>
          <a:prstGeom prst="ellipse">
            <a:avLst/>
          </a:prstGeom>
          <a:solidFill>
            <a:srgbClr val="00B96B">
              <a:alpha val="50000"/>
            </a:srgbClr>
          </a:solidFill>
          <a:ln>
            <a:noFill/>
          </a:ln>
        </p:spPr>
      </p:sp>
      <p:sp>
        <p:nvSpPr>
          <p:cNvPr id="6" name="Ellipse 6"/>
          <p:cNvSpPr/>
          <p:nvPr/>
        </p:nvSpPr>
        <p:spPr>
          <a:xfrm>
            <a:off x="3314700" y="742950"/>
            <a:ext cx="38100" cy="38100"/>
          </a:xfrm>
          <a:prstGeom prst="ellipse">
            <a:avLst/>
          </a:prstGeom>
          <a:solidFill>
            <a:srgbClr val="36CFC9">
              <a:alpha val="40000"/>
            </a:srgbClr>
          </a:solidFill>
          <a:ln>
            <a:noFill/>
          </a:ln>
        </p:spPr>
      </p:sp>
      <p:sp>
        <p:nvSpPr>
          <p:cNvPr id="7" name="Ellipse 7"/>
          <p:cNvSpPr/>
          <p:nvPr/>
        </p:nvSpPr>
        <p:spPr>
          <a:xfrm>
            <a:off x="9963150" y="1866900"/>
            <a:ext cx="76200" cy="76200"/>
          </a:xfrm>
          <a:prstGeom prst="ellipse">
            <a:avLst/>
          </a:prstGeom>
          <a:solidFill>
            <a:srgbClr val="00B96B">
              <a:alpha val="40000"/>
            </a:srgbClr>
          </a:solidFill>
          <a:ln>
            <a:noFill/>
          </a:ln>
        </p:spPr>
      </p:sp>
      <p:sp>
        <p:nvSpPr>
          <p:cNvPr id="8" name="Ellipse 8"/>
          <p:cNvSpPr/>
          <p:nvPr/>
        </p:nvSpPr>
        <p:spPr>
          <a:xfrm>
            <a:off x="10925175" y="4733925"/>
            <a:ext cx="57150" cy="57150"/>
          </a:xfrm>
          <a:prstGeom prst="ellipse">
            <a:avLst/>
          </a:prstGeom>
          <a:solidFill>
            <a:srgbClr val="36CFC9">
              <a:alpha val="50000"/>
            </a:srgbClr>
          </a:solidFill>
          <a:ln>
            <a:noFill/>
          </a:ln>
        </p:spPr>
      </p:sp>
      <p:sp>
        <p:nvSpPr>
          <p:cNvPr id="9" name="TextBox 9"/>
          <p:cNvSpPr txBox="1"/>
          <p:nvPr/>
        </p:nvSpPr>
        <p:spPr>
          <a:xfrm>
            <a:off x="5519095" y="1410652"/>
            <a:ext cx="1153811" cy="213360"/>
          </a:xfrm>
          <a:prstGeom prst="rect">
            <a:avLst/>
          </a:prstGeom>
          <a:noFill/>
          <a:ln>
            <a:noFill/>
          </a:ln>
        </p:spPr>
        <p:txBody>
          <a:bodyPr wrap="none" lIns="0" tIns="0" rIns="0" bIns="0" anchor="t" anchorCtr="0">
            <a:spAutoFit/>
          </a:bodyPr>
          <a:lstStyle/>
          <a:p>
            <a:pPr algn="ctr"/>
            <a:r>
              <a:rPr lang="zh-CN" sz="1050" b="1" dirty="0">
                <a:solidFill>
                  <a:srgbClr val="00B96B"/>
                </a:solidFill>
                <a:latin typeface="Arial"/>
                <a:ea typeface="Microsoft YaHei"/>
                <a:cs typeface="Arial"/>
              </a:rPr>
              <a:t>我们做了什么？</a:t>
            </a:r>
          </a:p>
        </p:txBody>
      </p:sp>
      <p:sp>
        <p:nvSpPr>
          <p:cNvPr id="10" name="TextBox 10"/>
          <p:cNvSpPr txBox="1"/>
          <p:nvPr/>
        </p:nvSpPr>
        <p:spPr>
          <a:xfrm>
            <a:off x="3523774" y="1929765"/>
            <a:ext cx="5144452" cy="670560"/>
          </a:xfrm>
          <a:prstGeom prst="rect">
            <a:avLst/>
          </a:prstGeom>
          <a:noFill/>
          <a:ln>
            <a:noFill/>
          </a:ln>
        </p:spPr>
        <p:txBody>
          <a:bodyPr wrap="none" lIns="0" tIns="0" rIns="0" bIns="0" anchor="t" anchorCtr="0">
            <a:spAutoFit/>
          </a:bodyPr>
          <a:lstStyle/>
          <a:p>
            <a:pPr algn="ctr"/>
            <a:r>
              <a:rPr lang="zh-CN" sz="3300" b="1" dirty="0">
                <a:solidFill>
                  <a:srgbClr val="FFFFFF"/>
                </a:solidFill>
                <a:latin typeface="Georgia"/>
                <a:ea typeface="Microsoft YaHei"/>
                <a:cs typeface="Georgia"/>
              </a:rPr>
              <a:t>贵州旅游智能问答助手</a:t>
            </a:r>
          </a:p>
        </p:txBody>
      </p:sp>
      <p:sp>
        <p:nvSpPr>
          <p:cNvPr id="11" name="Line 11"/>
          <p:cNvSpPr/>
          <p:nvPr/>
        </p:nvSpPr>
        <p:spPr>
          <a:xfrm>
            <a:off x="5143500" y="2571750"/>
            <a:ext cx="1905000" cy="9525"/>
          </a:xfrm>
          <a:custGeom>
            <a:avLst/>
            <a:gdLst/>
            <a:ahLst/>
            <a:cxnLst/>
            <a:rect l="l" t="t" r="r" b="b"/>
            <a:pathLst>
              <a:path w="1905000" h="9525">
                <a:moveTo>
                  <a:pt x="0" y="0"/>
                </a:moveTo>
                <a:lnTo>
                  <a:pt x="1905000" y="0"/>
                </a:lnTo>
              </a:path>
            </a:pathLst>
          </a:custGeom>
          <a:noFill/>
          <a:ln w="19050">
            <a:solidFill>
              <a:srgbClr val="00B96B"/>
            </a:solidFill>
          </a:ln>
        </p:spPr>
      </p:sp>
      <p:grpSp>
        <p:nvGrpSpPr>
          <p:cNvPr id="15" name="Group 15"/>
          <p:cNvGrpSpPr/>
          <p:nvPr/>
        </p:nvGrpSpPr>
        <p:grpSpPr>
          <a:xfrm>
            <a:off x="3255695" y="3063164"/>
            <a:ext cx="2226895" cy="594436"/>
            <a:chOff x="3255695" y="3063164"/>
            <a:chExt cx="2226895" cy="594436"/>
          </a:xfrm>
        </p:grpSpPr>
        <p:sp>
          <p:nvSpPr>
            <p:cNvPr id="12" name="Freeform 12"/>
            <p:cNvSpPr/>
            <p:nvPr/>
          </p:nvSpPr>
          <p:spPr>
            <a:xfrm>
              <a:off x="3255695" y="3063164"/>
              <a:ext cx="298359" cy="300390"/>
            </a:xfrm>
            <a:custGeom>
              <a:avLst/>
              <a:gdLst/>
              <a:ahLst/>
              <a:cxnLst/>
              <a:rect l="l" t="t" r="r" b="b"/>
              <a:pathLst>
                <a:path w="298359" h="300390">
                  <a:moveTo>
                    <a:pt x="182830" y="28728"/>
                  </a:moveTo>
                  <a:cubicBezTo>
                    <a:pt x="211435" y="45240"/>
                    <a:pt x="231498" y="73318"/>
                    <a:pt x="237852" y="105729"/>
                  </a:cubicBezTo>
                  <a:cubicBezTo>
                    <a:pt x="244206" y="138140"/>
                    <a:pt x="236230" y="171716"/>
                    <a:pt x="215977" y="197806"/>
                  </a:cubicBezTo>
                  <a:lnTo>
                    <a:pt x="292944" y="274773"/>
                  </a:lnTo>
                  <a:cubicBezTo>
                    <a:pt x="298359" y="280379"/>
                    <a:pt x="298281" y="289290"/>
                    <a:pt x="292770" y="294801"/>
                  </a:cubicBezTo>
                  <a:cubicBezTo>
                    <a:pt x="287259" y="300312"/>
                    <a:pt x="278348" y="300390"/>
                    <a:pt x="272742" y="294975"/>
                  </a:cubicBezTo>
                  <a:lnTo>
                    <a:pt x="195760" y="218008"/>
                  </a:lnTo>
                  <a:cubicBezTo>
                    <a:pt x="150383" y="253219"/>
                    <a:pt x="85923" y="249287"/>
                    <a:pt x="45162" y="208821"/>
                  </a:cubicBezTo>
                  <a:cubicBezTo>
                    <a:pt x="4401" y="168356"/>
                    <a:pt x="0" y="103926"/>
                    <a:pt x="34880" y="58294"/>
                  </a:cubicBezTo>
                  <a:cubicBezTo>
                    <a:pt x="69760" y="12661"/>
                    <a:pt x="133086" y="0"/>
                    <a:pt x="182830" y="28713"/>
                  </a:cubicBezTo>
                </a:path>
              </a:pathLst>
            </a:custGeom>
            <a:solidFill>
              <a:srgbClr val="00B96B"/>
            </a:solidFill>
            <a:ln>
              <a:noFill/>
            </a:ln>
          </p:spPr>
        </p:sp>
        <p:sp>
          <p:nvSpPr>
            <p:cNvPr id="13" name="TextBox 13"/>
            <p:cNvSpPr txBox="1"/>
            <p:nvPr/>
          </p:nvSpPr>
          <p:spPr>
            <a:xfrm>
              <a:off x="3695700" y="3124200"/>
              <a:ext cx="914400"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输入问题</a:t>
              </a:r>
            </a:p>
          </p:txBody>
        </p:sp>
        <p:sp>
          <p:nvSpPr>
            <p:cNvPr id="14" name="TextBox 14"/>
            <p:cNvSpPr txBox="1"/>
            <p:nvPr/>
          </p:nvSpPr>
          <p:spPr>
            <a:xfrm>
              <a:off x="3699510" y="3413760"/>
              <a:ext cx="1783080" cy="243840"/>
            </a:xfrm>
            <a:prstGeom prst="rect">
              <a:avLst/>
            </a:prstGeom>
            <a:noFill/>
            <a:ln>
              <a:noFill/>
            </a:ln>
          </p:spPr>
          <p:txBody>
            <a:bodyPr wrap="none" lIns="0" tIns="0" rIns="0" bIns="0" anchor="t" anchorCtr="0">
              <a:spAutoFit/>
            </a:bodyPr>
            <a:lstStyle/>
            <a:p>
              <a:pPr algn="l"/>
              <a:r>
                <a:rPr lang="zh-CN" sz="1200" dirty="0">
                  <a:solidFill>
                    <a:srgbClr val="CCCCCC"/>
                  </a:solidFill>
                  <a:latin typeface="Arial"/>
                  <a:ea typeface="Microsoft YaHei"/>
                  <a:cs typeface="Arial"/>
                </a:rPr>
                <a:t>自然语言提问，零门槛</a:t>
              </a:r>
            </a:p>
          </p:txBody>
        </p:sp>
      </p:grpSp>
      <p:sp>
        <p:nvSpPr>
          <p:cNvPr id="16" name="TextBox 16"/>
          <p:cNvSpPr txBox="1"/>
          <p:nvPr/>
        </p:nvSpPr>
        <p:spPr>
          <a:xfrm>
            <a:off x="5168265" y="3139440"/>
            <a:ext cx="190310" cy="365760"/>
          </a:xfrm>
          <a:prstGeom prst="rect">
            <a:avLst/>
          </a:prstGeom>
          <a:noFill/>
          <a:ln>
            <a:noFill/>
          </a:ln>
        </p:spPr>
        <p:txBody>
          <a:bodyPr wrap="none" lIns="0" tIns="0" rIns="0" bIns="0" anchor="t" anchorCtr="0">
            <a:spAutoFit/>
          </a:bodyPr>
          <a:lstStyle/>
          <a:p>
            <a:pPr algn="l"/>
            <a:r>
              <a:rPr lang="zh-CN" sz="1800" dirty="0">
                <a:solidFill>
                  <a:srgbClr val="00B96B"/>
                </a:solidFill>
                <a:latin typeface="Arial"/>
                <a:ea typeface="Microsoft YaHei"/>
                <a:cs typeface="Arial"/>
              </a:rPr>
              <a:t>→</a:t>
            </a:r>
          </a:p>
        </p:txBody>
      </p:sp>
      <p:grpSp>
        <p:nvGrpSpPr>
          <p:cNvPr id="23" name="Group 23"/>
          <p:cNvGrpSpPr/>
          <p:nvPr/>
        </p:nvGrpSpPr>
        <p:grpSpPr>
          <a:xfrm>
            <a:off x="5292090" y="3086105"/>
            <a:ext cx="1607820" cy="571495"/>
            <a:chOff x="5292090" y="3086105"/>
            <a:chExt cx="1607820" cy="571495"/>
          </a:xfrm>
        </p:grpSpPr>
        <p:grpSp>
          <p:nvGrpSpPr>
            <p:cNvPr id="20" name="Group 20"/>
            <p:cNvGrpSpPr/>
            <p:nvPr/>
          </p:nvGrpSpPr>
          <p:grpSpPr>
            <a:xfrm>
              <a:off x="5643567" y="3086105"/>
              <a:ext cx="280978" cy="266690"/>
              <a:chOff x="5643567" y="3086105"/>
              <a:chExt cx="280978" cy="266690"/>
            </a:xfrm>
          </p:grpSpPr>
          <p:sp>
            <p:nvSpPr>
              <p:cNvPr id="17" name="Freeform 17"/>
              <p:cNvSpPr/>
              <p:nvPr/>
            </p:nvSpPr>
            <p:spPr>
              <a:xfrm>
                <a:off x="5834062" y="3257555"/>
                <a:ext cx="90483" cy="95240"/>
              </a:xfrm>
              <a:custGeom>
                <a:avLst/>
                <a:gdLst/>
                <a:ahLst/>
                <a:cxnLst/>
                <a:rect l="l" t="t" r="r" b="b"/>
                <a:pathLst>
                  <a:path w="90483" h="95240">
                    <a:moveTo>
                      <a:pt x="14288" y="61908"/>
                    </a:moveTo>
                    <a:cubicBezTo>
                      <a:pt x="6397" y="61908"/>
                      <a:pt x="0" y="55511"/>
                      <a:pt x="0" y="47620"/>
                    </a:cubicBezTo>
                    <a:cubicBezTo>
                      <a:pt x="0" y="39729"/>
                      <a:pt x="6397" y="33333"/>
                      <a:pt x="14288" y="33333"/>
                    </a:cubicBezTo>
                    <a:cubicBezTo>
                      <a:pt x="22178" y="33333"/>
                      <a:pt x="28575" y="26936"/>
                      <a:pt x="28575" y="19045"/>
                    </a:cubicBezTo>
                    <a:cubicBezTo>
                      <a:pt x="28575" y="0"/>
                      <a:pt x="57150" y="0"/>
                      <a:pt x="57150" y="19045"/>
                    </a:cubicBezTo>
                    <a:cubicBezTo>
                      <a:pt x="57150" y="26936"/>
                      <a:pt x="63547" y="33333"/>
                      <a:pt x="71438" y="33333"/>
                    </a:cubicBezTo>
                    <a:cubicBezTo>
                      <a:pt x="90483" y="33333"/>
                      <a:pt x="90483" y="61908"/>
                      <a:pt x="71438" y="61908"/>
                    </a:cubicBezTo>
                    <a:cubicBezTo>
                      <a:pt x="63547" y="61908"/>
                      <a:pt x="57150" y="68304"/>
                      <a:pt x="57150" y="76195"/>
                    </a:cubicBezTo>
                    <a:cubicBezTo>
                      <a:pt x="57150" y="95240"/>
                      <a:pt x="28575" y="95240"/>
                      <a:pt x="28575" y="76195"/>
                    </a:cubicBezTo>
                    <a:cubicBezTo>
                      <a:pt x="28575" y="68304"/>
                      <a:pt x="22178" y="61908"/>
                      <a:pt x="14288" y="61908"/>
                    </a:cubicBezTo>
                  </a:path>
                </a:pathLst>
              </a:custGeom>
              <a:solidFill>
                <a:srgbClr val="36CFC9"/>
              </a:solidFill>
              <a:ln>
                <a:noFill/>
              </a:ln>
            </p:spPr>
          </p:sp>
          <p:sp>
            <p:nvSpPr>
              <p:cNvPr id="18" name="Freeform 18"/>
              <p:cNvSpPr/>
              <p:nvPr/>
            </p:nvSpPr>
            <p:spPr>
              <a:xfrm>
                <a:off x="5643567" y="3114680"/>
                <a:ext cx="209540" cy="204783"/>
              </a:xfrm>
              <a:custGeom>
                <a:avLst/>
                <a:gdLst/>
                <a:ahLst/>
                <a:cxnLst/>
                <a:rect l="l" t="t" r="r" b="b"/>
                <a:pathLst>
                  <a:path w="209540" h="204783">
                    <a:moveTo>
                      <a:pt x="19045" y="90483"/>
                    </a:moveTo>
                    <a:cubicBezTo>
                      <a:pt x="58499" y="90483"/>
                      <a:pt x="90483" y="58499"/>
                      <a:pt x="90483" y="19045"/>
                    </a:cubicBezTo>
                    <a:cubicBezTo>
                      <a:pt x="90483" y="0"/>
                      <a:pt x="119058" y="0"/>
                      <a:pt x="119058" y="19045"/>
                    </a:cubicBezTo>
                    <a:cubicBezTo>
                      <a:pt x="119058" y="58499"/>
                      <a:pt x="151041" y="90483"/>
                      <a:pt x="190495" y="90483"/>
                    </a:cubicBezTo>
                    <a:cubicBezTo>
                      <a:pt x="209540" y="90483"/>
                      <a:pt x="209540" y="119058"/>
                      <a:pt x="190495" y="119058"/>
                    </a:cubicBezTo>
                    <a:cubicBezTo>
                      <a:pt x="151041" y="119058"/>
                      <a:pt x="119058" y="151041"/>
                      <a:pt x="119058" y="190495"/>
                    </a:cubicBezTo>
                    <a:cubicBezTo>
                      <a:pt x="119058" y="198386"/>
                      <a:pt x="112661" y="204783"/>
                      <a:pt x="104770" y="204783"/>
                    </a:cubicBezTo>
                    <a:cubicBezTo>
                      <a:pt x="96879" y="204783"/>
                      <a:pt x="90483" y="198386"/>
                      <a:pt x="90483" y="190495"/>
                    </a:cubicBezTo>
                    <a:cubicBezTo>
                      <a:pt x="90483" y="151041"/>
                      <a:pt x="58499" y="119058"/>
                      <a:pt x="19045" y="119058"/>
                    </a:cubicBezTo>
                    <a:cubicBezTo>
                      <a:pt x="0" y="119058"/>
                      <a:pt x="0" y="90483"/>
                      <a:pt x="19045" y="90483"/>
                    </a:cubicBezTo>
                  </a:path>
                </a:pathLst>
              </a:custGeom>
              <a:solidFill>
                <a:srgbClr val="36CFC9"/>
              </a:solidFill>
              <a:ln>
                <a:noFill/>
              </a:ln>
            </p:spPr>
          </p:sp>
          <p:sp>
            <p:nvSpPr>
              <p:cNvPr id="19" name="Freeform 19"/>
              <p:cNvSpPr/>
              <p:nvPr/>
            </p:nvSpPr>
            <p:spPr>
              <a:xfrm>
                <a:off x="5834062" y="3086105"/>
                <a:ext cx="90483" cy="95240"/>
              </a:xfrm>
              <a:custGeom>
                <a:avLst/>
                <a:gdLst/>
                <a:ahLst/>
                <a:cxnLst/>
                <a:rect l="l" t="t" r="r" b="b"/>
                <a:pathLst>
                  <a:path w="90483" h="95240">
                    <a:moveTo>
                      <a:pt x="14288" y="61908"/>
                    </a:moveTo>
                    <a:cubicBezTo>
                      <a:pt x="6397" y="61908"/>
                      <a:pt x="0" y="55511"/>
                      <a:pt x="0" y="47620"/>
                    </a:cubicBezTo>
                    <a:cubicBezTo>
                      <a:pt x="0" y="39729"/>
                      <a:pt x="6397" y="33333"/>
                      <a:pt x="14288" y="33333"/>
                    </a:cubicBezTo>
                    <a:cubicBezTo>
                      <a:pt x="22178" y="33333"/>
                      <a:pt x="28575" y="26936"/>
                      <a:pt x="28575" y="19045"/>
                    </a:cubicBezTo>
                    <a:cubicBezTo>
                      <a:pt x="28575" y="0"/>
                      <a:pt x="57150" y="0"/>
                      <a:pt x="57150" y="19045"/>
                    </a:cubicBezTo>
                    <a:cubicBezTo>
                      <a:pt x="57150" y="26936"/>
                      <a:pt x="63547" y="33333"/>
                      <a:pt x="71438" y="33333"/>
                    </a:cubicBezTo>
                    <a:cubicBezTo>
                      <a:pt x="90483" y="33333"/>
                      <a:pt x="90483" y="61908"/>
                      <a:pt x="71438" y="61908"/>
                    </a:cubicBezTo>
                    <a:cubicBezTo>
                      <a:pt x="63547" y="61908"/>
                      <a:pt x="57150" y="68304"/>
                      <a:pt x="57150" y="76195"/>
                    </a:cubicBezTo>
                    <a:cubicBezTo>
                      <a:pt x="57150" y="95240"/>
                      <a:pt x="28575" y="95240"/>
                      <a:pt x="28575" y="76195"/>
                    </a:cubicBezTo>
                    <a:cubicBezTo>
                      <a:pt x="28575" y="68304"/>
                      <a:pt x="22178" y="61908"/>
                      <a:pt x="14288" y="61908"/>
                    </a:cubicBezTo>
                  </a:path>
                </a:pathLst>
              </a:custGeom>
              <a:solidFill>
                <a:srgbClr val="36CFC9"/>
              </a:solidFill>
              <a:ln>
                <a:noFill/>
              </a:ln>
            </p:spPr>
          </p:sp>
        </p:grpSp>
        <p:sp>
          <p:nvSpPr>
            <p:cNvPr id="21" name="TextBox 21"/>
            <p:cNvSpPr txBox="1"/>
            <p:nvPr/>
          </p:nvSpPr>
          <p:spPr>
            <a:xfrm>
              <a:off x="5638800" y="3124200"/>
              <a:ext cx="914400" cy="304800"/>
            </a:xfrm>
            <a:prstGeom prst="rect">
              <a:avLst/>
            </a:prstGeom>
            <a:noFill/>
            <a:ln>
              <a:noFill/>
            </a:ln>
          </p:spPr>
          <p:txBody>
            <a:bodyPr wrap="none" lIns="0" tIns="0" rIns="0" bIns="0" anchor="t" anchorCtr="0">
              <a:spAutoFit/>
            </a:bodyPr>
            <a:lstStyle/>
            <a:p>
              <a:pPr algn="ctr"/>
              <a:r>
                <a:rPr lang="zh-CN" sz="1500" dirty="0">
                  <a:solidFill>
                    <a:srgbClr val="FFFFFF"/>
                  </a:solidFill>
                  <a:latin typeface="Arial"/>
                  <a:ea typeface="Microsoft YaHei"/>
                  <a:cs typeface="Arial"/>
                </a:rPr>
                <a:t>秒级回答</a:t>
              </a:r>
            </a:p>
          </p:txBody>
        </p:sp>
        <p:sp>
          <p:nvSpPr>
            <p:cNvPr id="22" name="TextBox 22"/>
            <p:cNvSpPr txBox="1"/>
            <p:nvPr/>
          </p:nvSpPr>
          <p:spPr>
            <a:xfrm>
              <a:off x="5292090" y="3413760"/>
              <a:ext cx="1607820" cy="243840"/>
            </a:xfrm>
            <a:prstGeom prst="rect">
              <a:avLst/>
            </a:prstGeom>
            <a:noFill/>
            <a:ln>
              <a:noFill/>
            </a:ln>
          </p:spPr>
          <p:txBody>
            <a:bodyPr wrap="none" lIns="0" tIns="0" rIns="0" bIns="0" anchor="t" anchorCtr="0">
              <a:spAutoFit/>
            </a:bodyPr>
            <a:lstStyle/>
            <a:p>
              <a:pPr algn="ctr"/>
              <a:r>
                <a:rPr lang="zh-CN" sz="1200" dirty="0">
                  <a:solidFill>
                    <a:srgbClr val="CCCCCC"/>
                  </a:solidFill>
                  <a:latin typeface="Arial"/>
                  <a:ea typeface="Microsoft YaHei"/>
                  <a:cs typeface="Arial"/>
                </a:rPr>
                <a:t>毫秒检索，即时响应</a:t>
              </a:r>
            </a:p>
          </p:txBody>
        </p:sp>
      </p:grpSp>
      <p:sp>
        <p:nvSpPr>
          <p:cNvPr id="24" name="TextBox 24"/>
          <p:cNvSpPr txBox="1"/>
          <p:nvPr/>
        </p:nvSpPr>
        <p:spPr>
          <a:xfrm>
            <a:off x="7168515" y="3139440"/>
            <a:ext cx="190310" cy="365760"/>
          </a:xfrm>
          <a:prstGeom prst="rect">
            <a:avLst/>
          </a:prstGeom>
          <a:noFill/>
          <a:ln>
            <a:noFill/>
          </a:ln>
        </p:spPr>
        <p:txBody>
          <a:bodyPr wrap="none" lIns="0" tIns="0" rIns="0" bIns="0" anchor="t" anchorCtr="0">
            <a:spAutoFit/>
          </a:bodyPr>
          <a:lstStyle/>
          <a:p>
            <a:pPr algn="l"/>
            <a:r>
              <a:rPr lang="zh-CN" sz="1800" dirty="0">
                <a:solidFill>
                  <a:srgbClr val="36CFC9"/>
                </a:solidFill>
                <a:latin typeface="Arial"/>
                <a:ea typeface="Microsoft YaHei"/>
                <a:cs typeface="Arial"/>
              </a:rPr>
              <a:t>→</a:t>
            </a:r>
          </a:p>
        </p:txBody>
      </p:sp>
      <p:grpSp>
        <p:nvGrpSpPr>
          <p:cNvPr id="28" name="Group 28"/>
          <p:cNvGrpSpPr/>
          <p:nvPr/>
        </p:nvGrpSpPr>
        <p:grpSpPr>
          <a:xfrm>
            <a:off x="7743825" y="3076575"/>
            <a:ext cx="2504694" cy="581025"/>
            <a:chOff x="7743825" y="3076575"/>
            <a:chExt cx="2504694" cy="581025"/>
          </a:xfrm>
        </p:grpSpPr>
        <p:sp>
          <p:nvSpPr>
            <p:cNvPr id="25" name="Freeform 25"/>
            <p:cNvSpPr/>
            <p:nvPr/>
          </p:nvSpPr>
          <p:spPr>
            <a:xfrm>
              <a:off x="7743825" y="3076575"/>
              <a:ext cx="285812" cy="287109"/>
            </a:xfrm>
            <a:custGeom>
              <a:avLst/>
              <a:gdLst/>
              <a:ahLst/>
              <a:cxnLst/>
              <a:rect l="l" t="t" r="r" b="b"/>
              <a:pathLst>
                <a:path w="285812" h="287109">
                  <a:moveTo>
                    <a:pt x="142875" y="0"/>
                  </a:moveTo>
                  <a:cubicBezTo>
                    <a:pt x="221785" y="0"/>
                    <a:pt x="285750" y="63965"/>
                    <a:pt x="285750" y="142875"/>
                  </a:cubicBezTo>
                  <a:cubicBezTo>
                    <a:pt x="285812" y="220924"/>
                    <a:pt x="223229" y="284580"/>
                    <a:pt x="145190" y="285844"/>
                  </a:cubicBezTo>
                  <a:cubicBezTo>
                    <a:pt x="67151" y="287109"/>
                    <a:pt x="2538" y="225514"/>
                    <a:pt x="71" y="147504"/>
                  </a:cubicBezTo>
                  <a:lnTo>
                    <a:pt x="0" y="142875"/>
                  </a:lnTo>
                  <a:lnTo>
                    <a:pt x="57" y="138874"/>
                  </a:lnTo>
                  <a:cubicBezTo>
                    <a:pt x="2172" y="61822"/>
                    <a:pt x="65294" y="0"/>
                    <a:pt x="142875" y="0"/>
                  </a:cubicBezTo>
                  <a:close/>
                  <a:moveTo>
                    <a:pt x="142875" y="128588"/>
                  </a:moveTo>
                  <a:lnTo>
                    <a:pt x="128588" y="128588"/>
                  </a:lnTo>
                  <a:lnTo>
                    <a:pt x="126916" y="128688"/>
                  </a:lnTo>
                  <a:cubicBezTo>
                    <a:pt x="119729" y="129542"/>
                    <a:pt x="114316" y="135637"/>
                    <a:pt x="114316" y="142875"/>
                  </a:cubicBezTo>
                  <a:cubicBezTo>
                    <a:pt x="114316" y="150113"/>
                    <a:pt x="119729" y="156208"/>
                    <a:pt x="126916" y="157062"/>
                  </a:cubicBezTo>
                  <a:lnTo>
                    <a:pt x="128588" y="157162"/>
                  </a:lnTo>
                  <a:lnTo>
                    <a:pt x="128588" y="200025"/>
                  </a:lnTo>
                  <a:lnTo>
                    <a:pt x="128688" y="201697"/>
                  </a:lnTo>
                  <a:cubicBezTo>
                    <a:pt x="129462" y="208262"/>
                    <a:pt x="134638" y="213438"/>
                    <a:pt x="141203" y="214212"/>
                  </a:cubicBezTo>
                  <a:lnTo>
                    <a:pt x="142875" y="214312"/>
                  </a:lnTo>
                  <a:lnTo>
                    <a:pt x="157162" y="214312"/>
                  </a:lnTo>
                  <a:lnTo>
                    <a:pt x="158834" y="214212"/>
                  </a:lnTo>
                  <a:cubicBezTo>
                    <a:pt x="165399" y="213438"/>
                    <a:pt x="170576" y="208262"/>
                    <a:pt x="171350" y="201697"/>
                  </a:cubicBezTo>
                  <a:lnTo>
                    <a:pt x="171450" y="200025"/>
                  </a:lnTo>
                  <a:lnTo>
                    <a:pt x="171350" y="198353"/>
                  </a:lnTo>
                  <a:cubicBezTo>
                    <a:pt x="170650" y="192382"/>
                    <a:pt x="166287" y="187487"/>
                    <a:pt x="160434" y="186109"/>
                  </a:cubicBezTo>
                  <a:lnTo>
                    <a:pt x="158834" y="185823"/>
                  </a:lnTo>
                  <a:lnTo>
                    <a:pt x="157162" y="185738"/>
                  </a:lnTo>
                  <a:lnTo>
                    <a:pt x="157162" y="142875"/>
                  </a:lnTo>
                  <a:lnTo>
                    <a:pt x="157062" y="141203"/>
                  </a:lnTo>
                  <a:cubicBezTo>
                    <a:pt x="156288" y="134638"/>
                    <a:pt x="151112" y="129462"/>
                    <a:pt x="144547" y="128688"/>
                  </a:cubicBezTo>
                  <a:lnTo>
                    <a:pt x="142875" y="128588"/>
                  </a:lnTo>
                  <a:close/>
                  <a:moveTo>
                    <a:pt x="143018" y="85725"/>
                  </a:moveTo>
                  <a:lnTo>
                    <a:pt x="141203" y="85825"/>
                  </a:lnTo>
                  <a:cubicBezTo>
                    <a:pt x="134016" y="86680"/>
                    <a:pt x="128603" y="92774"/>
                    <a:pt x="128603" y="100012"/>
                  </a:cubicBezTo>
                  <a:cubicBezTo>
                    <a:pt x="128603" y="107251"/>
                    <a:pt x="134016" y="113345"/>
                    <a:pt x="141203" y="114200"/>
                  </a:cubicBezTo>
                  <a:lnTo>
                    <a:pt x="142875" y="114300"/>
                  </a:lnTo>
                  <a:lnTo>
                    <a:pt x="144690" y="114200"/>
                  </a:lnTo>
                  <a:cubicBezTo>
                    <a:pt x="151877" y="113345"/>
                    <a:pt x="157289" y="107251"/>
                    <a:pt x="157289" y="100012"/>
                  </a:cubicBezTo>
                  <a:cubicBezTo>
                    <a:pt x="157289" y="92774"/>
                    <a:pt x="151877" y="86680"/>
                    <a:pt x="144690" y="85825"/>
                  </a:cubicBezTo>
                  <a:lnTo>
                    <a:pt x="143018" y="85725"/>
                  </a:lnTo>
                  <a:close/>
                </a:path>
              </a:pathLst>
            </a:custGeom>
            <a:solidFill>
              <a:srgbClr val="FA8C16"/>
            </a:solidFill>
            <a:ln>
              <a:noFill/>
            </a:ln>
          </p:spPr>
        </p:sp>
        <p:sp>
          <p:nvSpPr>
            <p:cNvPr id="26" name="TextBox 26"/>
            <p:cNvSpPr txBox="1"/>
            <p:nvPr/>
          </p:nvSpPr>
          <p:spPr>
            <a:xfrm>
              <a:off x="8172450" y="3124200"/>
              <a:ext cx="914400" cy="304800"/>
            </a:xfrm>
            <a:prstGeom prst="rect">
              <a:avLst/>
            </a:prstGeom>
            <a:noFill/>
            <a:ln>
              <a:noFill/>
            </a:ln>
          </p:spPr>
          <p:txBody>
            <a:bodyPr wrap="none" lIns="0" tIns="0" rIns="0" bIns="0" anchor="t" anchorCtr="0">
              <a:spAutoFit/>
            </a:bodyPr>
            <a:lstStyle/>
            <a:p>
              <a:pPr algn="l"/>
              <a:r>
                <a:rPr lang="zh-CN" sz="1500" dirty="0">
                  <a:solidFill>
                    <a:srgbClr val="FFFFFF"/>
                  </a:solidFill>
                  <a:latin typeface="Arial"/>
                  <a:ea typeface="Microsoft YaHei"/>
                  <a:cs typeface="Arial"/>
                </a:rPr>
                <a:t>有据可依</a:t>
              </a:r>
            </a:p>
          </p:txBody>
        </p:sp>
        <p:sp>
          <p:nvSpPr>
            <p:cNvPr id="27" name="TextBox 27"/>
            <p:cNvSpPr txBox="1"/>
            <p:nvPr/>
          </p:nvSpPr>
          <p:spPr>
            <a:xfrm>
              <a:off x="8176260" y="3413760"/>
              <a:ext cx="2072259" cy="243840"/>
            </a:xfrm>
            <a:prstGeom prst="rect">
              <a:avLst/>
            </a:prstGeom>
            <a:noFill/>
            <a:ln>
              <a:noFill/>
            </a:ln>
          </p:spPr>
          <p:txBody>
            <a:bodyPr wrap="none" lIns="0" tIns="0" rIns="0" bIns="0" anchor="t" anchorCtr="0">
              <a:spAutoFit/>
            </a:bodyPr>
            <a:lstStyle/>
            <a:p>
              <a:pPr algn="l"/>
              <a:r>
                <a:rPr lang="zh-CN" sz="1200" dirty="0">
                  <a:solidFill>
                    <a:srgbClr val="CCCCCC"/>
                  </a:solidFill>
                  <a:latin typeface="Arial"/>
                  <a:ea typeface="Microsoft YaHei"/>
                  <a:cs typeface="Arial"/>
                </a:rPr>
                <a:t>RAG检索增强，回答可溯源</a:t>
              </a:r>
            </a:p>
          </p:txBody>
        </p:sp>
      </p:grpSp>
      <p:sp>
        <p:nvSpPr>
          <p:cNvPr id="29" name="Rectangle 29"/>
          <p:cNvSpPr/>
          <p:nvPr/>
        </p:nvSpPr>
        <p:spPr>
          <a:xfrm>
            <a:off x="2857500" y="4286250"/>
            <a:ext cx="6477000" cy="762000"/>
          </a:xfrm>
          <a:prstGeom prst="roundRect">
            <a:avLst>
              <a:gd name="adj" fmla="val 15000"/>
            </a:avLst>
          </a:prstGeom>
          <a:solidFill>
            <a:srgbClr val="00B96B">
              <a:alpha val="20000"/>
            </a:srgbClr>
          </a:solidFill>
          <a:ln>
            <a:noFill/>
          </a:ln>
        </p:spPr>
      </p:sp>
      <p:sp>
        <p:nvSpPr>
          <p:cNvPr id="30" name="TextBox 30"/>
          <p:cNvSpPr txBox="1"/>
          <p:nvPr/>
        </p:nvSpPr>
        <p:spPr>
          <a:xfrm>
            <a:off x="5191601" y="4597718"/>
            <a:ext cx="1808797" cy="274320"/>
          </a:xfrm>
          <a:prstGeom prst="rect">
            <a:avLst/>
          </a:prstGeom>
          <a:noFill/>
          <a:ln>
            <a:noFill/>
          </a:ln>
        </p:spPr>
        <p:txBody>
          <a:bodyPr wrap="none" lIns="0" tIns="0" rIns="0" bIns="0" anchor="t" anchorCtr="0">
            <a:spAutoFit/>
          </a:bodyPr>
          <a:lstStyle/>
          <a:p>
            <a:pPr algn="ctr"/>
            <a:r>
              <a:rPr lang="zh-CN" sz="1350" dirty="0">
                <a:solidFill>
                  <a:srgbClr val="FFFFFF"/>
                </a:solidFill>
                <a:latin typeface="Arial"/>
                <a:ea typeface="Microsoft YaHei"/>
                <a:cs typeface="Arial"/>
              </a:rPr>
              <a:t>让</a:t>
            </a:r>
            <a:r>
              <a:rPr lang="zh-CN" sz="1350" b="1" dirty="0">
                <a:solidFill>
                  <a:srgbClr val="00B96B"/>
                </a:solidFill>
                <a:latin typeface="Arial"/>
                <a:ea typeface="Microsoft YaHei"/>
                <a:cs typeface="Arial"/>
              </a:rPr>
              <a:t>旅游信息</a:t>
            </a:r>
            <a:r>
              <a:rPr lang="zh-CN" sz="1350" dirty="0">
                <a:solidFill>
                  <a:srgbClr val="FFFFFF"/>
                </a:solidFill>
                <a:latin typeface="Arial"/>
                <a:ea typeface="Microsoft YaHei"/>
                <a:cs typeface="Arial"/>
              </a:rPr>
              <a:t>不再</a:t>
            </a:r>
            <a:r>
              <a:rPr lang="zh-CN" sz="1350" b="1" dirty="0">
                <a:solidFill>
                  <a:srgbClr val="FA8C16"/>
                </a:solidFill>
                <a:latin typeface="Arial"/>
                <a:ea typeface="Microsoft YaHei"/>
                <a:cs typeface="Arial"/>
              </a:rPr>
              <a:t>难找</a:t>
            </a:r>
          </a:p>
        </p:txBody>
      </p:sp>
      <p:sp>
        <p:nvSpPr>
          <p:cNvPr id="31" name="TextBox 31"/>
          <p:cNvSpPr txBox="1"/>
          <p:nvPr/>
        </p:nvSpPr>
        <p:spPr>
          <a:xfrm>
            <a:off x="11608118" y="6562249"/>
            <a:ext cx="181404" cy="198120"/>
          </a:xfrm>
          <a:prstGeom prst="rect">
            <a:avLst/>
          </a:prstGeom>
          <a:noFill/>
          <a:ln>
            <a:noFill/>
          </a:ln>
        </p:spPr>
        <p:txBody>
          <a:bodyPr wrap="none" lIns="0" tIns="0" rIns="0" bIns="0" anchor="t" anchorCtr="0">
            <a:spAutoFit/>
          </a:bodyPr>
          <a:lstStyle/>
          <a:p>
            <a:pPr algn="l"/>
            <a:r>
              <a:rPr lang="zh-CN" sz="975" dirty="0">
                <a:solidFill>
                  <a:srgbClr val="666666"/>
                </a:solidFill>
                <a:latin typeface="Arial"/>
                <a:ea typeface="Microsoft YaHei"/>
                <a:cs typeface="Arial"/>
              </a:rPr>
              <a:t>03</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dissolve">
                                      <p:cBhvr>
                                        <p:cTn id="11" dur="400"/>
                                        <p:tgtEl>
                                          <p:spTgt spid="23"/>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slide(fromBottom)">
                                      <p:cBhvr>
                                        <p:cTn id="15" dur="4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3"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F8FAF9">
                  <a:alpha val="92000"/>
                </a:srgbClr>
              </a:gs>
              <a:gs pos="100000">
                <a:srgbClr val="FFFFFF">
                  <a:alpha val="95000"/>
                </a:srgbClr>
              </a:gs>
            </a:gsLst>
            <a:lin ang="5400000" scaled="1"/>
          </a:gradFill>
          <a:ln>
            <a:noFill/>
          </a:ln>
        </p:spPr>
      </p:sp>
      <p:sp>
        <p:nvSpPr>
          <p:cNvPr id="4" name="Rectangle 4"/>
          <p:cNvSpPr/>
          <p:nvPr/>
        </p:nvSpPr>
        <p:spPr>
          <a:xfrm>
            <a:off x="0" y="0"/>
            <a:ext cx="12192000" cy="38100"/>
          </a:xfrm>
          <a:prstGeom prst="rect">
            <a:avLst/>
          </a:prstGeom>
          <a:solidFill>
            <a:srgbClr val="00B96B"/>
          </a:solidFill>
          <a:ln>
            <a:noFill/>
          </a:ln>
        </p:spPr>
      </p:sp>
      <p:sp>
        <p:nvSpPr>
          <p:cNvPr id="5" name="TextBox 5"/>
          <p:cNvSpPr txBox="1"/>
          <p:nvPr/>
        </p:nvSpPr>
        <p:spPr>
          <a:xfrm>
            <a:off x="558165" y="648652"/>
            <a:ext cx="670750" cy="213360"/>
          </a:xfrm>
          <a:prstGeom prst="rect">
            <a:avLst/>
          </a:prstGeom>
          <a:noFill/>
          <a:ln>
            <a:noFill/>
          </a:ln>
        </p:spPr>
        <p:txBody>
          <a:bodyPr wrap="none" lIns="0" tIns="0" rIns="0" bIns="0" anchor="t" anchorCtr="0">
            <a:spAutoFit/>
          </a:bodyPr>
          <a:lstStyle/>
          <a:p>
            <a:pPr algn="l"/>
            <a:r>
              <a:rPr lang="zh-CN" sz="1050" b="1" dirty="0">
                <a:solidFill>
                  <a:srgbClr val="00B96B"/>
                </a:solidFill>
                <a:latin typeface="Arial"/>
                <a:ea typeface="Microsoft YaHei"/>
                <a:cs typeface="Arial"/>
              </a:rPr>
              <a:t>核心功能</a:t>
            </a:r>
          </a:p>
        </p:txBody>
      </p:sp>
      <p:sp>
        <p:nvSpPr>
          <p:cNvPr id="6" name="TextBox 6"/>
          <p:cNvSpPr txBox="1"/>
          <p:nvPr/>
        </p:nvSpPr>
        <p:spPr>
          <a:xfrm>
            <a:off x="536258" y="938689"/>
            <a:ext cx="2623804" cy="563880"/>
          </a:xfrm>
          <a:prstGeom prst="rect">
            <a:avLst/>
          </a:prstGeom>
          <a:noFill/>
          <a:ln>
            <a:noFill/>
          </a:ln>
        </p:spPr>
        <p:txBody>
          <a:bodyPr wrap="none" lIns="0" tIns="0" rIns="0" bIns="0" anchor="t" anchorCtr="0">
            <a:spAutoFit/>
          </a:bodyPr>
          <a:lstStyle/>
          <a:p>
            <a:pPr algn="l"/>
            <a:r>
              <a:rPr lang="zh-CN" sz="2775" b="1" dirty="0">
                <a:solidFill>
                  <a:srgbClr val="1A1A2E"/>
                </a:solidFill>
                <a:latin typeface="Georgia"/>
                <a:ea typeface="Microsoft YaHei"/>
                <a:cs typeface="Georgia"/>
              </a:rPr>
              <a:t>三大核心功能</a:t>
            </a:r>
          </a:p>
        </p:txBody>
      </p:sp>
      <p:grpSp>
        <p:nvGrpSpPr>
          <p:cNvPr id="25" name="Group 25"/>
          <p:cNvGrpSpPr/>
          <p:nvPr/>
        </p:nvGrpSpPr>
        <p:grpSpPr>
          <a:xfrm>
            <a:off x="571500" y="1714500"/>
            <a:ext cx="3429000" cy="4191000"/>
            <a:chOff x="571500" y="1714500"/>
            <a:chExt cx="3429000" cy="4191000"/>
          </a:xfrm>
        </p:grpSpPr>
        <p:sp>
          <p:nvSpPr>
            <p:cNvPr id="7" name="Rectangle 7"/>
            <p:cNvSpPr/>
            <p:nvPr/>
          </p:nvSpPr>
          <p:spPr>
            <a:xfrm>
              <a:off x="571500" y="1714500"/>
              <a:ext cx="3429000" cy="4191000"/>
            </a:xfrm>
            <a:prstGeom prst="roundRect">
              <a:avLst>
                <a:gd name="adj" fmla="val 3333"/>
              </a:avLst>
            </a:prstGeom>
            <a:solidFill>
              <a:srgbClr val="FFFFFF"/>
            </a:solidFill>
            <a:ln>
              <a:noFill/>
            </a:ln>
          </p:spPr>
        </p:sp>
        <p:sp>
          <p:nvSpPr>
            <p:cNvPr id="8" name="Rectangle 8"/>
            <p:cNvSpPr/>
            <p:nvPr/>
          </p:nvSpPr>
          <p:spPr>
            <a:xfrm>
              <a:off x="571500" y="1714500"/>
              <a:ext cx="3429000" cy="76200"/>
            </a:xfrm>
            <a:prstGeom prst="roundRect">
              <a:avLst>
                <a:gd name="adj" fmla="val 50000"/>
              </a:avLst>
            </a:prstGeom>
            <a:solidFill>
              <a:srgbClr val="00B96B"/>
            </a:solidFill>
            <a:ln>
              <a:noFill/>
            </a:ln>
          </p:spPr>
        </p:sp>
        <p:sp>
          <p:nvSpPr>
            <p:cNvPr id="9" name="Freeform 9"/>
            <p:cNvSpPr/>
            <p:nvPr/>
          </p:nvSpPr>
          <p:spPr>
            <a:xfrm>
              <a:off x="2038350" y="2247900"/>
              <a:ext cx="381000" cy="362841"/>
            </a:xfrm>
            <a:custGeom>
              <a:avLst/>
              <a:gdLst/>
              <a:ahLst/>
              <a:cxnLst/>
              <a:rect l="l" t="t" r="r" b="b"/>
              <a:pathLst>
                <a:path w="381000" h="362841">
                  <a:moveTo>
                    <a:pt x="304800" y="0"/>
                  </a:moveTo>
                  <a:cubicBezTo>
                    <a:pt x="346884" y="0"/>
                    <a:pt x="381000" y="34116"/>
                    <a:pt x="381000" y="76200"/>
                  </a:cubicBezTo>
                  <a:lnTo>
                    <a:pt x="381000" y="228600"/>
                  </a:lnTo>
                  <a:cubicBezTo>
                    <a:pt x="381000" y="270684"/>
                    <a:pt x="346884" y="304800"/>
                    <a:pt x="304800" y="304800"/>
                  </a:cubicBezTo>
                  <a:lnTo>
                    <a:pt x="214808" y="304800"/>
                  </a:lnTo>
                  <a:lnTo>
                    <a:pt x="124092" y="359226"/>
                  </a:lnTo>
                  <a:cubicBezTo>
                    <a:pt x="118540" y="362557"/>
                    <a:pt x="111677" y="362841"/>
                    <a:pt x="105870" y="359980"/>
                  </a:cubicBezTo>
                  <a:cubicBezTo>
                    <a:pt x="100062" y="357118"/>
                    <a:pt x="96105" y="351503"/>
                    <a:pt x="95364" y="345072"/>
                  </a:cubicBezTo>
                  <a:lnTo>
                    <a:pt x="95250" y="342900"/>
                  </a:lnTo>
                  <a:lnTo>
                    <a:pt x="95250" y="304800"/>
                  </a:lnTo>
                  <a:lnTo>
                    <a:pt x="76200" y="304800"/>
                  </a:lnTo>
                  <a:cubicBezTo>
                    <a:pt x="35597" y="304800"/>
                    <a:pt x="2125" y="272962"/>
                    <a:pt x="95" y="232410"/>
                  </a:cubicBezTo>
                  <a:lnTo>
                    <a:pt x="0" y="228600"/>
                  </a:lnTo>
                  <a:lnTo>
                    <a:pt x="0" y="76200"/>
                  </a:lnTo>
                  <a:cubicBezTo>
                    <a:pt x="0" y="34116"/>
                    <a:pt x="34116" y="0"/>
                    <a:pt x="76200" y="0"/>
                  </a:cubicBezTo>
                  <a:close/>
                  <a:moveTo>
                    <a:pt x="251460" y="176898"/>
                  </a:moveTo>
                  <a:cubicBezTo>
                    <a:pt x="243948" y="169535"/>
                    <a:pt x="231888" y="169654"/>
                    <a:pt x="224523" y="177165"/>
                  </a:cubicBezTo>
                  <a:cubicBezTo>
                    <a:pt x="215565" y="186311"/>
                    <a:pt x="203302" y="191465"/>
                    <a:pt x="190500" y="191465"/>
                  </a:cubicBezTo>
                  <a:cubicBezTo>
                    <a:pt x="177698" y="191465"/>
                    <a:pt x="165435" y="186311"/>
                    <a:pt x="156477" y="177165"/>
                  </a:cubicBezTo>
                  <a:cubicBezTo>
                    <a:pt x="149080" y="169833"/>
                    <a:pt x="137166" y="169800"/>
                    <a:pt x="129729" y="177091"/>
                  </a:cubicBezTo>
                  <a:cubicBezTo>
                    <a:pt x="122292" y="184382"/>
                    <a:pt x="122089" y="196295"/>
                    <a:pt x="129273" y="203835"/>
                  </a:cubicBezTo>
                  <a:cubicBezTo>
                    <a:pt x="145397" y="220288"/>
                    <a:pt x="167464" y="229559"/>
                    <a:pt x="190500" y="229559"/>
                  </a:cubicBezTo>
                  <a:cubicBezTo>
                    <a:pt x="213536" y="229559"/>
                    <a:pt x="235603" y="220288"/>
                    <a:pt x="251727" y="203835"/>
                  </a:cubicBezTo>
                  <a:cubicBezTo>
                    <a:pt x="259090" y="196323"/>
                    <a:pt x="258971" y="184263"/>
                    <a:pt x="251460" y="176898"/>
                  </a:cubicBezTo>
                  <a:moveTo>
                    <a:pt x="143065" y="95250"/>
                  </a:moveTo>
                  <a:lnTo>
                    <a:pt x="142875" y="95250"/>
                  </a:lnTo>
                  <a:cubicBezTo>
                    <a:pt x="132354" y="95250"/>
                    <a:pt x="123825" y="103779"/>
                    <a:pt x="123825" y="114300"/>
                  </a:cubicBezTo>
                  <a:cubicBezTo>
                    <a:pt x="123825" y="124821"/>
                    <a:pt x="132354" y="133350"/>
                    <a:pt x="142875" y="133350"/>
                  </a:cubicBezTo>
                  <a:lnTo>
                    <a:pt x="143065" y="133350"/>
                  </a:lnTo>
                  <a:cubicBezTo>
                    <a:pt x="153587" y="133350"/>
                    <a:pt x="162115" y="124821"/>
                    <a:pt x="162115" y="114300"/>
                  </a:cubicBezTo>
                  <a:cubicBezTo>
                    <a:pt x="162115" y="103779"/>
                    <a:pt x="153587" y="95250"/>
                    <a:pt x="143065" y="95250"/>
                  </a:cubicBezTo>
                  <a:moveTo>
                    <a:pt x="238315" y="95250"/>
                  </a:moveTo>
                  <a:lnTo>
                    <a:pt x="238125" y="95250"/>
                  </a:lnTo>
                  <a:cubicBezTo>
                    <a:pt x="227604" y="95250"/>
                    <a:pt x="219075" y="103779"/>
                    <a:pt x="219075" y="114300"/>
                  </a:cubicBezTo>
                  <a:cubicBezTo>
                    <a:pt x="219075" y="124821"/>
                    <a:pt x="227604" y="133350"/>
                    <a:pt x="238125" y="133350"/>
                  </a:cubicBezTo>
                  <a:lnTo>
                    <a:pt x="238315" y="133350"/>
                  </a:lnTo>
                  <a:cubicBezTo>
                    <a:pt x="248837" y="133350"/>
                    <a:pt x="257365" y="124821"/>
                    <a:pt x="257365" y="114300"/>
                  </a:cubicBezTo>
                  <a:cubicBezTo>
                    <a:pt x="257365" y="103779"/>
                    <a:pt x="248837" y="95250"/>
                    <a:pt x="238315" y="95250"/>
                  </a:cubicBezTo>
                </a:path>
              </a:pathLst>
            </a:custGeom>
            <a:solidFill>
              <a:srgbClr val="00B96B"/>
            </a:solidFill>
            <a:ln>
              <a:noFill/>
            </a:ln>
          </p:spPr>
        </p:sp>
        <p:sp>
          <p:nvSpPr>
            <p:cNvPr id="10" name="TextBox 10"/>
            <p:cNvSpPr txBox="1"/>
            <p:nvPr/>
          </p:nvSpPr>
          <p:spPr>
            <a:xfrm>
              <a:off x="1758982" y="2774632"/>
              <a:ext cx="1054036" cy="335280"/>
            </a:xfrm>
            <a:prstGeom prst="rect">
              <a:avLst/>
            </a:prstGeom>
            <a:noFill/>
            <a:ln>
              <a:noFill/>
            </a:ln>
          </p:spPr>
          <p:txBody>
            <a:bodyPr wrap="none" lIns="0" tIns="0" rIns="0" bIns="0" anchor="t" anchorCtr="0">
              <a:spAutoFit/>
            </a:bodyPr>
            <a:lstStyle/>
            <a:p>
              <a:pPr algn="ctr"/>
              <a:r>
                <a:rPr lang="zh-CN" sz="1650" b="1" dirty="0">
                  <a:solidFill>
                    <a:srgbClr val="1A1A2E"/>
                  </a:solidFill>
                  <a:latin typeface="Arial"/>
                  <a:ea typeface="Microsoft YaHei"/>
                  <a:cs typeface="Arial"/>
                </a:rPr>
                <a:t>智能问答</a:t>
              </a:r>
            </a:p>
          </p:txBody>
        </p:sp>
        <p:sp>
          <p:nvSpPr>
            <p:cNvPr id="11" name="TextBox 11"/>
            <p:cNvSpPr txBox="1"/>
            <p:nvPr/>
          </p:nvSpPr>
          <p:spPr>
            <a:xfrm>
              <a:off x="1520011" y="3164681"/>
              <a:ext cx="1531977"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意图识别 + 语义检索</a:t>
              </a:r>
            </a:p>
          </p:txBody>
        </p:sp>
        <p:sp>
          <p:nvSpPr>
            <p:cNvPr id="12" name="Freeform 12"/>
            <p:cNvSpPr/>
            <p:nvPr/>
          </p:nvSpPr>
          <p:spPr>
            <a:xfrm>
              <a:off x="868713" y="3724859"/>
              <a:ext cx="198906" cy="200260"/>
            </a:xfrm>
            <a:custGeom>
              <a:avLst/>
              <a:gdLst/>
              <a:ahLst/>
              <a:cxnLst/>
              <a:rect l="l" t="t" r="r" b="b"/>
              <a:pathLst>
                <a:path w="198906" h="200260">
                  <a:moveTo>
                    <a:pt x="121887" y="19152"/>
                  </a:moveTo>
                  <a:cubicBezTo>
                    <a:pt x="140957" y="30160"/>
                    <a:pt x="154332" y="48879"/>
                    <a:pt x="158568" y="70486"/>
                  </a:cubicBezTo>
                  <a:cubicBezTo>
                    <a:pt x="162804" y="92094"/>
                    <a:pt x="157487" y="114477"/>
                    <a:pt x="143985" y="131871"/>
                  </a:cubicBezTo>
                  <a:lnTo>
                    <a:pt x="195296" y="183182"/>
                  </a:lnTo>
                  <a:cubicBezTo>
                    <a:pt x="198906" y="186919"/>
                    <a:pt x="198854" y="192860"/>
                    <a:pt x="195180" y="196534"/>
                  </a:cubicBezTo>
                  <a:cubicBezTo>
                    <a:pt x="191506" y="200208"/>
                    <a:pt x="185565" y="200260"/>
                    <a:pt x="181828" y="196650"/>
                  </a:cubicBezTo>
                  <a:lnTo>
                    <a:pt x="130507" y="145339"/>
                  </a:lnTo>
                  <a:cubicBezTo>
                    <a:pt x="100255" y="168813"/>
                    <a:pt x="57282" y="166191"/>
                    <a:pt x="30108" y="139214"/>
                  </a:cubicBezTo>
                  <a:cubicBezTo>
                    <a:pt x="2934" y="112237"/>
                    <a:pt x="0" y="69284"/>
                    <a:pt x="23253" y="38862"/>
                  </a:cubicBezTo>
                  <a:cubicBezTo>
                    <a:pt x="46507" y="8441"/>
                    <a:pt x="88724" y="0"/>
                    <a:pt x="121887" y="19142"/>
                  </a:cubicBezTo>
                </a:path>
              </a:pathLst>
            </a:custGeom>
            <a:solidFill>
              <a:srgbClr val="00B96B"/>
            </a:solidFill>
            <a:ln>
              <a:noFill/>
            </a:ln>
          </p:spPr>
        </p:sp>
        <p:sp>
          <p:nvSpPr>
            <p:cNvPr id="13" name="TextBox 13"/>
            <p:cNvSpPr txBox="1"/>
            <p:nvPr/>
          </p:nvSpPr>
          <p:spPr>
            <a:xfrm>
              <a:off x="1166812" y="3764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自然语言提问</a:t>
              </a:r>
            </a:p>
          </p:txBody>
        </p:sp>
        <p:grpSp>
          <p:nvGrpSpPr>
            <p:cNvPr id="17" name="Group 17"/>
            <p:cNvGrpSpPr/>
            <p:nvPr/>
          </p:nvGrpSpPr>
          <p:grpSpPr>
            <a:xfrm>
              <a:off x="873128" y="4121153"/>
              <a:ext cx="187319" cy="177794"/>
              <a:chOff x="873128" y="4121153"/>
              <a:chExt cx="187319" cy="177794"/>
            </a:xfrm>
          </p:grpSpPr>
          <p:sp>
            <p:nvSpPr>
              <p:cNvPr id="14" name="Freeform 14"/>
              <p:cNvSpPr/>
              <p:nvPr/>
            </p:nvSpPr>
            <p:spPr>
              <a:xfrm>
                <a:off x="1000125" y="4235453"/>
                <a:ext cx="60322" cy="63494"/>
              </a:xfrm>
              <a:custGeom>
                <a:avLst/>
                <a:gdLst/>
                <a:ahLst/>
                <a:cxnLst/>
                <a:rect l="l" t="t" r="r" b="b"/>
                <a:pathLst>
                  <a:path w="60322" h="63494">
                    <a:moveTo>
                      <a:pt x="9525" y="41272"/>
                    </a:moveTo>
                    <a:cubicBezTo>
                      <a:pt x="4264" y="41272"/>
                      <a:pt x="0" y="37007"/>
                      <a:pt x="0" y="31747"/>
                    </a:cubicBezTo>
                    <a:cubicBezTo>
                      <a:pt x="0" y="26486"/>
                      <a:pt x="4264" y="22222"/>
                      <a:pt x="9525" y="22222"/>
                    </a:cubicBezTo>
                    <a:cubicBezTo>
                      <a:pt x="14786" y="22222"/>
                      <a:pt x="19050" y="17957"/>
                      <a:pt x="19050" y="12697"/>
                    </a:cubicBezTo>
                    <a:cubicBezTo>
                      <a:pt x="19050" y="0"/>
                      <a:pt x="38100" y="0"/>
                      <a:pt x="38100" y="12697"/>
                    </a:cubicBezTo>
                    <a:cubicBezTo>
                      <a:pt x="38100" y="17957"/>
                      <a:pt x="42364" y="22222"/>
                      <a:pt x="47625" y="22222"/>
                    </a:cubicBezTo>
                    <a:cubicBezTo>
                      <a:pt x="60322" y="22222"/>
                      <a:pt x="60322" y="41272"/>
                      <a:pt x="47625" y="41272"/>
                    </a:cubicBezTo>
                    <a:cubicBezTo>
                      <a:pt x="42364" y="41272"/>
                      <a:pt x="38100" y="45536"/>
                      <a:pt x="38100" y="50797"/>
                    </a:cubicBezTo>
                    <a:cubicBezTo>
                      <a:pt x="38100" y="63494"/>
                      <a:pt x="19050" y="63494"/>
                      <a:pt x="19050" y="50797"/>
                    </a:cubicBezTo>
                    <a:cubicBezTo>
                      <a:pt x="19050" y="45536"/>
                      <a:pt x="14786" y="41272"/>
                      <a:pt x="9525" y="41272"/>
                    </a:cubicBezTo>
                  </a:path>
                </a:pathLst>
              </a:custGeom>
              <a:solidFill>
                <a:srgbClr val="00B96B"/>
              </a:solidFill>
              <a:ln>
                <a:noFill/>
              </a:ln>
            </p:spPr>
          </p:sp>
          <p:sp>
            <p:nvSpPr>
              <p:cNvPr id="15" name="Freeform 15"/>
              <p:cNvSpPr/>
              <p:nvPr/>
            </p:nvSpPr>
            <p:spPr>
              <a:xfrm>
                <a:off x="873128" y="4140203"/>
                <a:ext cx="139694" cy="136522"/>
              </a:xfrm>
              <a:custGeom>
                <a:avLst/>
                <a:gdLst/>
                <a:ahLst/>
                <a:cxnLst/>
                <a:rect l="l" t="t" r="r" b="b"/>
                <a:pathLst>
                  <a:path w="139694" h="136522">
                    <a:moveTo>
                      <a:pt x="12697" y="60322"/>
                    </a:moveTo>
                    <a:cubicBezTo>
                      <a:pt x="38999" y="60322"/>
                      <a:pt x="60322" y="38999"/>
                      <a:pt x="60322" y="12697"/>
                    </a:cubicBezTo>
                    <a:cubicBezTo>
                      <a:pt x="60322" y="0"/>
                      <a:pt x="79372" y="0"/>
                      <a:pt x="79372" y="12697"/>
                    </a:cubicBezTo>
                    <a:cubicBezTo>
                      <a:pt x="79372" y="38999"/>
                      <a:pt x="100694" y="60322"/>
                      <a:pt x="126997" y="60322"/>
                    </a:cubicBezTo>
                    <a:cubicBezTo>
                      <a:pt x="139694" y="60322"/>
                      <a:pt x="139694" y="79372"/>
                      <a:pt x="126997" y="79372"/>
                    </a:cubicBezTo>
                    <a:cubicBezTo>
                      <a:pt x="100694" y="79372"/>
                      <a:pt x="79372" y="100694"/>
                      <a:pt x="79372" y="126997"/>
                    </a:cubicBezTo>
                    <a:cubicBezTo>
                      <a:pt x="79372" y="132257"/>
                      <a:pt x="75107" y="136522"/>
                      <a:pt x="69847" y="136522"/>
                    </a:cubicBezTo>
                    <a:cubicBezTo>
                      <a:pt x="64586" y="136522"/>
                      <a:pt x="60322" y="132257"/>
                      <a:pt x="60322" y="126997"/>
                    </a:cubicBezTo>
                    <a:cubicBezTo>
                      <a:pt x="60322" y="100694"/>
                      <a:pt x="38999" y="79372"/>
                      <a:pt x="12697" y="79372"/>
                    </a:cubicBezTo>
                    <a:cubicBezTo>
                      <a:pt x="0" y="79372"/>
                      <a:pt x="0" y="60322"/>
                      <a:pt x="12697" y="60322"/>
                    </a:cubicBezTo>
                  </a:path>
                </a:pathLst>
              </a:custGeom>
              <a:solidFill>
                <a:srgbClr val="00B96B"/>
              </a:solidFill>
              <a:ln>
                <a:noFill/>
              </a:ln>
            </p:spPr>
          </p:sp>
          <p:sp>
            <p:nvSpPr>
              <p:cNvPr id="16" name="Freeform 16"/>
              <p:cNvSpPr/>
              <p:nvPr/>
            </p:nvSpPr>
            <p:spPr>
              <a:xfrm>
                <a:off x="1000125" y="4121153"/>
                <a:ext cx="60322" cy="63494"/>
              </a:xfrm>
              <a:custGeom>
                <a:avLst/>
                <a:gdLst/>
                <a:ahLst/>
                <a:cxnLst/>
                <a:rect l="l" t="t" r="r" b="b"/>
                <a:pathLst>
                  <a:path w="60322" h="63494">
                    <a:moveTo>
                      <a:pt x="9525" y="41272"/>
                    </a:moveTo>
                    <a:cubicBezTo>
                      <a:pt x="4264" y="41272"/>
                      <a:pt x="0" y="37007"/>
                      <a:pt x="0" y="31747"/>
                    </a:cubicBezTo>
                    <a:cubicBezTo>
                      <a:pt x="0" y="26486"/>
                      <a:pt x="4264" y="22222"/>
                      <a:pt x="9525" y="22222"/>
                    </a:cubicBezTo>
                    <a:cubicBezTo>
                      <a:pt x="14786" y="22222"/>
                      <a:pt x="19050" y="17957"/>
                      <a:pt x="19050" y="12697"/>
                    </a:cubicBezTo>
                    <a:cubicBezTo>
                      <a:pt x="19050" y="0"/>
                      <a:pt x="38100" y="0"/>
                      <a:pt x="38100" y="12697"/>
                    </a:cubicBezTo>
                    <a:cubicBezTo>
                      <a:pt x="38100" y="17957"/>
                      <a:pt x="42364" y="22222"/>
                      <a:pt x="47625" y="22222"/>
                    </a:cubicBezTo>
                    <a:cubicBezTo>
                      <a:pt x="60322" y="22222"/>
                      <a:pt x="60322" y="41272"/>
                      <a:pt x="47625" y="41272"/>
                    </a:cubicBezTo>
                    <a:cubicBezTo>
                      <a:pt x="42364" y="41272"/>
                      <a:pt x="38100" y="45536"/>
                      <a:pt x="38100" y="50797"/>
                    </a:cubicBezTo>
                    <a:cubicBezTo>
                      <a:pt x="38100" y="63494"/>
                      <a:pt x="19050" y="63494"/>
                      <a:pt x="19050" y="50797"/>
                    </a:cubicBezTo>
                    <a:cubicBezTo>
                      <a:pt x="19050" y="45536"/>
                      <a:pt x="14786" y="41272"/>
                      <a:pt x="9525" y="41272"/>
                    </a:cubicBezTo>
                  </a:path>
                </a:pathLst>
              </a:custGeom>
              <a:solidFill>
                <a:srgbClr val="00B96B"/>
              </a:solidFill>
              <a:ln>
                <a:noFill/>
              </a:ln>
            </p:spPr>
          </p:sp>
        </p:grpSp>
        <p:sp>
          <p:nvSpPr>
            <p:cNvPr id="18" name="TextBox 18"/>
            <p:cNvSpPr txBox="1"/>
            <p:nvPr/>
          </p:nvSpPr>
          <p:spPr>
            <a:xfrm>
              <a:off x="1166812" y="4145756"/>
              <a:ext cx="1269087"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5种意图自动分类</a:t>
              </a:r>
            </a:p>
          </p:txBody>
        </p:sp>
        <p:sp>
          <p:nvSpPr>
            <p:cNvPr id="19" name="Freeform 19"/>
            <p:cNvSpPr/>
            <p:nvPr/>
          </p:nvSpPr>
          <p:spPr>
            <a:xfrm>
              <a:off x="866279" y="4486294"/>
              <a:ext cx="210437" cy="200562"/>
            </a:xfrm>
            <a:custGeom>
              <a:avLst/>
              <a:gdLst/>
              <a:ahLst/>
              <a:cxnLst/>
              <a:rect l="l" t="t" r="r" b="b"/>
              <a:pathLst>
                <a:path w="210437" h="200562">
                  <a:moveTo>
                    <a:pt x="69485" y="60369"/>
                  </a:moveTo>
                  <a:lnTo>
                    <a:pt x="8716" y="69180"/>
                  </a:lnTo>
                  <a:lnTo>
                    <a:pt x="7639" y="69399"/>
                  </a:lnTo>
                  <a:cubicBezTo>
                    <a:pt x="4322" y="70279"/>
                    <a:pt x="1735" y="72877"/>
                    <a:pt x="868" y="76197"/>
                  </a:cubicBezTo>
                  <a:cubicBezTo>
                    <a:pt x="0" y="79518"/>
                    <a:pt x="986" y="83048"/>
                    <a:pt x="3448" y="85439"/>
                  </a:cubicBezTo>
                  <a:lnTo>
                    <a:pt x="47473" y="128292"/>
                  </a:lnTo>
                  <a:lnTo>
                    <a:pt x="37091" y="188823"/>
                  </a:lnTo>
                  <a:lnTo>
                    <a:pt x="36967" y="189871"/>
                  </a:lnTo>
                  <a:cubicBezTo>
                    <a:pt x="36764" y="193302"/>
                    <a:pt x="38425" y="196576"/>
                    <a:pt x="41313" y="198439"/>
                  </a:cubicBezTo>
                  <a:cubicBezTo>
                    <a:pt x="44202" y="200301"/>
                    <a:pt x="47870" y="200463"/>
                    <a:pt x="50911" y="198863"/>
                  </a:cubicBezTo>
                  <a:lnTo>
                    <a:pt x="105261" y="170288"/>
                  </a:lnTo>
                  <a:lnTo>
                    <a:pt x="159487" y="198863"/>
                  </a:lnTo>
                  <a:lnTo>
                    <a:pt x="160439" y="199301"/>
                  </a:lnTo>
                  <a:cubicBezTo>
                    <a:pt x="163640" y="200562"/>
                    <a:pt x="167273" y="199998"/>
                    <a:pt x="169941" y="197827"/>
                  </a:cubicBezTo>
                  <a:cubicBezTo>
                    <a:pt x="172610" y="195656"/>
                    <a:pt x="173901" y="192214"/>
                    <a:pt x="173317" y="188823"/>
                  </a:cubicBezTo>
                  <a:lnTo>
                    <a:pt x="162925" y="128292"/>
                  </a:lnTo>
                  <a:lnTo>
                    <a:pt x="206969" y="85429"/>
                  </a:lnTo>
                  <a:lnTo>
                    <a:pt x="207712" y="84620"/>
                  </a:lnTo>
                  <a:cubicBezTo>
                    <a:pt x="209872" y="81959"/>
                    <a:pt x="210437" y="78342"/>
                    <a:pt x="209189" y="75149"/>
                  </a:cubicBezTo>
                  <a:cubicBezTo>
                    <a:pt x="207942" y="71957"/>
                    <a:pt x="205075" y="69681"/>
                    <a:pt x="201683" y="69189"/>
                  </a:cubicBezTo>
                  <a:lnTo>
                    <a:pt x="140913" y="60369"/>
                  </a:lnTo>
                  <a:lnTo>
                    <a:pt x="113748" y="5315"/>
                  </a:lnTo>
                  <a:cubicBezTo>
                    <a:pt x="112144" y="2061"/>
                    <a:pt x="108832" y="0"/>
                    <a:pt x="105204" y="0"/>
                  </a:cubicBezTo>
                  <a:cubicBezTo>
                    <a:pt x="101576" y="0"/>
                    <a:pt x="98263" y="2061"/>
                    <a:pt x="96660" y="5315"/>
                  </a:cubicBezTo>
                  <a:lnTo>
                    <a:pt x="69485" y="60369"/>
                  </a:lnTo>
                  <a:close/>
                </a:path>
              </a:pathLst>
            </a:custGeom>
            <a:solidFill>
              <a:srgbClr val="00B96B"/>
            </a:solidFill>
            <a:ln>
              <a:noFill/>
            </a:ln>
          </p:spPr>
        </p:sp>
        <p:sp>
          <p:nvSpPr>
            <p:cNvPr id="20" name="TextBox 20"/>
            <p:cNvSpPr txBox="1"/>
            <p:nvPr/>
          </p:nvSpPr>
          <p:spPr>
            <a:xfrm>
              <a:off x="1166812" y="4526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景点推荐卡片</a:t>
              </a:r>
            </a:p>
          </p:txBody>
        </p:sp>
        <p:sp>
          <p:nvSpPr>
            <p:cNvPr id="21" name="Freeform 21"/>
            <p:cNvSpPr/>
            <p:nvPr/>
          </p:nvSpPr>
          <p:spPr>
            <a:xfrm>
              <a:off x="876300" y="4876800"/>
              <a:ext cx="190541" cy="191406"/>
            </a:xfrm>
            <a:custGeom>
              <a:avLst/>
              <a:gdLst/>
              <a:ahLst/>
              <a:cxnLst/>
              <a:rect l="l" t="t" r="r" b="b"/>
              <a:pathLst>
                <a:path w="190541" h="191406">
                  <a:moveTo>
                    <a:pt x="95250" y="0"/>
                  </a:moveTo>
                  <a:cubicBezTo>
                    <a:pt x="147857" y="0"/>
                    <a:pt x="190500" y="42643"/>
                    <a:pt x="190500" y="95250"/>
                  </a:cubicBezTo>
                  <a:cubicBezTo>
                    <a:pt x="190541" y="147283"/>
                    <a:pt x="148819" y="189720"/>
                    <a:pt x="96793" y="190563"/>
                  </a:cubicBezTo>
                  <a:cubicBezTo>
                    <a:pt x="44767" y="191406"/>
                    <a:pt x="1692" y="150343"/>
                    <a:pt x="48" y="98336"/>
                  </a:cubicBezTo>
                  <a:lnTo>
                    <a:pt x="0" y="95250"/>
                  </a:lnTo>
                  <a:lnTo>
                    <a:pt x="38" y="92583"/>
                  </a:lnTo>
                  <a:cubicBezTo>
                    <a:pt x="1448" y="41215"/>
                    <a:pt x="43529" y="0"/>
                    <a:pt x="95250" y="0"/>
                  </a:cubicBezTo>
                  <a:close/>
                  <a:moveTo>
                    <a:pt x="95250" y="85725"/>
                  </a:moveTo>
                  <a:lnTo>
                    <a:pt x="85725" y="85725"/>
                  </a:lnTo>
                  <a:lnTo>
                    <a:pt x="84611" y="85792"/>
                  </a:lnTo>
                  <a:cubicBezTo>
                    <a:pt x="79819" y="86362"/>
                    <a:pt x="76211" y="90425"/>
                    <a:pt x="76211" y="95250"/>
                  </a:cubicBezTo>
                  <a:cubicBezTo>
                    <a:pt x="76211" y="100075"/>
                    <a:pt x="79819" y="104138"/>
                    <a:pt x="84611" y="104708"/>
                  </a:cubicBezTo>
                  <a:lnTo>
                    <a:pt x="85725" y="104775"/>
                  </a:lnTo>
                  <a:lnTo>
                    <a:pt x="85725" y="133350"/>
                  </a:lnTo>
                  <a:lnTo>
                    <a:pt x="85792" y="134464"/>
                  </a:lnTo>
                  <a:cubicBezTo>
                    <a:pt x="86308" y="138841"/>
                    <a:pt x="89759" y="142292"/>
                    <a:pt x="94136" y="142808"/>
                  </a:cubicBezTo>
                  <a:lnTo>
                    <a:pt x="95250" y="142875"/>
                  </a:lnTo>
                  <a:lnTo>
                    <a:pt x="104775" y="142875"/>
                  </a:lnTo>
                  <a:lnTo>
                    <a:pt x="105889" y="142808"/>
                  </a:lnTo>
                  <a:cubicBezTo>
                    <a:pt x="110266" y="142292"/>
                    <a:pt x="113717" y="138841"/>
                    <a:pt x="114233" y="134464"/>
                  </a:cubicBezTo>
                  <a:lnTo>
                    <a:pt x="114300" y="133350"/>
                  </a:lnTo>
                  <a:lnTo>
                    <a:pt x="114233" y="132236"/>
                  </a:lnTo>
                  <a:cubicBezTo>
                    <a:pt x="113767" y="128254"/>
                    <a:pt x="110858" y="124991"/>
                    <a:pt x="106956" y="124073"/>
                  </a:cubicBezTo>
                  <a:lnTo>
                    <a:pt x="105889" y="123882"/>
                  </a:lnTo>
                  <a:lnTo>
                    <a:pt x="104775" y="123825"/>
                  </a:lnTo>
                  <a:lnTo>
                    <a:pt x="104775" y="95250"/>
                  </a:lnTo>
                  <a:lnTo>
                    <a:pt x="104708" y="94136"/>
                  </a:lnTo>
                  <a:cubicBezTo>
                    <a:pt x="104192" y="89759"/>
                    <a:pt x="100741" y="86308"/>
                    <a:pt x="96364" y="85792"/>
                  </a:cubicBezTo>
                  <a:lnTo>
                    <a:pt x="95250" y="85725"/>
                  </a:lnTo>
                  <a:close/>
                  <a:moveTo>
                    <a:pt x="95345" y="57150"/>
                  </a:moveTo>
                  <a:lnTo>
                    <a:pt x="94136" y="57217"/>
                  </a:lnTo>
                  <a:cubicBezTo>
                    <a:pt x="89344" y="57787"/>
                    <a:pt x="85736" y="61850"/>
                    <a:pt x="85736" y="66675"/>
                  </a:cubicBezTo>
                  <a:cubicBezTo>
                    <a:pt x="85736" y="71500"/>
                    <a:pt x="89344" y="75563"/>
                    <a:pt x="94136" y="76133"/>
                  </a:cubicBezTo>
                  <a:lnTo>
                    <a:pt x="95250" y="76200"/>
                  </a:lnTo>
                  <a:lnTo>
                    <a:pt x="96460" y="76133"/>
                  </a:lnTo>
                  <a:cubicBezTo>
                    <a:pt x="101251" y="75563"/>
                    <a:pt x="104860" y="71500"/>
                    <a:pt x="104860" y="66675"/>
                  </a:cubicBezTo>
                  <a:cubicBezTo>
                    <a:pt x="104860" y="61850"/>
                    <a:pt x="101251" y="57787"/>
                    <a:pt x="96460" y="57217"/>
                  </a:cubicBezTo>
                  <a:lnTo>
                    <a:pt x="95345" y="57150"/>
                  </a:lnTo>
                  <a:close/>
                </a:path>
              </a:pathLst>
            </a:custGeom>
            <a:solidFill>
              <a:srgbClr val="00B96B"/>
            </a:solidFill>
            <a:ln>
              <a:noFill/>
            </a:ln>
          </p:spPr>
        </p:sp>
        <p:sp>
          <p:nvSpPr>
            <p:cNvPr id="22" name="TextBox 22"/>
            <p:cNvSpPr txBox="1"/>
            <p:nvPr/>
          </p:nvSpPr>
          <p:spPr>
            <a:xfrm>
              <a:off x="1166812" y="4907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回答附带来源</a:t>
              </a:r>
            </a:p>
          </p:txBody>
        </p:sp>
        <p:sp>
          <p:nvSpPr>
            <p:cNvPr id="23" name="Freeform 23"/>
            <p:cNvSpPr/>
            <p:nvPr/>
          </p:nvSpPr>
          <p:spPr>
            <a:xfrm>
              <a:off x="872368" y="5265120"/>
              <a:ext cx="198107" cy="174587"/>
            </a:xfrm>
            <a:custGeom>
              <a:avLst/>
              <a:gdLst/>
              <a:ahLst/>
              <a:cxnLst/>
              <a:rect l="l" t="t" r="r" b="b"/>
              <a:pathLst>
                <a:path w="198107" h="174587">
                  <a:moveTo>
                    <a:pt x="51357" y="2909"/>
                  </a:moveTo>
                  <a:cubicBezTo>
                    <a:pt x="68432" y="0"/>
                    <a:pt x="85906" y="4992"/>
                    <a:pt x="98867" y="16483"/>
                  </a:cubicBezTo>
                  <a:lnTo>
                    <a:pt x="99220" y="16797"/>
                  </a:lnTo>
                  <a:lnTo>
                    <a:pt x="99544" y="16511"/>
                  </a:lnTo>
                  <a:cubicBezTo>
                    <a:pt x="111899" y="5668"/>
                    <a:pt x="128325" y="671"/>
                    <a:pt x="144625" y="2795"/>
                  </a:cubicBezTo>
                  <a:lnTo>
                    <a:pt x="146969" y="3138"/>
                  </a:lnTo>
                  <a:cubicBezTo>
                    <a:pt x="167660" y="6711"/>
                    <a:pt x="184726" y="21342"/>
                    <a:pt x="191416" y="41246"/>
                  </a:cubicBezTo>
                  <a:cubicBezTo>
                    <a:pt x="198107" y="61149"/>
                    <a:pt x="193343" y="83119"/>
                    <a:pt x="179011" y="98464"/>
                  </a:cubicBezTo>
                  <a:lnTo>
                    <a:pt x="177296" y="100226"/>
                  </a:lnTo>
                  <a:lnTo>
                    <a:pt x="176839" y="100617"/>
                  </a:lnTo>
                  <a:lnTo>
                    <a:pt x="105878" y="170902"/>
                  </a:lnTo>
                  <a:cubicBezTo>
                    <a:pt x="102491" y="174254"/>
                    <a:pt x="97149" y="174587"/>
                    <a:pt x="93371" y="171683"/>
                  </a:cubicBezTo>
                  <a:lnTo>
                    <a:pt x="92476" y="170902"/>
                  </a:lnTo>
                  <a:lnTo>
                    <a:pt x="21105" y="100207"/>
                  </a:lnTo>
                  <a:cubicBezTo>
                    <a:pt x="5688" y="85207"/>
                    <a:pt x="0" y="62820"/>
                    <a:pt x="6386" y="42279"/>
                  </a:cubicBezTo>
                  <a:cubicBezTo>
                    <a:pt x="12773" y="21739"/>
                    <a:pt x="30152" y="6524"/>
                    <a:pt x="51357" y="2909"/>
                  </a:cubicBezTo>
                  <a:close/>
                </a:path>
              </a:pathLst>
            </a:custGeom>
            <a:solidFill>
              <a:srgbClr val="00B96B"/>
            </a:solidFill>
            <a:ln>
              <a:noFill/>
            </a:ln>
          </p:spPr>
        </p:sp>
        <p:sp>
          <p:nvSpPr>
            <p:cNvPr id="24" name="TextBox 24"/>
            <p:cNvSpPr txBox="1"/>
            <p:nvPr/>
          </p:nvSpPr>
          <p:spPr>
            <a:xfrm>
              <a:off x="1166812" y="5288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流式输出效果</a:t>
              </a:r>
            </a:p>
          </p:txBody>
        </p:sp>
      </p:grpSp>
      <p:grpSp>
        <p:nvGrpSpPr>
          <p:cNvPr id="45" name="Group 45"/>
          <p:cNvGrpSpPr/>
          <p:nvPr/>
        </p:nvGrpSpPr>
        <p:grpSpPr>
          <a:xfrm>
            <a:off x="4381500" y="1714500"/>
            <a:ext cx="3429000" cy="4191000"/>
            <a:chOff x="4381500" y="1714500"/>
            <a:chExt cx="3429000" cy="4191000"/>
          </a:xfrm>
        </p:grpSpPr>
        <p:sp>
          <p:nvSpPr>
            <p:cNvPr id="26" name="Rectangle 26"/>
            <p:cNvSpPr/>
            <p:nvPr/>
          </p:nvSpPr>
          <p:spPr>
            <a:xfrm>
              <a:off x="4381500" y="1714500"/>
              <a:ext cx="3429000" cy="4191000"/>
            </a:xfrm>
            <a:prstGeom prst="roundRect">
              <a:avLst>
                <a:gd name="adj" fmla="val 3333"/>
              </a:avLst>
            </a:prstGeom>
            <a:solidFill>
              <a:srgbClr val="FFFFFF"/>
            </a:solidFill>
            <a:ln>
              <a:noFill/>
            </a:ln>
          </p:spPr>
        </p:sp>
        <p:sp>
          <p:nvSpPr>
            <p:cNvPr id="27" name="Rectangle 27"/>
            <p:cNvSpPr/>
            <p:nvPr/>
          </p:nvSpPr>
          <p:spPr>
            <a:xfrm>
              <a:off x="4381500" y="1714500"/>
              <a:ext cx="3429000" cy="76200"/>
            </a:xfrm>
            <a:prstGeom prst="roundRect">
              <a:avLst>
                <a:gd name="adj" fmla="val 50000"/>
              </a:avLst>
            </a:prstGeom>
            <a:solidFill>
              <a:srgbClr val="36CFC9"/>
            </a:solidFill>
            <a:ln>
              <a:noFill/>
            </a:ln>
          </p:spPr>
        </p:sp>
        <p:sp>
          <p:nvSpPr>
            <p:cNvPr id="28" name="Freeform 28"/>
            <p:cNvSpPr/>
            <p:nvPr/>
          </p:nvSpPr>
          <p:spPr>
            <a:xfrm>
              <a:off x="5850660" y="2212110"/>
              <a:ext cx="376570" cy="412647"/>
            </a:xfrm>
            <a:custGeom>
              <a:avLst/>
              <a:gdLst/>
              <a:ahLst/>
              <a:cxnLst/>
              <a:rect l="l" t="t" r="r" b="b"/>
              <a:pathLst>
                <a:path w="376570" h="412647">
                  <a:moveTo>
                    <a:pt x="309424" y="66956"/>
                  </a:moveTo>
                  <a:cubicBezTo>
                    <a:pt x="374859" y="132383"/>
                    <a:pt x="376570" y="237929"/>
                    <a:pt x="313291" y="305443"/>
                  </a:cubicBezTo>
                  <a:lnTo>
                    <a:pt x="309424" y="309443"/>
                  </a:lnTo>
                  <a:lnTo>
                    <a:pt x="228595" y="390253"/>
                  </a:lnTo>
                  <a:cubicBezTo>
                    <a:pt x="207312" y="411522"/>
                    <a:pt x="173184" y="412647"/>
                    <a:pt x="150547" y="392825"/>
                  </a:cubicBezTo>
                  <a:lnTo>
                    <a:pt x="147804" y="390253"/>
                  </a:lnTo>
                  <a:lnTo>
                    <a:pt x="66956" y="309424"/>
                  </a:lnTo>
                  <a:cubicBezTo>
                    <a:pt x="0" y="242468"/>
                    <a:pt x="0" y="133912"/>
                    <a:pt x="66956" y="66956"/>
                  </a:cubicBezTo>
                  <a:cubicBezTo>
                    <a:pt x="133912" y="0"/>
                    <a:pt x="242468" y="0"/>
                    <a:pt x="309424" y="66956"/>
                  </a:cubicBezTo>
                  <a:close/>
                  <a:moveTo>
                    <a:pt x="188190" y="131040"/>
                  </a:moveTo>
                  <a:cubicBezTo>
                    <a:pt x="156627" y="131040"/>
                    <a:pt x="131040" y="156627"/>
                    <a:pt x="131040" y="188190"/>
                  </a:cubicBezTo>
                  <a:cubicBezTo>
                    <a:pt x="131040" y="219753"/>
                    <a:pt x="156627" y="245340"/>
                    <a:pt x="188190" y="245340"/>
                  </a:cubicBezTo>
                  <a:cubicBezTo>
                    <a:pt x="219753" y="245340"/>
                    <a:pt x="245340" y="219753"/>
                    <a:pt x="245340" y="188190"/>
                  </a:cubicBezTo>
                  <a:cubicBezTo>
                    <a:pt x="245340" y="156627"/>
                    <a:pt x="219753" y="131040"/>
                    <a:pt x="188190" y="131040"/>
                  </a:cubicBezTo>
                </a:path>
              </a:pathLst>
            </a:custGeom>
            <a:solidFill>
              <a:srgbClr val="36CFC9"/>
            </a:solidFill>
            <a:ln>
              <a:noFill/>
            </a:ln>
          </p:spPr>
        </p:sp>
        <p:sp>
          <p:nvSpPr>
            <p:cNvPr id="29" name="TextBox 29"/>
            <p:cNvSpPr txBox="1"/>
            <p:nvPr/>
          </p:nvSpPr>
          <p:spPr>
            <a:xfrm>
              <a:off x="5568982" y="2774632"/>
              <a:ext cx="1054036" cy="335280"/>
            </a:xfrm>
            <a:prstGeom prst="rect">
              <a:avLst/>
            </a:prstGeom>
            <a:noFill/>
            <a:ln>
              <a:noFill/>
            </a:ln>
          </p:spPr>
          <p:txBody>
            <a:bodyPr wrap="none" lIns="0" tIns="0" rIns="0" bIns="0" anchor="t" anchorCtr="0">
              <a:spAutoFit/>
            </a:bodyPr>
            <a:lstStyle/>
            <a:p>
              <a:pPr algn="ctr"/>
              <a:r>
                <a:rPr lang="zh-CN" sz="1650" b="1" dirty="0">
                  <a:solidFill>
                    <a:srgbClr val="1A1A2E"/>
                  </a:solidFill>
                  <a:latin typeface="Arial"/>
                  <a:ea typeface="Microsoft YaHei"/>
                  <a:cs typeface="Arial"/>
                </a:rPr>
                <a:t>景点地图</a:t>
              </a:r>
            </a:p>
          </p:txBody>
        </p:sp>
        <p:sp>
          <p:nvSpPr>
            <p:cNvPr id="30" name="TextBox 30"/>
            <p:cNvSpPr txBox="1"/>
            <p:nvPr/>
          </p:nvSpPr>
          <p:spPr>
            <a:xfrm>
              <a:off x="5330011" y="3164681"/>
              <a:ext cx="1531977"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117个景点可视化标注</a:t>
              </a:r>
            </a:p>
          </p:txBody>
        </p:sp>
        <p:grpSp>
          <p:nvGrpSpPr>
            <p:cNvPr id="35" name="Group 35"/>
            <p:cNvGrpSpPr/>
            <p:nvPr/>
          </p:nvGrpSpPr>
          <p:grpSpPr>
            <a:xfrm>
              <a:off x="4711376" y="3722923"/>
              <a:ext cx="148445" cy="201645"/>
              <a:chOff x="4711376" y="3722923"/>
              <a:chExt cx="148445" cy="201645"/>
            </a:xfrm>
          </p:grpSpPr>
          <p:sp>
            <p:nvSpPr>
              <p:cNvPr id="31" name="Freeform 31"/>
              <p:cNvSpPr/>
              <p:nvPr/>
            </p:nvSpPr>
            <p:spPr>
              <a:xfrm>
                <a:off x="4724400" y="3752848"/>
                <a:ext cx="95625" cy="95985"/>
              </a:xfrm>
              <a:custGeom>
                <a:avLst/>
                <a:gdLst/>
                <a:ahLst/>
                <a:cxnLst/>
                <a:rect l="l" t="t" r="r" b="b"/>
                <a:pathLst>
                  <a:path w="95625" h="95985">
                    <a:moveTo>
                      <a:pt x="47625" y="2"/>
                    </a:moveTo>
                    <a:cubicBezTo>
                      <a:pt x="73659" y="0"/>
                      <a:pt x="94870" y="20904"/>
                      <a:pt x="95248" y="46936"/>
                    </a:cubicBezTo>
                    <a:cubicBezTo>
                      <a:pt x="95625" y="72967"/>
                      <a:pt x="75030" y="94478"/>
                      <a:pt x="49007" y="95232"/>
                    </a:cubicBezTo>
                    <a:cubicBezTo>
                      <a:pt x="22984" y="95985"/>
                      <a:pt x="1178" y="75703"/>
                      <a:pt x="48" y="49693"/>
                    </a:cubicBezTo>
                    <a:lnTo>
                      <a:pt x="0" y="47627"/>
                    </a:lnTo>
                    <a:lnTo>
                      <a:pt x="48" y="45560"/>
                    </a:lnTo>
                    <a:cubicBezTo>
                      <a:pt x="1154" y="20086"/>
                      <a:pt x="22127" y="3"/>
                      <a:pt x="47625" y="2"/>
                    </a:cubicBezTo>
                    <a:close/>
                  </a:path>
                </a:pathLst>
              </a:custGeom>
              <a:solidFill>
                <a:srgbClr val="36CFC9"/>
              </a:solidFill>
              <a:ln>
                <a:noFill/>
              </a:ln>
            </p:spPr>
          </p:sp>
          <p:sp>
            <p:nvSpPr>
              <p:cNvPr id="32" name="Freeform 32"/>
              <p:cNvSpPr/>
              <p:nvPr/>
            </p:nvSpPr>
            <p:spPr>
              <a:xfrm>
                <a:off x="4711376" y="3722923"/>
                <a:ext cx="148445" cy="168887"/>
              </a:xfrm>
              <a:custGeom>
                <a:avLst/>
                <a:gdLst/>
                <a:ahLst/>
                <a:cxnLst/>
                <a:rect l="l" t="t" r="r" b="b"/>
                <a:pathLst>
                  <a:path w="148445" h="168887">
                    <a:moveTo>
                      <a:pt x="90490" y="6134"/>
                    </a:moveTo>
                    <a:cubicBezTo>
                      <a:pt x="93111" y="1573"/>
                      <a:pt x="98931" y="0"/>
                      <a:pt x="103492" y="2619"/>
                    </a:cubicBezTo>
                    <a:cubicBezTo>
                      <a:pt x="131813" y="18897"/>
                      <a:pt x="148445" y="49833"/>
                      <a:pt x="146403" y="82435"/>
                    </a:cubicBezTo>
                    <a:cubicBezTo>
                      <a:pt x="144360" y="115037"/>
                      <a:pt x="123997" y="143656"/>
                      <a:pt x="93866" y="156272"/>
                    </a:cubicBezTo>
                    <a:cubicBezTo>
                      <a:pt x="63735" y="168887"/>
                      <a:pt x="29055" y="163314"/>
                      <a:pt x="4394" y="141893"/>
                    </a:cubicBezTo>
                    <a:cubicBezTo>
                      <a:pt x="422" y="138443"/>
                      <a:pt x="0" y="132425"/>
                      <a:pt x="3451" y="128454"/>
                    </a:cubicBezTo>
                    <a:cubicBezTo>
                      <a:pt x="6902" y="124482"/>
                      <a:pt x="12919" y="124060"/>
                      <a:pt x="16891" y="127511"/>
                    </a:cubicBezTo>
                    <a:cubicBezTo>
                      <a:pt x="36081" y="144179"/>
                      <a:pt x="63066" y="148515"/>
                      <a:pt x="86512" y="138699"/>
                    </a:cubicBezTo>
                    <a:cubicBezTo>
                      <a:pt x="109958" y="128882"/>
                      <a:pt x="125804" y="106613"/>
                      <a:pt x="127394" y="81244"/>
                    </a:cubicBezTo>
                    <a:cubicBezTo>
                      <a:pt x="128984" y="55876"/>
                      <a:pt x="116042" y="31802"/>
                      <a:pt x="94005" y="19135"/>
                    </a:cubicBezTo>
                    <a:cubicBezTo>
                      <a:pt x="89445" y="16515"/>
                      <a:pt x="87871" y="10695"/>
                      <a:pt x="90490" y="6134"/>
                    </a:cubicBezTo>
                    <a:close/>
                  </a:path>
                </a:pathLst>
              </a:custGeom>
              <a:solidFill>
                <a:srgbClr val="36CFC9"/>
              </a:solidFill>
              <a:ln>
                <a:noFill/>
              </a:ln>
            </p:spPr>
          </p:sp>
          <p:sp>
            <p:nvSpPr>
              <p:cNvPr id="33" name="Freeform 33"/>
              <p:cNvSpPr/>
              <p:nvPr/>
            </p:nvSpPr>
            <p:spPr>
              <a:xfrm>
                <a:off x="4762500" y="3867150"/>
                <a:ext cx="19050" cy="57418"/>
              </a:xfrm>
              <a:custGeom>
                <a:avLst/>
                <a:gdLst/>
                <a:ahLst/>
                <a:cxnLst/>
                <a:rect l="l" t="t" r="r" b="b"/>
                <a:pathLst>
                  <a:path w="19050" h="57418">
                    <a:moveTo>
                      <a:pt x="9525" y="0"/>
                    </a:moveTo>
                    <a:cubicBezTo>
                      <a:pt x="14354" y="1"/>
                      <a:pt x="18418" y="3615"/>
                      <a:pt x="18983" y="8411"/>
                    </a:cubicBezTo>
                    <a:lnTo>
                      <a:pt x="19050" y="9525"/>
                    </a:lnTo>
                    <a:lnTo>
                      <a:pt x="19050" y="47625"/>
                    </a:lnTo>
                    <a:cubicBezTo>
                      <a:pt x="19044" y="52665"/>
                      <a:pt x="15114" y="56828"/>
                      <a:pt x="10083" y="57123"/>
                    </a:cubicBezTo>
                    <a:cubicBezTo>
                      <a:pt x="5052" y="57418"/>
                      <a:pt x="662" y="53744"/>
                      <a:pt x="67" y="48739"/>
                    </a:cubicBezTo>
                    <a:lnTo>
                      <a:pt x="0" y="47625"/>
                    </a:lnTo>
                    <a:lnTo>
                      <a:pt x="0" y="9525"/>
                    </a:lnTo>
                    <a:cubicBezTo>
                      <a:pt x="0" y="4264"/>
                      <a:pt x="4264" y="0"/>
                      <a:pt x="9525" y="0"/>
                    </a:cubicBezTo>
                    <a:close/>
                  </a:path>
                </a:pathLst>
              </a:custGeom>
              <a:solidFill>
                <a:srgbClr val="36CFC9"/>
              </a:solidFill>
              <a:ln>
                <a:noFill/>
              </a:ln>
            </p:spPr>
          </p:sp>
          <p:sp>
            <p:nvSpPr>
              <p:cNvPr id="34" name="Freeform 34"/>
              <p:cNvSpPr/>
              <p:nvPr/>
            </p:nvSpPr>
            <p:spPr>
              <a:xfrm>
                <a:off x="4724132" y="3905250"/>
                <a:ext cx="95787" cy="19050"/>
              </a:xfrm>
              <a:custGeom>
                <a:avLst/>
                <a:gdLst/>
                <a:ahLst/>
                <a:cxnLst/>
                <a:rect l="l" t="t" r="r" b="b"/>
                <a:pathLst>
                  <a:path w="95787" h="19050">
                    <a:moveTo>
                      <a:pt x="85993" y="0"/>
                    </a:moveTo>
                    <a:cubicBezTo>
                      <a:pt x="91033" y="6"/>
                      <a:pt x="95196" y="3936"/>
                      <a:pt x="95491" y="8967"/>
                    </a:cubicBezTo>
                    <a:cubicBezTo>
                      <a:pt x="95787" y="13998"/>
                      <a:pt x="92112" y="18388"/>
                      <a:pt x="87108" y="18983"/>
                    </a:cubicBezTo>
                    <a:lnTo>
                      <a:pt x="85993" y="19050"/>
                    </a:lnTo>
                    <a:lnTo>
                      <a:pt x="9793" y="19050"/>
                    </a:lnTo>
                    <a:cubicBezTo>
                      <a:pt x="4754" y="19044"/>
                      <a:pt x="591" y="15114"/>
                      <a:pt x="295" y="10083"/>
                    </a:cubicBezTo>
                    <a:cubicBezTo>
                      <a:pt x="0" y="5052"/>
                      <a:pt x="3675" y="662"/>
                      <a:pt x="8679" y="67"/>
                    </a:cubicBezTo>
                    <a:lnTo>
                      <a:pt x="9793" y="0"/>
                    </a:lnTo>
                    <a:lnTo>
                      <a:pt x="85993" y="0"/>
                    </a:lnTo>
                    <a:close/>
                  </a:path>
                </a:pathLst>
              </a:custGeom>
              <a:solidFill>
                <a:srgbClr val="36CFC9"/>
              </a:solidFill>
              <a:ln>
                <a:noFill/>
              </a:ln>
            </p:spPr>
          </p:sp>
        </p:grpSp>
        <p:sp>
          <p:nvSpPr>
            <p:cNvPr id="36" name="TextBox 36"/>
            <p:cNvSpPr txBox="1"/>
            <p:nvPr/>
          </p:nvSpPr>
          <p:spPr>
            <a:xfrm>
              <a:off x="4976812" y="3764756"/>
              <a:ext cx="1326594"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Leaflet 交互地图</a:t>
              </a:r>
            </a:p>
          </p:txBody>
        </p:sp>
        <p:sp>
          <p:nvSpPr>
            <p:cNvPr id="37" name="Freeform 37"/>
            <p:cNvSpPr/>
            <p:nvPr/>
          </p:nvSpPr>
          <p:spPr>
            <a:xfrm>
              <a:off x="4686299" y="4110533"/>
              <a:ext cx="200567" cy="201349"/>
            </a:xfrm>
            <a:custGeom>
              <a:avLst/>
              <a:gdLst/>
              <a:ahLst/>
              <a:cxnLst/>
              <a:rect l="l" t="t" r="r" b="b"/>
              <a:pathLst>
                <a:path w="200567" h="201349">
                  <a:moveTo>
                    <a:pt x="142876" y="17030"/>
                  </a:moveTo>
                  <a:cubicBezTo>
                    <a:pt x="182908" y="40142"/>
                    <a:pt x="200567" y="88661"/>
                    <a:pt x="184757" y="132097"/>
                  </a:cubicBezTo>
                  <a:cubicBezTo>
                    <a:pt x="168947" y="175534"/>
                    <a:pt x="124232" y="201349"/>
                    <a:pt x="78710" y="193322"/>
                  </a:cubicBezTo>
                  <a:cubicBezTo>
                    <a:pt x="33187" y="185294"/>
                    <a:pt x="0" y="145741"/>
                    <a:pt x="1" y="99517"/>
                  </a:cubicBezTo>
                  <a:lnTo>
                    <a:pt x="49" y="96431"/>
                  </a:lnTo>
                  <a:cubicBezTo>
                    <a:pt x="1134" y="62969"/>
                    <a:pt x="19707" y="32534"/>
                    <a:pt x="48968" y="16267"/>
                  </a:cubicBezTo>
                  <a:cubicBezTo>
                    <a:pt x="78230" y="0"/>
                    <a:pt x="113883" y="290"/>
                    <a:pt x="142876" y="17030"/>
                  </a:cubicBezTo>
                  <a:close/>
                  <a:moveTo>
                    <a:pt x="95251" y="156667"/>
                  </a:moveTo>
                  <a:cubicBezTo>
                    <a:pt x="89991" y="156667"/>
                    <a:pt x="85726" y="160931"/>
                    <a:pt x="85726" y="166192"/>
                  </a:cubicBezTo>
                  <a:cubicBezTo>
                    <a:pt x="85726" y="171452"/>
                    <a:pt x="89991" y="175717"/>
                    <a:pt x="95251" y="175717"/>
                  </a:cubicBezTo>
                  <a:cubicBezTo>
                    <a:pt x="100512" y="175717"/>
                    <a:pt x="104776" y="171452"/>
                    <a:pt x="104776" y="166192"/>
                  </a:cubicBezTo>
                  <a:cubicBezTo>
                    <a:pt x="104776" y="160931"/>
                    <a:pt x="100512" y="156667"/>
                    <a:pt x="95251" y="156667"/>
                  </a:cubicBezTo>
                  <a:moveTo>
                    <a:pt x="130341" y="52377"/>
                  </a:moveTo>
                  <a:lnTo>
                    <a:pt x="73191" y="71427"/>
                  </a:lnTo>
                  <a:cubicBezTo>
                    <a:pt x="70344" y="72375"/>
                    <a:pt x="68110" y="74609"/>
                    <a:pt x="67162" y="77457"/>
                  </a:cubicBezTo>
                  <a:lnTo>
                    <a:pt x="48045" y="134854"/>
                  </a:lnTo>
                  <a:lnTo>
                    <a:pt x="47826" y="135674"/>
                  </a:lnTo>
                  <a:lnTo>
                    <a:pt x="47664" y="136750"/>
                  </a:lnTo>
                  <a:lnTo>
                    <a:pt x="47626" y="137398"/>
                  </a:lnTo>
                  <a:lnTo>
                    <a:pt x="47626" y="137817"/>
                  </a:lnTo>
                  <a:lnTo>
                    <a:pt x="47712" y="138874"/>
                  </a:lnTo>
                  <a:lnTo>
                    <a:pt x="47826" y="139541"/>
                  </a:lnTo>
                  <a:lnTo>
                    <a:pt x="48207" y="140912"/>
                  </a:lnTo>
                  <a:lnTo>
                    <a:pt x="48636" y="141865"/>
                  </a:lnTo>
                  <a:lnTo>
                    <a:pt x="49150" y="142770"/>
                  </a:lnTo>
                  <a:lnTo>
                    <a:pt x="49760" y="143627"/>
                  </a:lnTo>
                  <a:lnTo>
                    <a:pt x="50417" y="144341"/>
                  </a:lnTo>
                  <a:lnTo>
                    <a:pt x="51217" y="145046"/>
                  </a:lnTo>
                  <a:lnTo>
                    <a:pt x="52151" y="145713"/>
                  </a:lnTo>
                  <a:lnTo>
                    <a:pt x="53103" y="146227"/>
                  </a:lnTo>
                  <a:lnTo>
                    <a:pt x="53846" y="146542"/>
                  </a:lnTo>
                  <a:lnTo>
                    <a:pt x="54846" y="146856"/>
                  </a:lnTo>
                  <a:lnTo>
                    <a:pt x="55884" y="147046"/>
                  </a:lnTo>
                  <a:lnTo>
                    <a:pt x="56294" y="147094"/>
                  </a:lnTo>
                  <a:lnTo>
                    <a:pt x="56942" y="147132"/>
                  </a:lnTo>
                  <a:lnTo>
                    <a:pt x="57361" y="147132"/>
                  </a:lnTo>
                  <a:lnTo>
                    <a:pt x="58418" y="147046"/>
                  </a:lnTo>
                  <a:lnTo>
                    <a:pt x="59085" y="146932"/>
                  </a:lnTo>
                  <a:lnTo>
                    <a:pt x="59275" y="146875"/>
                  </a:lnTo>
                  <a:lnTo>
                    <a:pt x="59456" y="146856"/>
                  </a:lnTo>
                  <a:lnTo>
                    <a:pt x="60161" y="146646"/>
                  </a:lnTo>
                  <a:lnTo>
                    <a:pt x="117311" y="127596"/>
                  </a:lnTo>
                  <a:cubicBezTo>
                    <a:pt x="120158" y="126649"/>
                    <a:pt x="122393" y="124414"/>
                    <a:pt x="123340" y="121567"/>
                  </a:cubicBezTo>
                  <a:lnTo>
                    <a:pt x="142390" y="64417"/>
                  </a:lnTo>
                  <a:cubicBezTo>
                    <a:pt x="143532" y="60994"/>
                    <a:pt x="142641" y="57220"/>
                    <a:pt x="140090" y="54668"/>
                  </a:cubicBezTo>
                  <a:cubicBezTo>
                    <a:pt x="137538" y="52117"/>
                    <a:pt x="133764" y="51226"/>
                    <a:pt x="130341" y="52368"/>
                  </a:cubicBezTo>
                  <a:close/>
                  <a:moveTo>
                    <a:pt x="118292" y="76466"/>
                  </a:moveTo>
                  <a:lnTo>
                    <a:pt x="106767" y="111032"/>
                  </a:lnTo>
                  <a:lnTo>
                    <a:pt x="72201" y="122558"/>
                  </a:lnTo>
                  <a:lnTo>
                    <a:pt x="83726" y="87991"/>
                  </a:lnTo>
                  <a:lnTo>
                    <a:pt x="118292" y="76466"/>
                  </a:lnTo>
                  <a:close/>
                  <a:moveTo>
                    <a:pt x="28576" y="89992"/>
                  </a:moveTo>
                  <a:cubicBezTo>
                    <a:pt x="23316" y="89992"/>
                    <a:pt x="19051" y="94256"/>
                    <a:pt x="19051" y="99517"/>
                  </a:cubicBezTo>
                  <a:cubicBezTo>
                    <a:pt x="19051" y="104777"/>
                    <a:pt x="23316" y="109042"/>
                    <a:pt x="28576" y="109042"/>
                  </a:cubicBezTo>
                  <a:cubicBezTo>
                    <a:pt x="33837" y="109042"/>
                    <a:pt x="38101" y="104777"/>
                    <a:pt x="38101" y="99517"/>
                  </a:cubicBezTo>
                  <a:cubicBezTo>
                    <a:pt x="38101" y="94256"/>
                    <a:pt x="33837" y="89992"/>
                    <a:pt x="28576" y="89992"/>
                  </a:cubicBezTo>
                  <a:moveTo>
                    <a:pt x="161926" y="89992"/>
                  </a:moveTo>
                  <a:cubicBezTo>
                    <a:pt x="156666" y="89992"/>
                    <a:pt x="152401" y="94256"/>
                    <a:pt x="152401" y="99517"/>
                  </a:cubicBezTo>
                  <a:cubicBezTo>
                    <a:pt x="152401" y="104777"/>
                    <a:pt x="156666" y="109042"/>
                    <a:pt x="161926" y="109042"/>
                  </a:cubicBezTo>
                  <a:cubicBezTo>
                    <a:pt x="167187" y="109042"/>
                    <a:pt x="171451" y="104777"/>
                    <a:pt x="171451" y="99517"/>
                  </a:cubicBezTo>
                  <a:cubicBezTo>
                    <a:pt x="171451" y="94256"/>
                    <a:pt x="167187" y="89992"/>
                    <a:pt x="161926" y="89992"/>
                  </a:cubicBezTo>
                  <a:moveTo>
                    <a:pt x="95251" y="23317"/>
                  </a:moveTo>
                  <a:cubicBezTo>
                    <a:pt x="89991" y="23317"/>
                    <a:pt x="85726" y="27581"/>
                    <a:pt x="85726" y="32842"/>
                  </a:cubicBezTo>
                  <a:cubicBezTo>
                    <a:pt x="85726" y="38102"/>
                    <a:pt x="89991" y="42367"/>
                    <a:pt x="95251" y="42367"/>
                  </a:cubicBezTo>
                  <a:cubicBezTo>
                    <a:pt x="100512" y="42367"/>
                    <a:pt x="104776" y="38102"/>
                    <a:pt x="104776" y="32842"/>
                  </a:cubicBezTo>
                  <a:cubicBezTo>
                    <a:pt x="104776" y="27581"/>
                    <a:pt x="100512" y="23317"/>
                    <a:pt x="95251" y="23317"/>
                  </a:cubicBezTo>
                </a:path>
              </a:pathLst>
            </a:custGeom>
            <a:solidFill>
              <a:srgbClr val="36CFC9"/>
            </a:solidFill>
            <a:ln>
              <a:noFill/>
            </a:ln>
          </p:spPr>
        </p:sp>
        <p:sp>
          <p:nvSpPr>
            <p:cNvPr id="38" name="TextBox 38"/>
            <p:cNvSpPr txBox="1"/>
            <p:nvPr/>
          </p:nvSpPr>
          <p:spPr>
            <a:xfrm>
              <a:off x="4976812" y="4145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景点分类筛选</a:t>
              </a:r>
            </a:p>
          </p:txBody>
        </p:sp>
        <p:sp>
          <p:nvSpPr>
            <p:cNvPr id="39" name="Freeform 39"/>
            <p:cNvSpPr/>
            <p:nvPr/>
          </p:nvSpPr>
          <p:spPr>
            <a:xfrm>
              <a:off x="4686300" y="4504397"/>
              <a:ext cx="190500" cy="183812"/>
            </a:xfrm>
            <a:custGeom>
              <a:avLst/>
              <a:gdLst/>
              <a:ahLst/>
              <a:cxnLst/>
              <a:rect l="l" t="t" r="r" b="b"/>
              <a:pathLst>
                <a:path w="190500" h="183812">
                  <a:moveTo>
                    <a:pt x="159134" y="3718"/>
                  </a:moveTo>
                  <a:lnTo>
                    <a:pt x="187709" y="32293"/>
                  </a:lnTo>
                  <a:cubicBezTo>
                    <a:pt x="188052" y="32630"/>
                    <a:pt x="188360" y="32986"/>
                    <a:pt x="188633" y="33360"/>
                  </a:cubicBezTo>
                  <a:lnTo>
                    <a:pt x="189309" y="34408"/>
                  </a:lnTo>
                  <a:lnTo>
                    <a:pt x="189824" y="35494"/>
                  </a:lnTo>
                  <a:lnTo>
                    <a:pt x="190157" y="36494"/>
                  </a:lnTo>
                  <a:lnTo>
                    <a:pt x="190443" y="37904"/>
                  </a:lnTo>
                  <a:lnTo>
                    <a:pt x="190500" y="39028"/>
                  </a:lnTo>
                  <a:lnTo>
                    <a:pt x="190471" y="39742"/>
                  </a:lnTo>
                  <a:lnTo>
                    <a:pt x="190310" y="40942"/>
                  </a:lnTo>
                  <a:lnTo>
                    <a:pt x="190024" y="41999"/>
                  </a:lnTo>
                  <a:lnTo>
                    <a:pt x="189605" y="43057"/>
                  </a:lnTo>
                  <a:lnTo>
                    <a:pt x="189109" y="43990"/>
                  </a:lnTo>
                  <a:lnTo>
                    <a:pt x="188471" y="44904"/>
                  </a:lnTo>
                  <a:lnTo>
                    <a:pt x="187709" y="45762"/>
                  </a:lnTo>
                  <a:lnTo>
                    <a:pt x="159134" y="74337"/>
                  </a:lnTo>
                  <a:cubicBezTo>
                    <a:pt x="155397" y="77946"/>
                    <a:pt x="149456" y="77895"/>
                    <a:pt x="145782" y="74221"/>
                  </a:cubicBezTo>
                  <a:cubicBezTo>
                    <a:pt x="142108" y="70547"/>
                    <a:pt x="142056" y="64606"/>
                    <a:pt x="145666" y="60868"/>
                  </a:cubicBezTo>
                  <a:lnTo>
                    <a:pt x="157972" y="48553"/>
                  </a:lnTo>
                  <a:lnTo>
                    <a:pt x="114300" y="48553"/>
                  </a:lnTo>
                  <a:cubicBezTo>
                    <a:pt x="109039" y="48553"/>
                    <a:pt x="104775" y="52817"/>
                    <a:pt x="104775" y="58078"/>
                  </a:cubicBezTo>
                  <a:lnTo>
                    <a:pt x="104775" y="134278"/>
                  </a:lnTo>
                  <a:cubicBezTo>
                    <a:pt x="104775" y="150059"/>
                    <a:pt x="91982" y="162853"/>
                    <a:pt x="76200" y="162853"/>
                  </a:cubicBezTo>
                  <a:lnTo>
                    <a:pt x="55521" y="162853"/>
                  </a:lnTo>
                  <a:cubicBezTo>
                    <a:pt x="50868" y="175958"/>
                    <a:pt x="37458" y="183812"/>
                    <a:pt x="23751" y="181461"/>
                  </a:cubicBezTo>
                  <a:cubicBezTo>
                    <a:pt x="10045" y="179109"/>
                    <a:pt x="19" y="167234"/>
                    <a:pt x="0" y="153328"/>
                  </a:cubicBezTo>
                  <a:lnTo>
                    <a:pt x="48" y="151651"/>
                  </a:lnTo>
                  <a:cubicBezTo>
                    <a:pt x="827" y="138057"/>
                    <a:pt x="11091" y="126901"/>
                    <a:pt x="24573" y="124994"/>
                  </a:cubicBezTo>
                  <a:cubicBezTo>
                    <a:pt x="38056" y="123087"/>
                    <a:pt x="51011" y="130958"/>
                    <a:pt x="55531" y="143803"/>
                  </a:cubicBezTo>
                  <a:lnTo>
                    <a:pt x="76200" y="143803"/>
                  </a:lnTo>
                  <a:cubicBezTo>
                    <a:pt x="81461" y="143803"/>
                    <a:pt x="85725" y="139538"/>
                    <a:pt x="85725" y="134278"/>
                  </a:cubicBezTo>
                  <a:lnTo>
                    <a:pt x="85725" y="58078"/>
                  </a:lnTo>
                  <a:cubicBezTo>
                    <a:pt x="85725" y="42296"/>
                    <a:pt x="98518" y="29503"/>
                    <a:pt x="114300" y="29503"/>
                  </a:cubicBezTo>
                  <a:lnTo>
                    <a:pt x="157972" y="29503"/>
                  </a:lnTo>
                  <a:lnTo>
                    <a:pt x="145666" y="17187"/>
                  </a:lnTo>
                  <a:cubicBezTo>
                    <a:pt x="142273" y="13793"/>
                    <a:pt x="141934" y="8406"/>
                    <a:pt x="144875" y="4614"/>
                  </a:cubicBezTo>
                  <a:lnTo>
                    <a:pt x="145666" y="3718"/>
                  </a:lnTo>
                  <a:cubicBezTo>
                    <a:pt x="149385" y="0"/>
                    <a:pt x="155415" y="0"/>
                    <a:pt x="159134" y="3718"/>
                  </a:cubicBezTo>
                </a:path>
              </a:pathLst>
            </a:custGeom>
            <a:solidFill>
              <a:srgbClr val="36CFC9"/>
            </a:solidFill>
            <a:ln>
              <a:noFill/>
            </a:ln>
          </p:spPr>
        </p:sp>
        <p:sp>
          <p:nvSpPr>
            <p:cNvPr id="40" name="TextBox 40"/>
            <p:cNvSpPr txBox="1"/>
            <p:nvPr/>
          </p:nvSpPr>
          <p:spPr>
            <a:xfrm>
              <a:off x="4976812" y="4526756"/>
              <a:ext cx="850106"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路线可视化</a:t>
              </a:r>
            </a:p>
          </p:txBody>
        </p:sp>
        <p:sp>
          <p:nvSpPr>
            <p:cNvPr id="41" name="Freeform 41"/>
            <p:cNvSpPr/>
            <p:nvPr/>
          </p:nvSpPr>
          <p:spPr>
            <a:xfrm>
              <a:off x="4686299" y="4886322"/>
              <a:ext cx="190502" cy="171454"/>
            </a:xfrm>
            <a:custGeom>
              <a:avLst/>
              <a:gdLst/>
              <a:ahLst/>
              <a:cxnLst/>
              <a:rect l="l" t="t" r="r" b="b"/>
              <a:pathLst>
                <a:path w="190502" h="171454">
                  <a:moveTo>
                    <a:pt x="123826" y="3"/>
                  </a:moveTo>
                  <a:cubicBezTo>
                    <a:pt x="133795" y="0"/>
                    <a:pt x="142081" y="7683"/>
                    <a:pt x="142828" y="17624"/>
                  </a:cubicBezTo>
                  <a:lnTo>
                    <a:pt x="142876" y="19053"/>
                  </a:lnTo>
                  <a:cubicBezTo>
                    <a:pt x="142876" y="23882"/>
                    <a:pt x="146491" y="27946"/>
                    <a:pt x="151286" y="28511"/>
                  </a:cubicBezTo>
                  <a:lnTo>
                    <a:pt x="152401" y="28578"/>
                  </a:lnTo>
                  <a:lnTo>
                    <a:pt x="161926" y="28578"/>
                  </a:lnTo>
                  <a:cubicBezTo>
                    <a:pt x="177057" y="28577"/>
                    <a:pt x="189566" y="40372"/>
                    <a:pt x="190453" y="55477"/>
                  </a:cubicBezTo>
                  <a:lnTo>
                    <a:pt x="190501" y="57153"/>
                  </a:lnTo>
                  <a:lnTo>
                    <a:pt x="190501" y="142878"/>
                  </a:lnTo>
                  <a:cubicBezTo>
                    <a:pt x="190502" y="158009"/>
                    <a:pt x="178707" y="170518"/>
                    <a:pt x="163602" y="171406"/>
                  </a:cubicBezTo>
                  <a:lnTo>
                    <a:pt x="161926" y="171453"/>
                  </a:lnTo>
                  <a:lnTo>
                    <a:pt x="28576" y="171453"/>
                  </a:lnTo>
                  <a:cubicBezTo>
                    <a:pt x="13445" y="171454"/>
                    <a:pt x="936" y="159660"/>
                    <a:pt x="48" y="144555"/>
                  </a:cubicBezTo>
                  <a:lnTo>
                    <a:pt x="1" y="142878"/>
                  </a:lnTo>
                  <a:lnTo>
                    <a:pt x="1" y="57153"/>
                  </a:lnTo>
                  <a:cubicBezTo>
                    <a:pt x="0" y="42022"/>
                    <a:pt x="11794" y="29513"/>
                    <a:pt x="26899" y="28626"/>
                  </a:cubicBezTo>
                  <a:lnTo>
                    <a:pt x="28576" y="28578"/>
                  </a:lnTo>
                  <a:lnTo>
                    <a:pt x="38101" y="28578"/>
                  </a:lnTo>
                  <a:cubicBezTo>
                    <a:pt x="43361" y="28578"/>
                    <a:pt x="47626" y="24314"/>
                    <a:pt x="47626" y="19053"/>
                  </a:cubicBezTo>
                  <a:cubicBezTo>
                    <a:pt x="47623" y="9084"/>
                    <a:pt x="55306" y="798"/>
                    <a:pt x="65247" y="51"/>
                  </a:cubicBezTo>
                  <a:lnTo>
                    <a:pt x="66676" y="3"/>
                  </a:lnTo>
                  <a:lnTo>
                    <a:pt x="123826" y="3"/>
                  </a:lnTo>
                  <a:close/>
                  <a:moveTo>
                    <a:pt x="95251" y="66678"/>
                  </a:moveTo>
                  <a:cubicBezTo>
                    <a:pt x="80582" y="66677"/>
                    <a:pt x="68295" y="77783"/>
                    <a:pt x="66819" y="92377"/>
                  </a:cubicBezTo>
                  <a:lnTo>
                    <a:pt x="66714" y="93824"/>
                  </a:lnTo>
                  <a:lnTo>
                    <a:pt x="66676" y="95253"/>
                  </a:lnTo>
                  <a:lnTo>
                    <a:pt x="66714" y="96682"/>
                  </a:lnTo>
                  <a:cubicBezTo>
                    <a:pt x="67494" y="112258"/>
                    <a:pt x="80619" y="124333"/>
                    <a:pt x="96207" y="123812"/>
                  </a:cubicBezTo>
                  <a:cubicBezTo>
                    <a:pt x="111794" y="123292"/>
                    <a:pt x="124085" y="110369"/>
                    <a:pt x="123824" y="94775"/>
                  </a:cubicBezTo>
                  <a:cubicBezTo>
                    <a:pt x="123563" y="79181"/>
                    <a:pt x="110847" y="66677"/>
                    <a:pt x="95251" y="66678"/>
                  </a:cubicBezTo>
                  <a:close/>
                </a:path>
              </a:pathLst>
            </a:custGeom>
            <a:solidFill>
              <a:srgbClr val="36CFC9"/>
            </a:solidFill>
            <a:ln>
              <a:noFill/>
            </a:ln>
          </p:spPr>
        </p:sp>
        <p:sp>
          <p:nvSpPr>
            <p:cNvPr id="42" name="TextBox 42"/>
            <p:cNvSpPr txBox="1"/>
            <p:nvPr/>
          </p:nvSpPr>
          <p:spPr>
            <a:xfrm>
              <a:off x="4976812" y="4907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景点图片展示</a:t>
              </a:r>
            </a:p>
          </p:txBody>
        </p:sp>
        <p:sp>
          <p:nvSpPr>
            <p:cNvPr id="43" name="Freeform 43"/>
            <p:cNvSpPr/>
            <p:nvPr/>
          </p:nvSpPr>
          <p:spPr>
            <a:xfrm>
              <a:off x="4683090" y="5256872"/>
              <a:ext cx="196920" cy="191428"/>
            </a:xfrm>
            <a:custGeom>
              <a:avLst/>
              <a:gdLst/>
              <a:ahLst/>
              <a:cxnLst/>
              <a:rect l="l" t="t" r="r" b="b"/>
              <a:pathLst>
                <a:path w="196920" h="191428">
                  <a:moveTo>
                    <a:pt x="105194" y="3718"/>
                  </a:moveTo>
                  <a:lnTo>
                    <a:pt x="190919" y="89443"/>
                  </a:lnTo>
                  <a:cubicBezTo>
                    <a:pt x="196920" y="95444"/>
                    <a:pt x="192672" y="105703"/>
                    <a:pt x="184185" y="105703"/>
                  </a:cubicBezTo>
                  <a:lnTo>
                    <a:pt x="174660" y="105703"/>
                  </a:lnTo>
                  <a:lnTo>
                    <a:pt x="174660" y="162853"/>
                  </a:lnTo>
                  <a:cubicBezTo>
                    <a:pt x="174660" y="178634"/>
                    <a:pt x="161866" y="191428"/>
                    <a:pt x="146085" y="191428"/>
                  </a:cubicBezTo>
                  <a:lnTo>
                    <a:pt x="136560" y="191428"/>
                  </a:lnTo>
                  <a:lnTo>
                    <a:pt x="136560" y="124753"/>
                  </a:lnTo>
                  <a:cubicBezTo>
                    <a:pt x="136561" y="109622"/>
                    <a:pt x="124766" y="97113"/>
                    <a:pt x="109661" y="96225"/>
                  </a:cubicBezTo>
                  <a:lnTo>
                    <a:pt x="107985" y="96178"/>
                  </a:lnTo>
                  <a:lnTo>
                    <a:pt x="88935" y="96178"/>
                  </a:lnTo>
                  <a:cubicBezTo>
                    <a:pt x="73153" y="96178"/>
                    <a:pt x="60360" y="108971"/>
                    <a:pt x="60360" y="124753"/>
                  </a:cubicBezTo>
                  <a:lnTo>
                    <a:pt x="60360" y="191428"/>
                  </a:lnTo>
                  <a:lnTo>
                    <a:pt x="50835" y="191428"/>
                  </a:lnTo>
                  <a:cubicBezTo>
                    <a:pt x="35053" y="191428"/>
                    <a:pt x="22260" y="178634"/>
                    <a:pt x="22260" y="162853"/>
                  </a:cubicBezTo>
                  <a:lnTo>
                    <a:pt x="22260" y="105703"/>
                  </a:lnTo>
                  <a:lnTo>
                    <a:pt x="12735" y="105703"/>
                  </a:lnTo>
                  <a:cubicBezTo>
                    <a:pt x="4258" y="105703"/>
                    <a:pt x="0" y="95444"/>
                    <a:pt x="6001" y="89443"/>
                  </a:cubicBezTo>
                  <a:lnTo>
                    <a:pt x="91726" y="3718"/>
                  </a:lnTo>
                  <a:cubicBezTo>
                    <a:pt x="95445" y="0"/>
                    <a:pt x="101475" y="0"/>
                    <a:pt x="105194" y="3718"/>
                  </a:cubicBezTo>
                  <a:moveTo>
                    <a:pt x="107985" y="115228"/>
                  </a:moveTo>
                  <a:cubicBezTo>
                    <a:pt x="113245" y="115228"/>
                    <a:pt x="117510" y="119492"/>
                    <a:pt x="117510" y="124753"/>
                  </a:cubicBezTo>
                  <a:lnTo>
                    <a:pt x="117510" y="191428"/>
                  </a:lnTo>
                  <a:lnTo>
                    <a:pt x="79410" y="191428"/>
                  </a:lnTo>
                  <a:lnTo>
                    <a:pt x="79410" y="124753"/>
                  </a:lnTo>
                  <a:cubicBezTo>
                    <a:pt x="79411" y="119924"/>
                    <a:pt x="83025" y="115859"/>
                    <a:pt x="87820" y="115294"/>
                  </a:cubicBezTo>
                  <a:lnTo>
                    <a:pt x="88935" y="115228"/>
                  </a:lnTo>
                  <a:close/>
                </a:path>
              </a:pathLst>
            </a:custGeom>
            <a:solidFill>
              <a:srgbClr val="36CFC9"/>
            </a:solidFill>
            <a:ln>
              <a:noFill/>
            </a:ln>
          </p:spPr>
        </p:sp>
        <p:sp>
          <p:nvSpPr>
            <p:cNvPr id="44" name="TextBox 44"/>
            <p:cNvSpPr txBox="1"/>
            <p:nvPr/>
          </p:nvSpPr>
          <p:spPr>
            <a:xfrm>
              <a:off x="4976812" y="5288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手绘模式支持</a:t>
              </a:r>
            </a:p>
          </p:txBody>
        </p:sp>
      </p:grpSp>
      <p:grpSp>
        <p:nvGrpSpPr>
          <p:cNvPr id="64" name="Group 64"/>
          <p:cNvGrpSpPr/>
          <p:nvPr/>
        </p:nvGrpSpPr>
        <p:grpSpPr>
          <a:xfrm>
            <a:off x="8191500" y="1714500"/>
            <a:ext cx="3429000" cy="4191000"/>
            <a:chOff x="8191500" y="1714500"/>
            <a:chExt cx="3429000" cy="4191000"/>
          </a:xfrm>
        </p:grpSpPr>
        <p:sp>
          <p:nvSpPr>
            <p:cNvPr id="46" name="Rectangle 46"/>
            <p:cNvSpPr/>
            <p:nvPr/>
          </p:nvSpPr>
          <p:spPr>
            <a:xfrm>
              <a:off x="8191500" y="1714500"/>
              <a:ext cx="3429000" cy="4191000"/>
            </a:xfrm>
            <a:prstGeom prst="roundRect">
              <a:avLst>
                <a:gd name="adj" fmla="val 3333"/>
              </a:avLst>
            </a:prstGeom>
            <a:solidFill>
              <a:srgbClr val="FFFFFF"/>
            </a:solidFill>
            <a:ln>
              <a:noFill/>
            </a:ln>
          </p:spPr>
        </p:sp>
        <p:sp>
          <p:nvSpPr>
            <p:cNvPr id="47" name="Rectangle 47"/>
            <p:cNvSpPr/>
            <p:nvPr/>
          </p:nvSpPr>
          <p:spPr>
            <a:xfrm>
              <a:off x="8191500" y="1714500"/>
              <a:ext cx="3429000" cy="76200"/>
            </a:xfrm>
            <a:prstGeom prst="roundRect">
              <a:avLst>
                <a:gd name="adj" fmla="val 50000"/>
              </a:avLst>
            </a:prstGeom>
            <a:solidFill>
              <a:srgbClr val="FA8C16"/>
            </a:solidFill>
            <a:ln>
              <a:noFill/>
            </a:ln>
          </p:spPr>
        </p:sp>
        <p:grpSp>
          <p:nvGrpSpPr>
            <p:cNvPr id="51" name="Group 51"/>
            <p:cNvGrpSpPr/>
            <p:nvPr/>
          </p:nvGrpSpPr>
          <p:grpSpPr>
            <a:xfrm>
              <a:off x="9677399" y="2228850"/>
              <a:ext cx="342901" cy="381000"/>
              <a:chOff x="9677399" y="2228850"/>
              <a:chExt cx="342901" cy="381000"/>
            </a:xfrm>
          </p:grpSpPr>
          <p:sp>
            <p:nvSpPr>
              <p:cNvPr id="48" name="Freeform 48"/>
              <p:cNvSpPr/>
              <p:nvPr/>
            </p:nvSpPr>
            <p:spPr>
              <a:xfrm>
                <a:off x="9677400" y="2490426"/>
                <a:ext cx="342900" cy="119424"/>
              </a:xfrm>
              <a:custGeom>
                <a:avLst/>
                <a:gdLst/>
                <a:ahLst/>
                <a:cxnLst/>
                <a:rect l="l" t="t" r="r" b="b"/>
                <a:pathLst>
                  <a:path w="342900" h="119424">
                    <a:moveTo>
                      <a:pt x="0" y="0"/>
                    </a:moveTo>
                    <a:cubicBezTo>
                      <a:pt x="37490" y="28708"/>
                      <a:pt x="99708" y="43224"/>
                      <a:pt x="171450" y="43224"/>
                    </a:cubicBezTo>
                    <a:cubicBezTo>
                      <a:pt x="243078" y="43224"/>
                      <a:pt x="305276" y="28746"/>
                      <a:pt x="342900" y="324"/>
                    </a:cubicBezTo>
                    <a:lnTo>
                      <a:pt x="342900" y="43224"/>
                    </a:lnTo>
                    <a:cubicBezTo>
                      <a:pt x="342900" y="89421"/>
                      <a:pt x="268700" y="118205"/>
                      <a:pt x="177298" y="119386"/>
                    </a:cubicBezTo>
                    <a:lnTo>
                      <a:pt x="171450" y="119424"/>
                    </a:lnTo>
                    <a:cubicBezTo>
                      <a:pt x="77381" y="119424"/>
                      <a:pt x="0" y="90411"/>
                      <a:pt x="0" y="43224"/>
                    </a:cubicBezTo>
                    <a:close/>
                  </a:path>
                </a:pathLst>
              </a:custGeom>
              <a:solidFill>
                <a:srgbClr val="FA8C16"/>
              </a:solidFill>
              <a:ln>
                <a:noFill/>
              </a:ln>
            </p:spPr>
          </p:sp>
          <p:sp>
            <p:nvSpPr>
              <p:cNvPr id="49" name="Freeform 49"/>
              <p:cNvSpPr/>
              <p:nvPr/>
            </p:nvSpPr>
            <p:spPr>
              <a:xfrm>
                <a:off x="9677400" y="2376126"/>
                <a:ext cx="342900" cy="119424"/>
              </a:xfrm>
              <a:custGeom>
                <a:avLst/>
                <a:gdLst/>
                <a:ahLst/>
                <a:cxnLst/>
                <a:rect l="l" t="t" r="r" b="b"/>
                <a:pathLst>
                  <a:path w="342900" h="119424">
                    <a:moveTo>
                      <a:pt x="0" y="0"/>
                    </a:moveTo>
                    <a:cubicBezTo>
                      <a:pt x="37490" y="28708"/>
                      <a:pt x="99708" y="43224"/>
                      <a:pt x="171450" y="43224"/>
                    </a:cubicBezTo>
                    <a:cubicBezTo>
                      <a:pt x="243078" y="43224"/>
                      <a:pt x="305276" y="28746"/>
                      <a:pt x="342900" y="324"/>
                    </a:cubicBezTo>
                    <a:lnTo>
                      <a:pt x="342900" y="43224"/>
                    </a:lnTo>
                    <a:cubicBezTo>
                      <a:pt x="342900" y="90411"/>
                      <a:pt x="265519" y="119424"/>
                      <a:pt x="171450" y="119424"/>
                    </a:cubicBezTo>
                    <a:cubicBezTo>
                      <a:pt x="80048" y="119424"/>
                      <a:pt x="4382" y="92031"/>
                      <a:pt x="400" y="47130"/>
                    </a:cubicBezTo>
                    <a:lnTo>
                      <a:pt x="95" y="45206"/>
                    </a:lnTo>
                    <a:lnTo>
                      <a:pt x="0" y="43224"/>
                    </a:lnTo>
                    <a:close/>
                  </a:path>
                </a:pathLst>
              </a:custGeom>
              <a:solidFill>
                <a:srgbClr val="FA8C16"/>
              </a:solidFill>
              <a:ln>
                <a:noFill/>
              </a:ln>
            </p:spPr>
          </p:sp>
          <p:sp>
            <p:nvSpPr>
              <p:cNvPr id="50" name="Freeform 50"/>
              <p:cNvSpPr/>
              <p:nvPr/>
            </p:nvSpPr>
            <p:spPr>
              <a:xfrm>
                <a:off x="9677399" y="2228850"/>
                <a:ext cx="342901" cy="152400"/>
              </a:xfrm>
              <a:custGeom>
                <a:avLst/>
                <a:gdLst/>
                <a:ahLst/>
                <a:cxnLst/>
                <a:rect l="l" t="t" r="r" b="b"/>
                <a:pathLst>
                  <a:path w="342901" h="152400">
                    <a:moveTo>
                      <a:pt x="171451" y="0"/>
                    </a:moveTo>
                    <a:cubicBezTo>
                      <a:pt x="191283" y="0"/>
                      <a:pt x="210390" y="1295"/>
                      <a:pt x="228163" y="3772"/>
                    </a:cubicBezTo>
                    <a:lnTo>
                      <a:pt x="237098" y="5124"/>
                    </a:lnTo>
                    <a:cubicBezTo>
                      <a:pt x="247766" y="6902"/>
                      <a:pt x="257837" y="9112"/>
                      <a:pt x="267311" y="11754"/>
                    </a:cubicBezTo>
                    <a:lnTo>
                      <a:pt x="275693" y="14249"/>
                    </a:lnTo>
                    <a:lnTo>
                      <a:pt x="277122" y="14707"/>
                    </a:lnTo>
                    <a:cubicBezTo>
                      <a:pt x="282306" y="16411"/>
                      <a:pt x="287422" y="18318"/>
                      <a:pt x="292457" y="20422"/>
                    </a:cubicBezTo>
                    <a:lnTo>
                      <a:pt x="296248" y="22060"/>
                    </a:lnTo>
                    <a:cubicBezTo>
                      <a:pt x="303043" y="25133"/>
                      <a:pt x="309183" y="28499"/>
                      <a:pt x="314669" y="32156"/>
                    </a:cubicBezTo>
                    <a:cubicBezTo>
                      <a:pt x="316765" y="33553"/>
                      <a:pt x="318752" y="34982"/>
                      <a:pt x="320632" y="36443"/>
                    </a:cubicBezTo>
                    <a:cubicBezTo>
                      <a:pt x="325393" y="40137"/>
                      <a:pt x="329675" y="44412"/>
                      <a:pt x="333376" y="49168"/>
                    </a:cubicBezTo>
                    <a:lnTo>
                      <a:pt x="335110" y="51606"/>
                    </a:lnTo>
                    <a:cubicBezTo>
                      <a:pt x="335999" y="52940"/>
                      <a:pt x="336818" y="54280"/>
                      <a:pt x="337567" y="55626"/>
                    </a:cubicBezTo>
                    <a:lnTo>
                      <a:pt x="338901" y="58274"/>
                    </a:lnTo>
                    <a:cubicBezTo>
                      <a:pt x="340971" y="62719"/>
                      <a:pt x="342241" y="67354"/>
                      <a:pt x="342711" y="72180"/>
                    </a:cubicBezTo>
                    <a:lnTo>
                      <a:pt x="342901" y="76200"/>
                    </a:lnTo>
                    <a:cubicBezTo>
                      <a:pt x="342901" y="123387"/>
                      <a:pt x="265520" y="152400"/>
                      <a:pt x="171451" y="152400"/>
                    </a:cubicBezTo>
                    <a:cubicBezTo>
                      <a:pt x="80050" y="152400"/>
                      <a:pt x="4383" y="125006"/>
                      <a:pt x="402" y="80105"/>
                    </a:cubicBezTo>
                    <a:cubicBezTo>
                      <a:pt x="134" y="78821"/>
                      <a:pt x="0" y="77512"/>
                      <a:pt x="1" y="76200"/>
                    </a:cubicBezTo>
                    <a:lnTo>
                      <a:pt x="97" y="74219"/>
                    </a:lnTo>
                    <a:lnTo>
                      <a:pt x="402" y="72314"/>
                    </a:lnTo>
                    <a:cubicBezTo>
                      <a:pt x="4307" y="28384"/>
                      <a:pt x="76792" y="1200"/>
                      <a:pt x="165508" y="38"/>
                    </a:cubicBezTo>
                    <a:close/>
                  </a:path>
                </a:pathLst>
              </a:custGeom>
              <a:solidFill>
                <a:srgbClr val="FA8C16"/>
              </a:solidFill>
              <a:ln>
                <a:noFill/>
              </a:ln>
            </p:spPr>
          </p:sp>
        </p:grpSp>
        <p:sp>
          <p:nvSpPr>
            <p:cNvPr id="52" name="TextBox 52"/>
            <p:cNvSpPr txBox="1"/>
            <p:nvPr/>
          </p:nvSpPr>
          <p:spPr>
            <a:xfrm>
              <a:off x="9378982" y="2774632"/>
              <a:ext cx="1054036" cy="335280"/>
            </a:xfrm>
            <a:prstGeom prst="rect">
              <a:avLst/>
            </a:prstGeom>
            <a:noFill/>
            <a:ln>
              <a:noFill/>
            </a:ln>
          </p:spPr>
          <p:txBody>
            <a:bodyPr wrap="none" lIns="0" tIns="0" rIns="0" bIns="0" anchor="t" anchorCtr="0">
              <a:spAutoFit/>
            </a:bodyPr>
            <a:lstStyle/>
            <a:p>
              <a:pPr algn="ctr"/>
              <a:r>
                <a:rPr lang="zh-CN" sz="1650" b="1" dirty="0">
                  <a:solidFill>
                    <a:srgbClr val="1A1A2E"/>
                  </a:solidFill>
                  <a:latin typeface="Arial"/>
                  <a:ea typeface="Microsoft YaHei"/>
                  <a:cs typeface="Arial"/>
                </a:rPr>
                <a:t>信息管理</a:t>
              </a:r>
            </a:p>
          </p:txBody>
        </p:sp>
        <p:sp>
          <p:nvSpPr>
            <p:cNvPr id="53" name="TextBox 53"/>
            <p:cNvSpPr txBox="1"/>
            <p:nvPr/>
          </p:nvSpPr>
          <p:spPr>
            <a:xfrm>
              <a:off x="8963382" y="3164681"/>
              <a:ext cx="1885236" cy="228600"/>
            </a:xfrm>
            <a:prstGeom prst="rect">
              <a:avLst/>
            </a:prstGeom>
            <a:noFill/>
            <a:ln>
              <a:noFill/>
            </a:ln>
          </p:spPr>
          <p:txBody>
            <a:bodyPr wrap="none" lIns="0" tIns="0" rIns="0" bIns="0" anchor="t" anchorCtr="0">
              <a:spAutoFit/>
            </a:bodyPr>
            <a:lstStyle/>
            <a:p>
              <a:pPr algn="ctr"/>
              <a:r>
                <a:rPr lang="zh-CN" sz="1125" dirty="0">
                  <a:solidFill>
                    <a:srgbClr val="666666"/>
                  </a:solidFill>
                  <a:latin typeface="Arial"/>
                  <a:ea typeface="Microsoft YaHei"/>
                  <a:cs typeface="Arial"/>
                </a:rPr>
                <a:t>景点/攻略/路线完整CRUD</a:t>
              </a:r>
            </a:p>
          </p:txBody>
        </p:sp>
        <p:sp>
          <p:nvSpPr>
            <p:cNvPr id="54" name="Freeform 54"/>
            <p:cNvSpPr/>
            <p:nvPr/>
          </p:nvSpPr>
          <p:spPr>
            <a:xfrm>
              <a:off x="8496300" y="3746956"/>
              <a:ext cx="190500" cy="158719"/>
            </a:xfrm>
            <a:custGeom>
              <a:avLst/>
              <a:gdLst/>
              <a:ahLst/>
              <a:cxnLst/>
              <a:rect l="l" t="t" r="r" b="b"/>
              <a:pathLst>
                <a:path w="190500" h="158719">
                  <a:moveTo>
                    <a:pt x="185738" y="16695"/>
                  </a:moveTo>
                  <a:cubicBezTo>
                    <a:pt x="188339" y="18197"/>
                    <a:pt x="190079" y="20837"/>
                    <a:pt x="190433" y="23820"/>
                  </a:cubicBezTo>
                  <a:lnTo>
                    <a:pt x="190500" y="24944"/>
                  </a:lnTo>
                  <a:lnTo>
                    <a:pt x="190500" y="148769"/>
                  </a:lnTo>
                  <a:cubicBezTo>
                    <a:pt x="190500" y="152172"/>
                    <a:pt x="188684" y="155316"/>
                    <a:pt x="185737" y="157017"/>
                  </a:cubicBezTo>
                  <a:cubicBezTo>
                    <a:pt x="182790" y="158719"/>
                    <a:pt x="179160" y="158719"/>
                    <a:pt x="176213" y="157017"/>
                  </a:cubicBezTo>
                  <a:cubicBezTo>
                    <a:pt x="154298" y="144363"/>
                    <a:pt x="127531" y="143414"/>
                    <a:pt x="104775" y="154484"/>
                  </a:cubicBezTo>
                  <a:lnTo>
                    <a:pt x="104775" y="9951"/>
                  </a:lnTo>
                  <a:cubicBezTo>
                    <a:pt x="131416" y="0"/>
                    <a:pt x="161110" y="2473"/>
                    <a:pt x="185738" y="16695"/>
                  </a:cubicBezTo>
                  <a:moveTo>
                    <a:pt x="85725" y="9961"/>
                  </a:moveTo>
                  <a:lnTo>
                    <a:pt x="85735" y="154493"/>
                  </a:lnTo>
                  <a:cubicBezTo>
                    <a:pt x="63901" y="143864"/>
                    <a:pt x="38309" y="144278"/>
                    <a:pt x="16831" y="155608"/>
                  </a:cubicBezTo>
                  <a:lnTo>
                    <a:pt x="13716" y="157322"/>
                  </a:lnTo>
                  <a:lnTo>
                    <a:pt x="12735" y="157741"/>
                  </a:lnTo>
                  <a:lnTo>
                    <a:pt x="12268" y="157894"/>
                  </a:lnTo>
                  <a:lnTo>
                    <a:pt x="11220" y="158141"/>
                  </a:lnTo>
                  <a:lnTo>
                    <a:pt x="10639" y="158237"/>
                  </a:lnTo>
                  <a:lnTo>
                    <a:pt x="9525" y="158294"/>
                  </a:lnTo>
                  <a:lnTo>
                    <a:pt x="9125" y="158294"/>
                  </a:lnTo>
                  <a:lnTo>
                    <a:pt x="8077" y="158179"/>
                  </a:lnTo>
                  <a:lnTo>
                    <a:pt x="7344" y="158046"/>
                  </a:lnTo>
                  <a:lnTo>
                    <a:pt x="6315" y="157741"/>
                  </a:lnTo>
                  <a:lnTo>
                    <a:pt x="5115" y="157208"/>
                  </a:lnTo>
                  <a:lnTo>
                    <a:pt x="4210" y="156674"/>
                  </a:lnTo>
                  <a:lnTo>
                    <a:pt x="3362" y="156036"/>
                  </a:lnTo>
                  <a:lnTo>
                    <a:pt x="2791" y="155503"/>
                  </a:lnTo>
                  <a:lnTo>
                    <a:pt x="2096" y="154722"/>
                  </a:lnTo>
                  <a:lnTo>
                    <a:pt x="1486" y="153874"/>
                  </a:lnTo>
                  <a:lnTo>
                    <a:pt x="1276" y="153531"/>
                  </a:lnTo>
                  <a:lnTo>
                    <a:pt x="972" y="152960"/>
                  </a:lnTo>
                  <a:lnTo>
                    <a:pt x="552" y="151979"/>
                  </a:lnTo>
                  <a:lnTo>
                    <a:pt x="400" y="151512"/>
                  </a:lnTo>
                  <a:lnTo>
                    <a:pt x="152" y="150464"/>
                  </a:lnTo>
                  <a:lnTo>
                    <a:pt x="57" y="149883"/>
                  </a:lnTo>
                  <a:lnTo>
                    <a:pt x="19" y="149416"/>
                  </a:lnTo>
                  <a:lnTo>
                    <a:pt x="0" y="24944"/>
                  </a:lnTo>
                  <a:cubicBezTo>
                    <a:pt x="0" y="21541"/>
                    <a:pt x="1816" y="18396"/>
                    <a:pt x="4762" y="16695"/>
                  </a:cubicBezTo>
                  <a:cubicBezTo>
                    <a:pt x="29391" y="2476"/>
                    <a:pt x="59085" y="7"/>
                    <a:pt x="85725" y="9961"/>
                  </a:cubicBezTo>
                </a:path>
              </a:pathLst>
            </a:custGeom>
            <a:solidFill>
              <a:srgbClr val="FA8C16"/>
            </a:solidFill>
            <a:ln>
              <a:noFill/>
            </a:ln>
          </p:spPr>
        </p:sp>
        <p:sp>
          <p:nvSpPr>
            <p:cNvPr id="55" name="TextBox 55"/>
            <p:cNvSpPr txBox="1"/>
            <p:nvPr/>
          </p:nvSpPr>
          <p:spPr>
            <a:xfrm>
              <a:off x="8786812" y="3764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景点信息管理</a:t>
              </a:r>
            </a:p>
          </p:txBody>
        </p:sp>
        <p:sp>
          <p:nvSpPr>
            <p:cNvPr id="56" name="Freeform 56"/>
            <p:cNvSpPr/>
            <p:nvPr/>
          </p:nvSpPr>
          <p:spPr>
            <a:xfrm>
              <a:off x="8504793" y="4143375"/>
              <a:ext cx="173822" cy="133680"/>
            </a:xfrm>
            <a:custGeom>
              <a:avLst/>
              <a:gdLst/>
              <a:ahLst/>
              <a:cxnLst/>
              <a:rect l="l" t="t" r="r" b="b"/>
              <a:pathLst>
                <a:path w="173822" h="133680">
                  <a:moveTo>
                    <a:pt x="171473" y="81467"/>
                  </a:moveTo>
                  <a:cubicBezTo>
                    <a:pt x="173822" y="86170"/>
                    <a:pt x="171916" y="91887"/>
                    <a:pt x="167215" y="94240"/>
                  </a:cubicBezTo>
                  <a:lnTo>
                    <a:pt x="91015" y="132340"/>
                  </a:lnTo>
                  <a:cubicBezTo>
                    <a:pt x="88335" y="133680"/>
                    <a:pt x="85180" y="133680"/>
                    <a:pt x="82500" y="132340"/>
                  </a:cubicBezTo>
                  <a:lnTo>
                    <a:pt x="6300" y="94240"/>
                  </a:lnTo>
                  <a:cubicBezTo>
                    <a:pt x="1770" y="91798"/>
                    <a:pt x="0" y="86200"/>
                    <a:pt x="2301" y="81597"/>
                  </a:cubicBezTo>
                  <a:cubicBezTo>
                    <a:pt x="4603" y="76994"/>
                    <a:pt x="10144" y="75052"/>
                    <a:pt x="14815" y="77210"/>
                  </a:cubicBezTo>
                  <a:lnTo>
                    <a:pt x="86757" y="113157"/>
                  </a:lnTo>
                  <a:lnTo>
                    <a:pt x="158709" y="77200"/>
                  </a:lnTo>
                  <a:cubicBezTo>
                    <a:pt x="163412" y="74851"/>
                    <a:pt x="169129" y="76757"/>
                    <a:pt x="171482" y="81458"/>
                  </a:cubicBezTo>
                  <a:moveTo>
                    <a:pt x="86834" y="0"/>
                  </a:moveTo>
                  <a:cubicBezTo>
                    <a:pt x="87189" y="0"/>
                    <a:pt x="87542" y="22"/>
                    <a:pt x="87891" y="67"/>
                  </a:cubicBezTo>
                  <a:lnTo>
                    <a:pt x="88948" y="257"/>
                  </a:lnTo>
                  <a:lnTo>
                    <a:pt x="89767" y="486"/>
                  </a:lnTo>
                  <a:lnTo>
                    <a:pt x="89882" y="543"/>
                  </a:lnTo>
                  <a:lnTo>
                    <a:pt x="89996" y="562"/>
                  </a:lnTo>
                  <a:lnTo>
                    <a:pt x="90272" y="695"/>
                  </a:lnTo>
                  <a:lnTo>
                    <a:pt x="90748" y="876"/>
                  </a:lnTo>
                  <a:lnTo>
                    <a:pt x="90901" y="962"/>
                  </a:lnTo>
                  <a:lnTo>
                    <a:pt x="91015" y="1010"/>
                  </a:lnTo>
                  <a:lnTo>
                    <a:pt x="167215" y="39110"/>
                  </a:lnTo>
                  <a:cubicBezTo>
                    <a:pt x="170438" y="40725"/>
                    <a:pt x="172472" y="44020"/>
                    <a:pt x="172472" y="47625"/>
                  </a:cubicBezTo>
                  <a:cubicBezTo>
                    <a:pt x="172472" y="51230"/>
                    <a:pt x="170438" y="54525"/>
                    <a:pt x="167215" y="56140"/>
                  </a:cubicBezTo>
                  <a:lnTo>
                    <a:pt x="91015" y="94240"/>
                  </a:lnTo>
                  <a:cubicBezTo>
                    <a:pt x="88335" y="95580"/>
                    <a:pt x="85180" y="95580"/>
                    <a:pt x="82500" y="94240"/>
                  </a:cubicBezTo>
                  <a:lnTo>
                    <a:pt x="6300" y="56140"/>
                  </a:lnTo>
                  <a:cubicBezTo>
                    <a:pt x="3077" y="54525"/>
                    <a:pt x="1043" y="51230"/>
                    <a:pt x="1043" y="47625"/>
                  </a:cubicBezTo>
                  <a:cubicBezTo>
                    <a:pt x="1043" y="44020"/>
                    <a:pt x="3077" y="40725"/>
                    <a:pt x="6300" y="39110"/>
                  </a:cubicBezTo>
                  <a:lnTo>
                    <a:pt x="82500" y="1010"/>
                  </a:lnTo>
                  <a:lnTo>
                    <a:pt x="82605" y="962"/>
                  </a:lnTo>
                  <a:lnTo>
                    <a:pt x="82776" y="867"/>
                  </a:lnTo>
                  <a:lnTo>
                    <a:pt x="83519" y="562"/>
                  </a:lnTo>
                  <a:lnTo>
                    <a:pt x="83624" y="543"/>
                  </a:lnTo>
                  <a:lnTo>
                    <a:pt x="83748" y="486"/>
                  </a:lnTo>
                  <a:lnTo>
                    <a:pt x="84567" y="257"/>
                  </a:lnTo>
                  <a:lnTo>
                    <a:pt x="85614" y="67"/>
                  </a:lnTo>
                  <a:lnTo>
                    <a:pt x="86148" y="19"/>
                  </a:lnTo>
                  <a:close/>
                </a:path>
              </a:pathLst>
            </a:custGeom>
            <a:solidFill>
              <a:srgbClr val="FA8C16"/>
            </a:solidFill>
            <a:ln>
              <a:noFill/>
            </a:ln>
          </p:spPr>
        </p:sp>
        <p:sp>
          <p:nvSpPr>
            <p:cNvPr id="57" name="TextBox 57"/>
            <p:cNvSpPr txBox="1"/>
            <p:nvPr/>
          </p:nvSpPr>
          <p:spPr>
            <a:xfrm>
              <a:off x="8786812" y="4145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攻略内容编辑</a:t>
              </a:r>
            </a:p>
          </p:txBody>
        </p:sp>
        <p:sp>
          <p:nvSpPr>
            <p:cNvPr id="58" name="Freeform 58"/>
            <p:cNvSpPr/>
            <p:nvPr/>
          </p:nvSpPr>
          <p:spPr>
            <a:xfrm>
              <a:off x="8496300" y="4504397"/>
              <a:ext cx="190500" cy="183812"/>
            </a:xfrm>
            <a:custGeom>
              <a:avLst/>
              <a:gdLst/>
              <a:ahLst/>
              <a:cxnLst/>
              <a:rect l="l" t="t" r="r" b="b"/>
              <a:pathLst>
                <a:path w="190500" h="183812">
                  <a:moveTo>
                    <a:pt x="159134" y="3718"/>
                  </a:moveTo>
                  <a:lnTo>
                    <a:pt x="187709" y="32293"/>
                  </a:lnTo>
                  <a:cubicBezTo>
                    <a:pt x="188052" y="32630"/>
                    <a:pt x="188360" y="32986"/>
                    <a:pt x="188633" y="33360"/>
                  </a:cubicBezTo>
                  <a:lnTo>
                    <a:pt x="189309" y="34408"/>
                  </a:lnTo>
                  <a:lnTo>
                    <a:pt x="189824" y="35494"/>
                  </a:lnTo>
                  <a:lnTo>
                    <a:pt x="190157" y="36494"/>
                  </a:lnTo>
                  <a:lnTo>
                    <a:pt x="190443" y="37904"/>
                  </a:lnTo>
                  <a:lnTo>
                    <a:pt x="190500" y="39028"/>
                  </a:lnTo>
                  <a:lnTo>
                    <a:pt x="190471" y="39742"/>
                  </a:lnTo>
                  <a:lnTo>
                    <a:pt x="190310" y="40942"/>
                  </a:lnTo>
                  <a:lnTo>
                    <a:pt x="190024" y="41999"/>
                  </a:lnTo>
                  <a:lnTo>
                    <a:pt x="189605" y="43057"/>
                  </a:lnTo>
                  <a:lnTo>
                    <a:pt x="189109" y="43990"/>
                  </a:lnTo>
                  <a:lnTo>
                    <a:pt x="188471" y="44904"/>
                  </a:lnTo>
                  <a:lnTo>
                    <a:pt x="187709" y="45762"/>
                  </a:lnTo>
                  <a:lnTo>
                    <a:pt x="159134" y="74337"/>
                  </a:lnTo>
                  <a:cubicBezTo>
                    <a:pt x="155397" y="77946"/>
                    <a:pt x="149456" y="77895"/>
                    <a:pt x="145782" y="74221"/>
                  </a:cubicBezTo>
                  <a:cubicBezTo>
                    <a:pt x="142108" y="70547"/>
                    <a:pt x="142056" y="64606"/>
                    <a:pt x="145666" y="60868"/>
                  </a:cubicBezTo>
                  <a:lnTo>
                    <a:pt x="157972" y="48553"/>
                  </a:lnTo>
                  <a:lnTo>
                    <a:pt x="114300" y="48553"/>
                  </a:lnTo>
                  <a:cubicBezTo>
                    <a:pt x="109039" y="48553"/>
                    <a:pt x="104775" y="52817"/>
                    <a:pt x="104775" y="58078"/>
                  </a:cubicBezTo>
                  <a:lnTo>
                    <a:pt x="104775" y="134278"/>
                  </a:lnTo>
                  <a:cubicBezTo>
                    <a:pt x="104775" y="150059"/>
                    <a:pt x="91982" y="162853"/>
                    <a:pt x="76200" y="162853"/>
                  </a:cubicBezTo>
                  <a:lnTo>
                    <a:pt x="55521" y="162853"/>
                  </a:lnTo>
                  <a:cubicBezTo>
                    <a:pt x="50868" y="175958"/>
                    <a:pt x="37458" y="183812"/>
                    <a:pt x="23751" y="181461"/>
                  </a:cubicBezTo>
                  <a:cubicBezTo>
                    <a:pt x="10045" y="179109"/>
                    <a:pt x="19" y="167234"/>
                    <a:pt x="0" y="153328"/>
                  </a:cubicBezTo>
                  <a:lnTo>
                    <a:pt x="48" y="151651"/>
                  </a:lnTo>
                  <a:cubicBezTo>
                    <a:pt x="827" y="138057"/>
                    <a:pt x="11091" y="126901"/>
                    <a:pt x="24573" y="124994"/>
                  </a:cubicBezTo>
                  <a:cubicBezTo>
                    <a:pt x="38056" y="123087"/>
                    <a:pt x="51011" y="130958"/>
                    <a:pt x="55531" y="143803"/>
                  </a:cubicBezTo>
                  <a:lnTo>
                    <a:pt x="76200" y="143803"/>
                  </a:lnTo>
                  <a:cubicBezTo>
                    <a:pt x="81461" y="143803"/>
                    <a:pt x="85725" y="139538"/>
                    <a:pt x="85725" y="134278"/>
                  </a:cubicBezTo>
                  <a:lnTo>
                    <a:pt x="85725" y="58078"/>
                  </a:lnTo>
                  <a:cubicBezTo>
                    <a:pt x="85725" y="42296"/>
                    <a:pt x="98518" y="29503"/>
                    <a:pt x="114300" y="29503"/>
                  </a:cubicBezTo>
                  <a:lnTo>
                    <a:pt x="157972" y="29503"/>
                  </a:lnTo>
                  <a:lnTo>
                    <a:pt x="145666" y="17187"/>
                  </a:lnTo>
                  <a:cubicBezTo>
                    <a:pt x="142273" y="13793"/>
                    <a:pt x="141934" y="8406"/>
                    <a:pt x="144875" y="4614"/>
                  </a:cubicBezTo>
                  <a:lnTo>
                    <a:pt x="145666" y="3718"/>
                  </a:lnTo>
                  <a:cubicBezTo>
                    <a:pt x="149385" y="0"/>
                    <a:pt x="155415" y="0"/>
                    <a:pt x="159134" y="3718"/>
                  </a:cubicBezTo>
                </a:path>
              </a:pathLst>
            </a:custGeom>
            <a:solidFill>
              <a:srgbClr val="FA8C16"/>
            </a:solidFill>
            <a:ln>
              <a:noFill/>
            </a:ln>
          </p:spPr>
        </p:sp>
        <p:sp>
          <p:nvSpPr>
            <p:cNvPr id="59" name="TextBox 59"/>
            <p:cNvSpPr txBox="1"/>
            <p:nvPr/>
          </p:nvSpPr>
          <p:spPr>
            <a:xfrm>
              <a:off x="8786812" y="4526756"/>
              <a:ext cx="101441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路线推荐管理</a:t>
              </a:r>
            </a:p>
          </p:txBody>
        </p:sp>
        <p:sp>
          <p:nvSpPr>
            <p:cNvPr id="60" name="Freeform 60"/>
            <p:cNvSpPr/>
            <p:nvPr/>
          </p:nvSpPr>
          <p:spPr>
            <a:xfrm>
              <a:off x="8486360" y="4895850"/>
              <a:ext cx="209955" cy="152400"/>
            </a:xfrm>
            <a:custGeom>
              <a:avLst/>
              <a:gdLst/>
              <a:ahLst/>
              <a:cxnLst/>
              <a:rect l="l" t="t" r="r" b="b"/>
              <a:pathLst>
                <a:path w="209955" h="152400">
                  <a:moveTo>
                    <a:pt x="105190" y="0"/>
                  </a:moveTo>
                  <a:cubicBezTo>
                    <a:pt x="146052" y="0"/>
                    <a:pt x="180085" y="23136"/>
                    <a:pt x="206774" y="68142"/>
                  </a:cubicBezTo>
                  <a:lnTo>
                    <a:pt x="208870" y="71752"/>
                  </a:lnTo>
                  <a:lnTo>
                    <a:pt x="209298" y="72704"/>
                  </a:lnTo>
                  <a:lnTo>
                    <a:pt x="209584" y="73495"/>
                  </a:lnTo>
                  <a:lnTo>
                    <a:pt x="209717" y="74019"/>
                  </a:lnTo>
                  <a:lnTo>
                    <a:pt x="209851" y="74800"/>
                  </a:lnTo>
                  <a:lnTo>
                    <a:pt x="209955" y="75752"/>
                  </a:lnTo>
                  <a:lnTo>
                    <a:pt x="209955" y="76800"/>
                  </a:lnTo>
                  <a:lnTo>
                    <a:pt x="209822" y="77857"/>
                  </a:lnTo>
                  <a:cubicBezTo>
                    <a:pt x="209760" y="78211"/>
                    <a:pt x="209677" y="78561"/>
                    <a:pt x="209574" y="78905"/>
                  </a:cubicBezTo>
                  <a:lnTo>
                    <a:pt x="209203" y="79934"/>
                  </a:lnTo>
                  <a:lnTo>
                    <a:pt x="208860" y="80648"/>
                  </a:lnTo>
                  <a:lnTo>
                    <a:pt x="208708" y="80934"/>
                  </a:lnTo>
                  <a:cubicBezTo>
                    <a:pt x="182381" y="126997"/>
                    <a:pt x="148700" y="151228"/>
                    <a:pt x="108171" y="152362"/>
                  </a:cubicBezTo>
                  <a:lnTo>
                    <a:pt x="105190" y="152400"/>
                  </a:lnTo>
                  <a:cubicBezTo>
                    <a:pt x="63318" y="152400"/>
                    <a:pt x="28638" y="128121"/>
                    <a:pt x="1672" y="80924"/>
                  </a:cubicBezTo>
                  <a:cubicBezTo>
                    <a:pt x="0" y="77997"/>
                    <a:pt x="0" y="74403"/>
                    <a:pt x="1672" y="71476"/>
                  </a:cubicBezTo>
                  <a:cubicBezTo>
                    <a:pt x="28638" y="24279"/>
                    <a:pt x="63318" y="0"/>
                    <a:pt x="105190" y="0"/>
                  </a:cubicBezTo>
                  <a:close/>
                  <a:moveTo>
                    <a:pt x="105190" y="47625"/>
                  </a:moveTo>
                  <a:cubicBezTo>
                    <a:pt x="89408" y="47625"/>
                    <a:pt x="76615" y="60418"/>
                    <a:pt x="76615" y="76200"/>
                  </a:cubicBezTo>
                  <a:cubicBezTo>
                    <a:pt x="76615" y="91982"/>
                    <a:pt x="89408" y="104775"/>
                    <a:pt x="105190" y="104775"/>
                  </a:cubicBezTo>
                  <a:cubicBezTo>
                    <a:pt x="120972" y="104775"/>
                    <a:pt x="133765" y="91982"/>
                    <a:pt x="133765" y="76200"/>
                  </a:cubicBezTo>
                  <a:cubicBezTo>
                    <a:pt x="133765" y="60418"/>
                    <a:pt x="120972" y="47625"/>
                    <a:pt x="105190" y="47625"/>
                  </a:cubicBezTo>
                </a:path>
              </a:pathLst>
            </a:custGeom>
            <a:solidFill>
              <a:srgbClr val="FA8C16"/>
            </a:solidFill>
            <a:ln>
              <a:noFill/>
            </a:ln>
          </p:spPr>
        </p:sp>
        <p:sp>
          <p:nvSpPr>
            <p:cNvPr id="61" name="TextBox 61"/>
            <p:cNvSpPr txBox="1"/>
            <p:nvPr/>
          </p:nvSpPr>
          <p:spPr>
            <a:xfrm>
              <a:off x="8786812" y="4907756"/>
              <a:ext cx="850106"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数据可视化</a:t>
              </a:r>
            </a:p>
          </p:txBody>
        </p:sp>
        <p:sp>
          <p:nvSpPr>
            <p:cNvPr id="62" name="Freeform 62"/>
            <p:cNvSpPr/>
            <p:nvPr/>
          </p:nvSpPr>
          <p:spPr>
            <a:xfrm>
              <a:off x="8486279" y="5248294"/>
              <a:ext cx="210437" cy="200562"/>
            </a:xfrm>
            <a:custGeom>
              <a:avLst/>
              <a:gdLst/>
              <a:ahLst/>
              <a:cxnLst/>
              <a:rect l="l" t="t" r="r" b="b"/>
              <a:pathLst>
                <a:path w="210437" h="200562">
                  <a:moveTo>
                    <a:pt x="69485" y="60369"/>
                  </a:moveTo>
                  <a:lnTo>
                    <a:pt x="8716" y="69180"/>
                  </a:lnTo>
                  <a:lnTo>
                    <a:pt x="7639" y="69399"/>
                  </a:lnTo>
                  <a:cubicBezTo>
                    <a:pt x="4322" y="70279"/>
                    <a:pt x="1735" y="72877"/>
                    <a:pt x="868" y="76197"/>
                  </a:cubicBezTo>
                  <a:cubicBezTo>
                    <a:pt x="0" y="79518"/>
                    <a:pt x="986" y="83048"/>
                    <a:pt x="3448" y="85439"/>
                  </a:cubicBezTo>
                  <a:lnTo>
                    <a:pt x="47473" y="128292"/>
                  </a:lnTo>
                  <a:lnTo>
                    <a:pt x="37091" y="188823"/>
                  </a:lnTo>
                  <a:lnTo>
                    <a:pt x="36967" y="189871"/>
                  </a:lnTo>
                  <a:cubicBezTo>
                    <a:pt x="36764" y="193302"/>
                    <a:pt x="38425" y="196576"/>
                    <a:pt x="41313" y="198439"/>
                  </a:cubicBezTo>
                  <a:cubicBezTo>
                    <a:pt x="44202" y="200301"/>
                    <a:pt x="47870" y="200463"/>
                    <a:pt x="50911" y="198863"/>
                  </a:cubicBezTo>
                  <a:lnTo>
                    <a:pt x="105261" y="170288"/>
                  </a:lnTo>
                  <a:lnTo>
                    <a:pt x="159487" y="198863"/>
                  </a:lnTo>
                  <a:lnTo>
                    <a:pt x="160439" y="199301"/>
                  </a:lnTo>
                  <a:cubicBezTo>
                    <a:pt x="163640" y="200562"/>
                    <a:pt x="167273" y="199998"/>
                    <a:pt x="169941" y="197827"/>
                  </a:cubicBezTo>
                  <a:cubicBezTo>
                    <a:pt x="172610" y="195656"/>
                    <a:pt x="173901" y="192214"/>
                    <a:pt x="173317" y="188823"/>
                  </a:cubicBezTo>
                  <a:lnTo>
                    <a:pt x="162925" y="128292"/>
                  </a:lnTo>
                  <a:lnTo>
                    <a:pt x="206969" y="85429"/>
                  </a:lnTo>
                  <a:lnTo>
                    <a:pt x="207712" y="84620"/>
                  </a:lnTo>
                  <a:cubicBezTo>
                    <a:pt x="209872" y="81959"/>
                    <a:pt x="210437" y="78342"/>
                    <a:pt x="209189" y="75149"/>
                  </a:cubicBezTo>
                  <a:cubicBezTo>
                    <a:pt x="207942" y="71957"/>
                    <a:pt x="205075" y="69681"/>
                    <a:pt x="201683" y="69189"/>
                  </a:cubicBezTo>
                  <a:lnTo>
                    <a:pt x="140913" y="60369"/>
                  </a:lnTo>
                  <a:lnTo>
                    <a:pt x="113748" y="5315"/>
                  </a:lnTo>
                  <a:cubicBezTo>
                    <a:pt x="112144" y="2061"/>
                    <a:pt x="108832" y="0"/>
                    <a:pt x="105204" y="0"/>
                  </a:cubicBezTo>
                  <a:cubicBezTo>
                    <a:pt x="101576" y="0"/>
                    <a:pt x="98263" y="2061"/>
                    <a:pt x="96660" y="5315"/>
                  </a:cubicBezTo>
                  <a:lnTo>
                    <a:pt x="69485" y="60369"/>
                  </a:lnTo>
                  <a:close/>
                </a:path>
              </a:pathLst>
            </a:custGeom>
            <a:solidFill>
              <a:srgbClr val="FA8C16"/>
            </a:solidFill>
            <a:ln>
              <a:noFill/>
            </a:ln>
          </p:spPr>
        </p:sp>
        <p:sp>
          <p:nvSpPr>
            <p:cNvPr id="63" name="TextBox 63"/>
            <p:cNvSpPr txBox="1"/>
            <p:nvPr/>
          </p:nvSpPr>
          <p:spPr>
            <a:xfrm>
              <a:off x="8786812" y="5288756"/>
              <a:ext cx="685800"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收藏功能</a:t>
              </a:r>
            </a:p>
          </p:txBody>
        </p:sp>
      </p:grpSp>
      <p:sp>
        <p:nvSpPr>
          <p:cNvPr id="65" name="TextBox 65"/>
          <p:cNvSpPr txBox="1"/>
          <p:nvPr/>
        </p:nvSpPr>
        <p:spPr>
          <a:xfrm>
            <a:off x="11608118" y="6562249"/>
            <a:ext cx="181404"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04</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par>
                          <p:cTn id="8" fill="hold">
                            <p:stCondLst>
                              <p:cond delay="900"/>
                            </p:stCondLst>
                            <p:childTnLst>
                              <p:par>
                                <p:cTn id="9" presetID="42" presetClass="entr" presetSubtype="8"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slide(fromLeft)">
                                      <p:cBhvr>
                                        <p:cTn id="11" dur="400"/>
                                        <p:tgtEl>
                                          <p:spTgt spid="45"/>
                                        </p:tgtEl>
                                      </p:cBhvr>
                                    </p:animEffect>
                                  </p:childTnLst>
                                </p:cTn>
                              </p:par>
                            </p:childTnLst>
                          </p:cTn>
                        </p:par>
                        <p:par>
                          <p:cTn id="12" fill="hold">
                            <p:stCondLst>
                              <p:cond delay="1800"/>
                            </p:stCondLst>
                            <p:childTnLst>
                              <p:par>
                                <p:cTn id="13" presetID="14" presetClass="entr" presetSubtype="10" fill="hold" nodeType="afterEffect">
                                  <p:stCondLst>
                                    <p:cond delay="0"/>
                                  </p:stCondLst>
                                  <p:childTnLst>
                                    <p:set>
                                      <p:cBhvr>
                                        <p:cTn id="14" dur="1" fill="hold">
                                          <p:stCondLst>
                                            <p:cond delay="0"/>
                                          </p:stCondLst>
                                        </p:cTn>
                                        <p:tgtEl>
                                          <p:spTgt spid="64"/>
                                        </p:tgtEl>
                                        <p:attrNameLst>
                                          <p:attrName>style.visibility</p:attrName>
                                        </p:attrNameLst>
                                      </p:cBhvr>
                                      <p:to>
                                        <p:strVal val="visible"/>
                                      </p:to>
                                    </p:set>
                                    <p:animEffect transition="in" filter="randombar(horizontal)">
                                      <p:cBhvr>
                                        <p:cTn id="15"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5" grpId="0"/>
      <p:bldP spid="6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F8FAF9">
                  <a:alpha val="92000"/>
                </a:srgbClr>
              </a:gs>
              <a:gs pos="100000">
                <a:srgbClr val="FFFFFF">
                  <a:alpha val="95000"/>
                </a:srgbClr>
              </a:gs>
            </a:gsLst>
            <a:lin ang="5400000" scaled="1"/>
          </a:gradFill>
          <a:ln>
            <a:noFill/>
          </a:ln>
        </p:spPr>
      </p:sp>
      <p:sp>
        <p:nvSpPr>
          <p:cNvPr id="4" name="Rectangle 4"/>
          <p:cNvSpPr/>
          <p:nvPr/>
        </p:nvSpPr>
        <p:spPr>
          <a:xfrm>
            <a:off x="0" y="0"/>
            <a:ext cx="12192000" cy="38100"/>
          </a:xfrm>
          <a:prstGeom prst="rect">
            <a:avLst/>
          </a:prstGeom>
          <a:solidFill>
            <a:srgbClr val="00B96B"/>
          </a:solidFill>
          <a:ln>
            <a:noFill/>
          </a:ln>
        </p:spPr>
      </p:sp>
      <p:sp>
        <p:nvSpPr>
          <p:cNvPr id="5" name="TextBox 5"/>
          <p:cNvSpPr txBox="1"/>
          <p:nvPr/>
        </p:nvSpPr>
        <p:spPr>
          <a:xfrm>
            <a:off x="558165" y="553402"/>
            <a:ext cx="670750" cy="213360"/>
          </a:xfrm>
          <a:prstGeom prst="rect">
            <a:avLst/>
          </a:prstGeom>
          <a:noFill/>
          <a:ln>
            <a:noFill/>
          </a:ln>
        </p:spPr>
        <p:txBody>
          <a:bodyPr wrap="none" lIns="0" tIns="0" rIns="0" bIns="0" anchor="t" anchorCtr="0">
            <a:spAutoFit/>
          </a:bodyPr>
          <a:lstStyle/>
          <a:p>
            <a:pPr algn="l"/>
            <a:r>
              <a:rPr lang="zh-CN" sz="1050" b="1" dirty="0">
                <a:solidFill>
                  <a:srgbClr val="00B96B"/>
                </a:solidFill>
                <a:latin typeface="Arial"/>
                <a:ea typeface="Microsoft YaHei"/>
                <a:cs typeface="Arial"/>
              </a:rPr>
              <a:t>技术架构</a:t>
            </a:r>
          </a:p>
        </p:txBody>
      </p:sp>
      <p:sp>
        <p:nvSpPr>
          <p:cNvPr id="6" name="TextBox 6"/>
          <p:cNvSpPr txBox="1"/>
          <p:nvPr/>
        </p:nvSpPr>
        <p:spPr>
          <a:xfrm>
            <a:off x="536258" y="795814"/>
            <a:ext cx="2623804" cy="563880"/>
          </a:xfrm>
          <a:prstGeom prst="rect">
            <a:avLst/>
          </a:prstGeom>
          <a:noFill/>
          <a:ln>
            <a:noFill/>
          </a:ln>
        </p:spPr>
        <p:txBody>
          <a:bodyPr wrap="none" lIns="0" tIns="0" rIns="0" bIns="0" anchor="t" anchorCtr="0">
            <a:spAutoFit/>
          </a:bodyPr>
          <a:lstStyle/>
          <a:p>
            <a:pPr algn="l"/>
            <a:r>
              <a:rPr lang="zh-CN" sz="2775" b="1" dirty="0">
                <a:solidFill>
                  <a:srgbClr val="1A1A2E"/>
                </a:solidFill>
                <a:latin typeface="Georgia"/>
                <a:ea typeface="Microsoft YaHei"/>
                <a:cs typeface="Georgia"/>
              </a:rPr>
              <a:t>系统架构设计</a:t>
            </a:r>
          </a:p>
        </p:txBody>
      </p:sp>
      <p:grpSp>
        <p:nvGrpSpPr>
          <p:cNvPr id="20" name="Group 20"/>
          <p:cNvGrpSpPr/>
          <p:nvPr/>
        </p:nvGrpSpPr>
        <p:grpSpPr>
          <a:xfrm>
            <a:off x="571500" y="1524000"/>
            <a:ext cx="11049000" cy="952500"/>
            <a:chOff x="571500" y="1524000"/>
            <a:chExt cx="11049000" cy="952500"/>
          </a:xfrm>
        </p:grpSpPr>
        <p:sp>
          <p:nvSpPr>
            <p:cNvPr id="7" name="Rectangle 7"/>
            <p:cNvSpPr/>
            <p:nvPr/>
          </p:nvSpPr>
          <p:spPr>
            <a:xfrm>
              <a:off x="571500" y="1524000"/>
              <a:ext cx="11049000" cy="952500"/>
            </a:xfrm>
            <a:prstGeom prst="roundRect">
              <a:avLst>
                <a:gd name="adj" fmla="val 10000"/>
              </a:avLst>
            </a:prstGeom>
            <a:solidFill>
              <a:srgbClr val="FFFFFF"/>
            </a:solidFill>
            <a:ln>
              <a:noFill/>
            </a:ln>
          </p:spPr>
        </p:sp>
        <p:sp>
          <p:nvSpPr>
            <p:cNvPr id="8" name="Rectangle 8"/>
            <p:cNvSpPr/>
            <p:nvPr/>
          </p:nvSpPr>
          <p:spPr>
            <a:xfrm>
              <a:off x="571500" y="1524000"/>
              <a:ext cx="76200" cy="952500"/>
            </a:xfrm>
            <a:prstGeom prst="roundRect">
              <a:avLst>
                <a:gd name="adj" fmla="val 50000"/>
              </a:avLst>
            </a:prstGeom>
            <a:solidFill>
              <a:srgbClr val="00B96B"/>
            </a:solidFill>
            <a:ln>
              <a:noFill/>
            </a:ln>
          </p:spPr>
        </p:sp>
        <p:sp>
          <p:nvSpPr>
            <p:cNvPr id="9" name="TextBox 9"/>
            <p:cNvSpPr txBox="1"/>
            <p:nvPr/>
          </p:nvSpPr>
          <p:spPr>
            <a:xfrm>
              <a:off x="842010" y="1680210"/>
              <a:ext cx="582549" cy="243840"/>
            </a:xfrm>
            <a:prstGeom prst="rect">
              <a:avLst/>
            </a:prstGeom>
            <a:noFill/>
            <a:ln>
              <a:noFill/>
            </a:ln>
          </p:spPr>
          <p:txBody>
            <a:bodyPr wrap="none" lIns="0" tIns="0" rIns="0" bIns="0" anchor="t" anchorCtr="0">
              <a:spAutoFit/>
            </a:bodyPr>
            <a:lstStyle/>
            <a:p>
              <a:pPr algn="l"/>
              <a:r>
                <a:rPr lang="zh-CN" sz="1200" b="1" dirty="0">
                  <a:solidFill>
                    <a:srgbClr val="00B96B"/>
                  </a:solidFill>
                  <a:latin typeface="Arial"/>
                  <a:ea typeface="Microsoft YaHei"/>
                  <a:cs typeface="Arial"/>
                </a:rPr>
                <a:t>前端层</a:t>
              </a:r>
            </a:p>
          </p:txBody>
        </p:sp>
        <p:sp>
          <p:nvSpPr>
            <p:cNvPr id="10" name="Rectangle 10"/>
            <p:cNvSpPr/>
            <p:nvPr/>
          </p:nvSpPr>
          <p:spPr>
            <a:xfrm>
              <a:off x="857250" y="1905000"/>
              <a:ext cx="1524000" cy="381000"/>
            </a:xfrm>
            <a:prstGeom prst="roundRect">
              <a:avLst>
                <a:gd name="adj" fmla="val 20000"/>
              </a:avLst>
            </a:prstGeom>
            <a:solidFill>
              <a:srgbClr val="00B96B">
                <a:alpha val="10000"/>
              </a:srgbClr>
            </a:solidFill>
            <a:ln>
              <a:noFill/>
            </a:ln>
          </p:spPr>
        </p:sp>
        <p:sp>
          <p:nvSpPr>
            <p:cNvPr id="11" name="TextBox 11"/>
            <p:cNvSpPr txBox="1"/>
            <p:nvPr/>
          </p:nvSpPr>
          <p:spPr>
            <a:xfrm>
              <a:off x="1126688" y="2039302"/>
              <a:ext cx="985123" cy="213360"/>
            </a:xfrm>
            <a:prstGeom prst="rect">
              <a:avLst/>
            </a:prstGeom>
            <a:noFill/>
            <a:ln>
              <a:noFill/>
            </a:ln>
          </p:spPr>
          <p:txBody>
            <a:bodyPr wrap="none" lIns="0" tIns="0" rIns="0" bIns="0" anchor="t" anchorCtr="0">
              <a:spAutoFit/>
            </a:bodyPr>
            <a:lstStyle/>
            <a:p>
              <a:pPr algn="ctr"/>
              <a:r>
                <a:rPr lang="zh-CN" sz="1050" dirty="0">
                  <a:solidFill>
                    <a:srgbClr val="00B96B"/>
                  </a:solidFill>
                  <a:latin typeface="Arial"/>
                  <a:ea typeface="Microsoft YaHei"/>
                  <a:cs typeface="Arial"/>
                </a:rPr>
                <a:t>HTML/CSS/JS</a:t>
              </a:r>
            </a:p>
          </p:txBody>
        </p:sp>
        <p:sp>
          <p:nvSpPr>
            <p:cNvPr id="12" name="Rectangle 12"/>
            <p:cNvSpPr/>
            <p:nvPr/>
          </p:nvSpPr>
          <p:spPr>
            <a:xfrm>
              <a:off x="2571750" y="1905000"/>
              <a:ext cx="1524000" cy="381000"/>
            </a:xfrm>
            <a:prstGeom prst="roundRect">
              <a:avLst>
                <a:gd name="adj" fmla="val 20000"/>
              </a:avLst>
            </a:prstGeom>
            <a:solidFill>
              <a:srgbClr val="00B96B">
                <a:alpha val="10000"/>
              </a:srgbClr>
            </a:solidFill>
            <a:ln>
              <a:noFill/>
            </a:ln>
          </p:spPr>
        </p:sp>
        <p:sp>
          <p:nvSpPr>
            <p:cNvPr id="13" name="TextBox 13"/>
            <p:cNvSpPr txBox="1"/>
            <p:nvPr/>
          </p:nvSpPr>
          <p:spPr>
            <a:xfrm>
              <a:off x="2868025" y="2039302"/>
              <a:ext cx="931450" cy="213360"/>
            </a:xfrm>
            <a:prstGeom prst="rect">
              <a:avLst/>
            </a:prstGeom>
            <a:noFill/>
            <a:ln>
              <a:noFill/>
            </a:ln>
          </p:spPr>
          <p:txBody>
            <a:bodyPr wrap="none" lIns="0" tIns="0" rIns="0" bIns="0" anchor="t" anchorCtr="0">
              <a:spAutoFit/>
            </a:bodyPr>
            <a:lstStyle/>
            <a:p>
              <a:pPr algn="ctr"/>
              <a:r>
                <a:rPr lang="zh-CN" sz="1050" dirty="0">
                  <a:solidFill>
                    <a:srgbClr val="00B96B"/>
                  </a:solidFill>
                  <a:latin typeface="Arial"/>
                  <a:ea typeface="Microsoft YaHei"/>
                  <a:cs typeface="Arial"/>
                </a:rPr>
                <a:t>Leaflet 地图</a:t>
              </a:r>
            </a:p>
          </p:txBody>
        </p:sp>
        <p:sp>
          <p:nvSpPr>
            <p:cNvPr id="14" name="Rectangle 14"/>
            <p:cNvSpPr/>
            <p:nvPr/>
          </p:nvSpPr>
          <p:spPr>
            <a:xfrm>
              <a:off x="4286250" y="1905000"/>
              <a:ext cx="1524000" cy="381000"/>
            </a:xfrm>
            <a:prstGeom prst="roundRect">
              <a:avLst>
                <a:gd name="adj" fmla="val 20000"/>
              </a:avLst>
            </a:prstGeom>
            <a:solidFill>
              <a:srgbClr val="00B96B">
                <a:alpha val="10000"/>
              </a:srgbClr>
            </a:solidFill>
            <a:ln>
              <a:noFill/>
            </a:ln>
          </p:spPr>
        </p:sp>
        <p:sp>
          <p:nvSpPr>
            <p:cNvPr id="15" name="TextBox 15"/>
            <p:cNvSpPr txBox="1"/>
            <p:nvPr/>
          </p:nvSpPr>
          <p:spPr>
            <a:xfrm>
              <a:off x="4778050" y="2039302"/>
              <a:ext cx="540401" cy="213360"/>
            </a:xfrm>
            <a:prstGeom prst="rect">
              <a:avLst/>
            </a:prstGeom>
            <a:noFill/>
            <a:ln>
              <a:noFill/>
            </a:ln>
          </p:spPr>
          <p:txBody>
            <a:bodyPr wrap="none" lIns="0" tIns="0" rIns="0" bIns="0" anchor="t" anchorCtr="0">
              <a:spAutoFit/>
            </a:bodyPr>
            <a:lstStyle/>
            <a:p>
              <a:pPr algn="ctr"/>
              <a:r>
                <a:rPr lang="zh-CN" sz="1050" dirty="0">
                  <a:solidFill>
                    <a:srgbClr val="00B96B"/>
                  </a:solidFill>
                  <a:latin typeface="Arial"/>
                  <a:ea typeface="Microsoft YaHei"/>
                  <a:cs typeface="Arial"/>
                </a:rPr>
                <a:t>Chat UI</a:t>
              </a:r>
            </a:p>
          </p:txBody>
        </p:sp>
        <p:sp>
          <p:nvSpPr>
            <p:cNvPr id="16" name="Rectangle 16"/>
            <p:cNvSpPr/>
            <p:nvPr/>
          </p:nvSpPr>
          <p:spPr>
            <a:xfrm>
              <a:off x="6000750" y="1905000"/>
              <a:ext cx="1524000" cy="381000"/>
            </a:xfrm>
            <a:prstGeom prst="roundRect">
              <a:avLst>
                <a:gd name="adj" fmla="val 20000"/>
              </a:avLst>
            </a:prstGeom>
            <a:solidFill>
              <a:srgbClr val="00B96B">
                <a:alpha val="10000"/>
              </a:srgbClr>
            </a:solidFill>
            <a:ln>
              <a:noFill/>
            </a:ln>
          </p:spPr>
        </p:sp>
        <p:sp>
          <p:nvSpPr>
            <p:cNvPr id="17" name="TextBox 17"/>
            <p:cNvSpPr txBox="1"/>
            <p:nvPr/>
          </p:nvSpPr>
          <p:spPr>
            <a:xfrm>
              <a:off x="6327696" y="2039302"/>
              <a:ext cx="870109" cy="213360"/>
            </a:xfrm>
            <a:prstGeom prst="rect">
              <a:avLst/>
            </a:prstGeom>
            <a:noFill/>
            <a:ln>
              <a:noFill/>
            </a:ln>
          </p:spPr>
          <p:txBody>
            <a:bodyPr wrap="none" lIns="0" tIns="0" rIns="0" bIns="0" anchor="t" anchorCtr="0">
              <a:spAutoFit/>
            </a:bodyPr>
            <a:lstStyle/>
            <a:p>
              <a:pPr algn="ctr"/>
              <a:r>
                <a:rPr lang="zh-CN" sz="1050" dirty="0">
                  <a:solidFill>
                    <a:srgbClr val="00B96B"/>
                  </a:solidFill>
                  <a:latin typeface="Arial"/>
                  <a:ea typeface="Microsoft YaHei"/>
                  <a:cs typeface="Arial"/>
                </a:rPr>
                <a:t>Admin Panel</a:t>
              </a:r>
            </a:p>
          </p:txBody>
        </p:sp>
        <p:sp>
          <p:nvSpPr>
            <p:cNvPr id="18" name="Rectangle 18"/>
            <p:cNvSpPr/>
            <p:nvPr/>
          </p:nvSpPr>
          <p:spPr>
            <a:xfrm>
              <a:off x="7715250" y="1905000"/>
              <a:ext cx="1524000" cy="381000"/>
            </a:xfrm>
            <a:prstGeom prst="roundRect">
              <a:avLst>
                <a:gd name="adj" fmla="val 20000"/>
              </a:avLst>
            </a:prstGeom>
            <a:solidFill>
              <a:srgbClr val="00B96B">
                <a:alpha val="10000"/>
              </a:srgbClr>
            </a:solidFill>
            <a:ln>
              <a:noFill/>
            </a:ln>
          </p:spPr>
        </p:sp>
        <p:sp>
          <p:nvSpPr>
            <p:cNvPr id="19" name="TextBox 19"/>
            <p:cNvSpPr txBox="1"/>
            <p:nvPr/>
          </p:nvSpPr>
          <p:spPr>
            <a:xfrm>
              <a:off x="8080534" y="2039302"/>
              <a:ext cx="793432" cy="213360"/>
            </a:xfrm>
            <a:prstGeom prst="rect">
              <a:avLst/>
            </a:prstGeom>
            <a:noFill/>
            <a:ln>
              <a:noFill/>
            </a:ln>
          </p:spPr>
          <p:txBody>
            <a:bodyPr wrap="none" lIns="0" tIns="0" rIns="0" bIns="0" anchor="t" anchorCtr="0">
              <a:spAutoFit/>
            </a:bodyPr>
            <a:lstStyle/>
            <a:p>
              <a:pPr algn="ctr"/>
              <a:r>
                <a:rPr lang="zh-CN" sz="1050" dirty="0">
                  <a:solidFill>
                    <a:srgbClr val="00B96B"/>
                  </a:solidFill>
                  <a:latin typeface="Arial"/>
                  <a:ea typeface="Microsoft YaHei"/>
                  <a:cs typeface="Arial"/>
                </a:rPr>
                <a:t>数据可视化</a:t>
              </a:r>
            </a:p>
          </p:txBody>
        </p:sp>
      </p:grpSp>
      <p:sp>
        <p:nvSpPr>
          <p:cNvPr id="21" name="TextBox 21"/>
          <p:cNvSpPr txBox="1"/>
          <p:nvPr/>
        </p:nvSpPr>
        <p:spPr>
          <a:xfrm>
            <a:off x="6016704" y="2505075"/>
            <a:ext cx="158591" cy="304800"/>
          </a:xfrm>
          <a:prstGeom prst="rect">
            <a:avLst/>
          </a:prstGeom>
          <a:noFill/>
          <a:ln>
            <a:noFill/>
          </a:ln>
        </p:spPr>
        <p:txBody>
          <a:bodyPr wrap="none" lIns="0" tIns="0" rIns="0" bIns="0" anchor="t" anchorCtr="0">
            <a:spAutoFit/>
          </a:bodyPr>
          <a:lstStyle/>
          <a:p>
            <a:pPr algn="ctr"/>
            <a:r>
              <a:rPr lang="zh-CN" sz="1500" dirty="0">
                <a:solidFill>
                  <a:srgbClr val="00B96B"/>
                </a:solidFill>
                <a:latin typeface="Arial"/>
                <a:ea typeface="Microsoft YaHei"/>
                <a:cs typeface="Arial"/>
              </a:rPr>
              <a:t>▼</a:t>
            </a:r>
          </a:p>
        </p:txBody>
      </p:sp>
      <p:grpSp>
        <p:nvGrpSpPr>
          <p:cNvPr id="33" name="Group 33"/>
          <p:cNvGrpSpPr/>
          <p:nvPr/>
        </p:nvGrpSpPr>
        <p:grpSpPr>
          <a:xfrm>
            <a:off x="571500" y="2762250"/>
            <a:ext cx="11049000" cy="952500"/>
            <a:chOff x="571500" y="2762250"/>
            <a:chExt cx="11049000" cy="952500"/>
          </a:xfrm>
        </p:grpSpPr>
        <p:sp>
          <p:nvSpPr>
            <p:cNvPr id="22" name="Rectangle 22"/>
            <p:cNvSpPr/>
            <p:nvPr/>
          </p:nvSpPr>
          <p:spPr>
            <a:xfrm>
              <a:off x="571500" y="2762250"/>
              <a:ext cx="11049000" cy="952500"/>
            </a:xfrm>
            <a:prstGeom prst="roundRect">
              <a:avLst>
                <a:gd name="adj" fmla="val 10000"/>
              </a:avLst>
            </a:prstGeom>
            <a:solidFill>
              <a:srgbClr val="FFFFFF"/>
            </a:solidFill>
            <a:ln>
              <a:noFill/>
            </a:ln>
          </p:spPr>
        </p:sp>
        <p:sp>
          <p:nvSpPr>
            <p:cNvPr id="23" name="Rectangle 23"/>
            <p:cNvSpPr/>
            <p:nvPr/>
          </p:nvSpPr>
          <p:spPr>
            <a:xfrm>
              <a:off x="571500" y="2762250"/>
              <a:ext cx="76200" cy="952500"/>
            </a:xfrm>
            <a:prstGeom prst="roundRect">
              <a:avLst>
                <a:gd name="adj" fmla="val 50000"/>
              </a:avLst>
            </a:prstGeom>
            <a:solidFill>
              <a:srgbClr val="36CFC9"/>
            </a:solidFill>
            <a:ln>
              <a:noFill/>
            </a:ln>
          </p:spPr>
        </p:sp>
        <p:sp>
          <p:nvSpPr>
            <p:cNvPr id="24" name="TextBox 24"/>
            <p:cNvSpPr txBox="1"/>
            <p:nvPr/>
          </p:nvSpPr>
          <p:spPr>
            <a:xfrm>
              <a:off x="842010" y="2918460"/>
              <a:ext cx="582549" cy="243840"/>
            </a:xfrm>
            <a:prstGeom prst="rect">
              <a:avLst/>
            </a:prstGeom>
            <a:noFill/>
            <a:ln>
              <a:noFill/>
            </a:ln>
          </p:spPr>
          <p:txBody>
            <a:bodyPr wrap="none" lIns="0" tIns="0" rIns="0" bIns="0" anchor="t" anchorCtr="0">
              <a:spAutoFit/>
            </a:bodyPr>
            <a:lstStyle/>
            <a:p>
              <a:pPr algn="l"/>
              <a:r>
                <a:rPr lang="zh-CN" sz="1200" b="1" dirty="0">
                  <a:solidFill>
                    <a:srgbClr val="36CFC9"/>
                  </a:solidFill>
                  <a:latin typeface="Arial"/>
                  <a:ea typeface="Microsoft YaHei"/>
                  <a:cs typeface="Arial"/>
                </a:rPr>
                <a:t>后端层</a:t>
              </a:r>
            </a:p>
          </p:txBody>
        </p:sp>
        <p:sp>
          <p:nvSpPr>
            <p:cNvPr id="25" name="Rectangle 25"/>
            <p:cNvSpPr/>
            <p:nvPr/>
          </p:nvSpPr>
          <p:spPr>
            <a:xfrm>
              <a:off x="857250" y="3143250"/>
              <a:ext cx="1905000" cy="381000"/>
            </a:xfrm>
            <a:prstGeom prst="roundRect">
              <a:avLst>
                <a:gd name="adj" fmla="val 20000"/>
              </a:avLst>
            </a:prstGeom>
            <a:solidFill>
              <a:srgbClr val="36CFC9">
                <a:alpha val="10000"/>
              </a:srgbClr>
            </a:solidFill>
            <a:ln>
              <a:noFill/>
            </a:ln>
          </p:spPr>
        </p:sp>
        <p:sp>
          <p:nvSpPr>
            <p:cNvPr id="26" name="TextBox 26"/>
            <p:cNvSpPr txBox="1"/>
            <p:nvPr/>
          </p:nvSpPr>
          <p:spPr>
            <a:xfrm>
              <a:off x="1175337" y="3277552"/>
              <a:ext cx="1268825" cy="213360"/>
            </a:xfrm>
            <a:prstGeom prst="rect">
              <a:avLst/>
            </a:prstGeom>
            <a:noFill/>
            <a:ln>
              <a:noFill/>
            </a:ln>
          </p:spPr>
          <p:txBody>
            <a:bodyPr wrap="none" lIns="0" tIns="0" rIns="0" bIns="0" anchor="t" anchorCtr="0">
              <a:spAutoFit/>
            </a:bodyPr>
            <a:lstStyle/>
            <a:p>
              <a:pPr algn="ctr"/>
              <a:r>
                <a:rPr lang="zh-CN" sz="1050" dirty="0">
                  <a:solidFill>
                    <a:srgbClr val="36CFC9"/>
                  </a:solidFill>
                  <a:latin typeface="Arial"/>
                  <a:ea typeface="Microsoft YaHei"/>
                  <a:cs typeface="Arial"/>
                </a:rPr>
                <a:t>Flask RESTful API</a:t>
              </a:r>
            </a:p>
          </p:txBody>
        </p:sp>
        <p:sp>
          <p:nvSpPr>
            <p:cNvPr id="27" name="Rectangle 27"/>
            <p:cNvSpPr/>
            <p:nvPr/>
          </p:nvSpPr>
          <p:spPr>
            <a:xfrm>
              <a:off x="2952750" y="3143250"/>
              <a:ext cx="1905000" cy="381000"/>
            </a:xfrm>
            <a:prstGeom prst="roundRect">
              <a:avLst>
                <a:gd name="adj" fmla="val 20000"/>
              </a:avLst>
            </a:prstGeom>
            <a:solidFill>
              <a:srgbClr val="36CFC9">
                <a:alpha val="10000"/>
              </a:srgbClr>
            </a:solidFill>
            <a:ln>
              <a:noFill/>
            </a:ln>
          </p:spPr>
        </p:sp>
        <p:sp>
          <p:nvSpPr>
            <p:cNvPr id="28" name="TextBox 28"/>
            <p:cNvSpPr txBox="1"/>
            <p:nvPr/>
          </p:nvSpPr>
          <p:spPr>
            <a:xfrm>
              <a:off x="3374350" y="3277552"/>
              <a:ext cx="1061799" cy="213360"/>
            </a:xfrm>
            <a:prstGeom prst="rect">
              <a:avLst/>
            </a:prstGeom>
            <a:noFill/>
            <a:ln>
              <a:noFill/>
            </a:ln>
          </p:spPr>
          <p:txBody>
            <a:bodyPr wrap="none" lIns="0" tIns="0" rIns="0" bIns="0" anchor="t" anchorCtr="0">
              <a:spAutoFit/>
            </a:bodyPr>
            <a:lstStyle/>
            <a:p>
              <a:pPr algn="ctr"/>
              <a:r>
                <a:rPr lang="zh-CN" sz="1050" dirty="0">
                  <a:solidFill>
                    <a:srgbClr val="36CFC9"/>
                  </a:solidFill>
                  <a:latin typeface="Arial"/>
                  <a:ea typeface="Microsoft YaHei"/>
                  <a:cs typeface="Arial"/>
                </a:rPr>
                <a:t>Blueprint 路由</a:t>
              </a:r>
            </a:p>
          </p:txBody>
        </p:sp>
        <p:sp>
          <p:nvSpPr>
            <p:cNvPr id="29" name="Rectangle 29"/>
            <p:cNvSpPr/>
            <p:nvPr/>
          </p:nvSpPr>
          <p:spPr>
            <a:xfrm>
              <a:off x="5048250" y="3143250"/>
              <a:ext cx="1905000" cy="381000"/>
            </a:xfrm>
            <a:prstGeom prst="roundRect">
              <a:avLst>
                <a:gd name="adj" fmla="val 20000"/>
              </a:avLst>
            </a:prstGeom>
            <a:solidFill>
              <a:srgbClr val="36CFC9">
                <a:alpha val="10000"/>
              </a:srgbClr>
            </a:solidFill>
            <a:ln>
              <a:noFill/>
            </a:ln>
          </p:spPr>
        </p:sp>
        <p:sp>
          <p:nvSpPr>
            <p:cNvPr id="30" name="TextBox 30"/>
            <p:cNvSpPr txBox="1"/>
            <p:nvPr/>
          </p:nvSpPr>
          <p:spPr>
            <a:xfrm>
              <a:off x="5535025" y="3277552"/>
              <a:ext cx="931450" cy="213360"/>
            </a:xfrm>
            <a:prstGeom prst="rect">
              <a:avLst/>
            </a:prstGeom>
            <a:noFill/>
            <a:ln>
              <a:noFill/>
            </a:ln>
          </p:spPr>
          <p:txBody>
            <a:bodyPr wrap="none" lIns="0" tIns="0" rIns="0" bIns="0" anchor="t" anchorCtr="0">
              <a:spAutoFit/>
            </a:bodyPr>
            <a:lstStyle/>
            <a:p>
              <a:pPr algn="ctr"/>
              <a:r>
                <a:rPr lang="zh-CN" sz="1050" dirty="0">
                  <a:solidFill>
                    <a:srgbClr val="36CFC9"/>
                  </a:solidFill>
                  <a:latin typeface="Arial"/>
                  <a:ea typeface="Microsoft YaHei"/>
                  <a:cs typeface="Arial"/>
                </a:rPr>
                <a:t>Session 管理</a:t>
              </a:r>
            </a:p>
          </p:txBody>
        </p:sp>
        <p:sp>
          <p:nvSpPr>
            <p:cNvPr id="31" name="Rectangle 31"/>
            <p:cNvSpPr/>
            <p:nvPr/>
          </p:nvSpPr>
          <p:spPr>
            <a:xfrm>
              <a:off x="7143750" y="3143250"/>
              <a:ext cx="1905000" cy="381000"/>
            </a:xfrm>
            <a:prstGeom prst="roundRect">
              <a:avLst>
                <a:gd name="adj" fmla="val 20000"/>
              </a:avLst>
            </a:prstGeom>
            <a:solidFill>
              <a:srgbClr val="36CFC9">
                <a:alpha val="10000"/>
              </a:srgbClr>
            </a:solidFill>
            <a:ln>
              <a:noFill/>
            </a:ln>
          </p:spPr>
        </p:sp>
        <p:sp>
          <p:nvSpPr>
            <p:cNvPr id="32" name="TextBox 32"/>
            <p:cNvSpPr txBox="1"/>
            <p:nvPr/>
          </p:nvSpPr>
          <p:spPr>
            <a:xfrm>
              <a:off x="7776210" y="3277552"/>
              <a:ext cx="640080" cy="213360"/>
            </a:xfrm>
            <a:prstGeom prst="rect">
              <a:avLst/>
            </a:prstGeom>
            <a:noFill/>
            <a:ln>
              <a:noFill/>
            </a:ln>
          </p:spPr>
          <p:txBody>
            <a:bodyPr wrap="none" lIns="0" tIns="0" rIns="0" bIns="0" anchor="t" anchorCtr="0">
              <a:spAutoFit/>
            </a:bodyPr>
            <a:lstStyle/>
            <a:p>
              <a:pPr algn="ctr"/>
              <a:r>
                <a:rPr lang="zh-CN" sz="1050" dirty="0">
                  <a:solidFill>
                    <a:srgbClr val="36CFC9"/>
                  </a:solidFill>
                  <a:latin typeface="Arial"/>
                  <a:ea typeface="Microsoft YaHei"/>
                  <a:cs typeface="Arial"/>
                </a:rPr>
                <a:t>权限控制</a:t>
              </a:r>
            </a:p>
          </p:txBody>
        </p:sp>
      </p:grpSp>
      <p:sp>
        <p:nvSpPr>
          <p:cNvPr id="34" name="TextBox 34"/>
          <p:cNvSpPr txBox="1"/>
          <p:nvPr/>
        </p:nvSpPr>
        <p:spPr>
          <a:xfrm>
            <a:off x="6016704" y="3743325"/>
            <a:ext cx="158591" cy="304800"/>
          </a:xfrm>
          <a:prstGeom prst="rect">
            <a:avLst/>
          </a:prstGeom>
          <a:noFill/>
          <a:ln>
            <a:noFill/>
          </a:ln>
        </p:spPr>
        <p:txBody>
          <a:bodyPr wrap="none" lIns="0" tIns="0" rIns="0" bIns="0" anchor="t" anchorCtr="0">
            <a:spAutoFit/>
          </a:bodyPr>
          <a:lstStyle/>
          <a:p>
            <a:pPr algn="ctr"/>
            <a:r>
              <a:rPr lang="zh-CN" sz="1500" dirty="0">
                <a:solidFill>
                  <a:srgbClr val="36CFC9"/>
                </a:solidFill>
                <a:latin typeface="Arial"/>
                <a:ea typeface="Microsoft YaHei"/>
                <a:cs typeface="Arial"/>
              </a:rPr>
              <a:t>▼</a:t>
            </a:r>
          </a:p>
        </p:txBody>
      </p:sp>
      <p:grpSp>
        <p:nvGrpSpPr>
          <p:cNvPr id="46" name="Group 46"/>
          <p:cNvGrpSpPr/>
          <p:nvPr/>
        </p:nvGrpSpPr>
        <p:grpSpPr>
          <a:xfrm>
            <a:off x="571500" y="4000500"/>
            <a:ext cx="11049000" cy="952500"/>
            <a:chOff x="571500" y="4000500"/>
            <a:chExt cx="11049000" cy="952500"/>
          </a:xfrm>
        </p:grpSpPr>
        <p:sp>
          <p:nvSpPr>
            <p:cNvPr id="35" name="Rectangle 35"/>
            <p:cNvSpPr/>
            <p:nvPr/>
          </p:nvSpPr>
          <p:spPr>
            <a:xfrm>
              <a:off x="571500" y="4000500"/>
              <a:ext cx="11049000" cy="952500"/>
            </a:xfrm>
            <a:prstGeom prst="roundRect">
              <a:avLst>
                <a:gd name="adj" fmla="val 10000"/>
              </a:avLst>
            </a:prstGeom>
            <a:solidFill>
              <a:srgbClr val="FFFFFF"/>
            </a:solidFill>
            <a:ln>
              <a:noFill/>
            </a:ln>
          </p:spPr>
        </p:sp>
        <p:sp>
          <p:nvSpPr>
            <p:cNvPr id="36" name="Rectangle 36"/>
            <p:cNvSpPr/>
            <p:nvPr/>
          </p:nvSpPr>
          <p:spPr>
            <a:xfrm>
              <a:off x="571500" y="4000500"/>
              <a:ext cx="76200" cy="952500"/>
            </a:xfrm>
            <a:prstGeom prst="roundRect">
              <a:avLst>
                <a:gd name="adj" fmla="val 50000"/>
              </a:avLst>
            </a:prstGeom>
            <a:solidFill>
              <a:srgbClr val="FA8C16"/>
            </a:solidFill>
            <a:ln>
              <a:noFill/>
            </a:ln>
          </p:spPr>
        </p:sp>
        <p:sp>
          <p:nvSpPr>
            <p:cNvPr id="37" name="TextBox 37"/>
            <p:cNvSpPr txBox="1"/>
            <p:nvPr/>
          </p:nvSpPr>
          <p:spPr>
            <a:xfrm>
              <a:off x="842010" y="4156710"/>
              <a:ext cx="794175" cy="243840"/>
            </a:xfrm>
            <a:prstGeom prst="rect">
              <a:avLst/>
            </a:prstGeom>
            <a:noFill/>
            <a:ln>
              <a:noFill/>
            </a:ln>
          </p:spPr>
          <p:txBody>
            <a:bodyPr wrap="none" lIns="0" tIns="0" rIns="0" bIns="0" anchor="t" anchorCtr="0">
              <a:spAutoFit/>
            </a:bodyPr>
            <a:lstStyle/>
            <a:p>
              <a:pPr algn="l"/>
              <a:r>
                <a:rPr lang="zh-CN" sz="1200" b="1" dirty="0">
                  <a:solidFill>
                    <a:srgbClr val="FA8C16"/>
                  </a:solidFill>
                  <a:latin typeface="Arial"/>
                  <a:ea typeface="Microsoft YaHei"/>
                  <a:cs typeface="Arial"/>
                </a:rPr>
                <a:t>AI 核心层</a:t>
              </a:r>
            </a:p>
          </p:txBody>
        </p:sp>
        <p:sp>
          <p:nvSpPr>
            <p:cNvPr id="38" name="Rectangle 38"/>
            <p:cNvSpPr/>
            <p:nvPr/>
          </p:nvSpPr>
          <p:spPr>
            <a:xfrm>
              <a:off x="857250" y="4381500"/>
              <a:ext cx="1905000" cy="381000"/>
            </a:xfrm>
            <a:prstGeom prst="roundRect">
              <a:avLst>
                <a:gd name="adj" fmla="val 20000"/>
              </a:avLst>
            </a:prstGeom>
            <a:solidFill>
              <a:srgbClr val="FA8C16">
                <a:alpha val="10000"/>
              </a:srgbClr>
            </a:solidFill>
            <a:ln>
              <a:noFill/>
            </a:ln>
          </p:spPr>
        </p:sp>
        <p:sp>
          <p:nvSpPr>
            <p:cNvPr id="39" name="TextBox 39"/>
            <p:cNvSpPr txBox="1"/>
            <p:nvPr/>
          </p:nvSpPr>
          <p:spPr>
            <a:xfrm>
              <a:off x="1386197" y="4515802"/>
              <a:ext cx="847106" cy="213360"/>
            </a:xfrm>
            <a:prstGeom prst="rect">
              <a:avLst/>
            </a:prstGeom>
            <a:noFill/>
            <a:ln>
              <a:noFill/>
            </a:ln>
          </p:spPr>
          <p:txBody>
            <a:bodyPr wrap="none" lIns="0" tIns="0" rIns="0" bIns="0" anchor="t" anchorCtr="0">
              <a:spAutoFit/>
            </a:bodyPr>
            <a:lstStyle/>
            <a:p>
              <a:pPr algn="ctr"/>
              <a:r>
                <a:rPr lang="zh-CN" sz="1050" dirty="0">
                  <a:solidFill>
                    <a:srgbClr val="FA8C16"/>
                  </a:solidFill>
                  <a:latin typeface="Arial"/>
                  <a:ea typeface="Microsoft YaHei"/>
                  <a:cs typeface="Arial"/>
                </a:rPr>
                <a:t>TF-IDF 检索</a:t>
              </a:r>
            </a:p>
          </p:txBody>
        </p:sp>
        <p:sp>
          <p:nvSpPr>
            <p:cNvPr id="40" name="Rectangle 40"/>
            <p:cNvSpPr/>
            <p:nvPr/>
          </p:nvSpPr>
          <p:spPr>
            <a:xfrm>
              <a:off x="2952750" y="4381500"/>
              <a:ext cx="1905000" cy="381000"/>
            </a:xfrm>
            <a:prstGeom prst="roundRect">
              <a:avLst>
                <a:gd name="adj" fmla="val 20000"/>
              </a:avLst>
            </a:prstGeom>
            <a:solidFill>
              <a:srgbClr val="FA8C16">
                <a:alpha val="10000"/>
              </a:srgbClr>
            </a:solidFill>
            <a:ln>
              <a:noFill/>
            </a:ln>
          </p:spPr>
        </p:sp>
        <p:sp>
          <p:nvSpPr>
            <p:cNvPr id="41" name="TextBox 41"/>
            <p:cNvSpPr txBox="1"/>
            <p:nvPr/>
          </p:nvSpPr>
          <p:spPr>
            <a:xfrm>
              <a:off x="3585210" y="4515802"/>
              <a:ext cx="640080" cy="213360"/>
            </a:xfrm>
            <a:prstGeom prst="rect">
              <a:avLst/>
            </a:prstGeom>
            <a:noFill/>
            <a:ln>
              <a:noFill/>
            </a:ln>
          </p:spPr>
          <p:txBody>
            <a:bodyPr wrap="none" lIns="0" tIns="0" rIns="0" bIns="0" anchor="t" anchorCtr="0">
              <a:spAutoFit/>
            </a:bodyPr>
            <a:lstStyle/>
            <a:p>
              <a:pPr algn="ctr"/>
              <a:r>
                <a:rPr lang="zh-CN" sz="1050" dirty="0">
                  <a:solidFill>
                    <a:srgbClr val="FA8C16"/>
                  </a:solidFill>
                  <a:latin typeface="Arial"/>
                  <a:ea typeface="Microsoft YaHei"/>
                  <a:cs typeface="Arial"/>
                </a:rPr>
                <a:t>意图识别</a:t>
              </a:r>
            </a:p>
          </p:txBody>
        </p:sp>
        <p:sp>
          <p:nvSpPr>
            <p:cNvPr id="42" name="Rectangle 42"/>
            <p:cNvSpPr/>
            <p:nvPr/>
          </p:nvSpPr>
          <p:spPr>
            <a:xfrm>
              <a:off x="5048250" y="4381500"/>
              <a:ext cx="1905000" cy="381000"/>
            </a:xfrm>
            <a:prstGeom prst="roundRect">
              <a:avLst>
                <a:gd name="adj" fmla="val 20000"/>
              </a:avLst>
            </a:prstGeom>
            <a:solidFill>
              <a:srgbClr val="FA8C16">
                <a:alpha val="10000"/>
              </a:srgbClr>
            </a:solidFill>
            <a:ln>
              <a:noFill/>
            </a:ln>
          </p:spPr>
        </p:sp>
        <p:sp>
          <p:nvSpPr>
            <p:cNvPr id="43" name="TextBox 43"/>
            <p:cNvSpPr txBox="1"/>
            <p:nvPr/>
          </p:nvSpPr>
          <p:spPr>
            <a:xfrm>
              <a:off x="5680710" y="4515802"/>
              <a:ext cx="640080" cy="213360"/>
            </a:xfrm>
            <a:prstGeom prst="rect">
              <a:avLst/>
            </a:prstGeom>
            <a:noFill/>
            <a:ln>
              <a:noFill/>
            </a:ln>
          </p:spPr>
          <p:txBody>
            <a:bodyPr wrap="none" lIns="0" tIns="0" rIns="0" bIns="0" anchor="t" anchorCtr="0">
              <a:spAutoFit/>
            </a:bodyPr>
            <a:lstStyle/>
            <a:p>
              <a:pPr algn="ctr"/>
              <a:r>
                <a:rPr lang="zh-CN" sz="1050" dirty="0">
                  <a:solidFill>
                    <a:srgbClr val="FA8C16"/>
                  </a:solidFill>
                  <a:latin typeface="Arial"/>
                  <a:ea typeface="Microsoft YaHei"/>
                  <a:cs typeface="Arial"/>
                </a:rPr>
                <a:t>回答生成</a:t>
              </a:r>
            </a:p>
          </p:txBody>
        </p:sp>
        <p:sp>
          <p:nvSpPr>
            <p:cNvPr id="44" name="Rectangle 44"/>
            <p:cNvSpPr/>
            <p:nvPr/>
          </p:nvSpPr>
          <p:spPr>
            <a:xfrm>
              <a:off x="7143750" y="4381500"/>
              <a:ext cx="1905000" cy="381000"/>
            </a:xfrm>
            <a:prstGeom prst="roundRect">
              <a:avLst>
                <a:gd name="adj" fmla="val 20000"/>
              </a:avLst>
            </a:prstGeom>
            <a:solidFill>
              <a:srgbClr val="FA8C16">
                <a:alpha val="10000"/>
              </a:srgbClr>
            </a:solidFill>
            <a:ln>
              <a:noFill/>
            </a:ln>
          </p:spPr>
        </p:sp>
        <p:sp>
          <p:nvSpPr>
            <p:cNvPr id="45" name="TextBox 45"/>
            <p:cNvSpPr txBox="1"/>
            <p:nvPr/>
          </p:nvSpPr>
          <p:spPr>
            <a:xfrm>
              <a:off x="7780044" y="4515802"/>
              <a:ext cx="632412" cy="213360"/>
            </a:xfrm>
            <a:prstGeom prst="rect">
              <a:avLst/>
            </a:prstGeom>
            <a:noFill/>
            <a:ln>
              <a:noFill/>
            </a:ln>
          </p:spPr>
          <p:txBody>
            <a:bodyPr wrap="none" lIns="0" tIns="0" rIns="0" bIns="0" anchor="t" anchorCtr="0">
              <a:spAutoFit/>
            </a:bodyPr>
            <a:lstStyle/>
            <a:p>
              <a:pPr algn="ctr"/>
              <a:r>
                <a:rPr lang="zh-CN" sz="1050" dirty="0">
                  <a:solidFill>
                    <a:srgbClr val="FA8C16"/>
                  </a:solidFill>
                  <a:latin typeface="Arial"/>
                  <a:ea typeface="Microsoft YaHei"/>
                  <a:cs typeface="Arial"/>
                </a:rPr>
                <a:t>RAG 增强</a:t>
              </a:r>
            </a:p>
          </p:txBody>
        </p:sp>
      </p:grpSp>
      <p:sp>
        <p:nvSpPr>
          <p:cNvPr id="47" name="TextBox 47"/>
          <p:cNvSpPr txBox="1"/>
          <p:nvPr/>
        </p:nvSpPr>
        <p:spPr>
          <a:xfrm>
            <a:off x="6016704" y="4981575"/>
            <a:ext cx="158591" cy="304800"/>
          </a:xfrm>
          <a:prstGeom prst="rect">
            <a:avLst/>
          </a:prstGeom>
          <a:noFill/>
          <a:ln>
            <a:noFill/>
          </a:ln>
        </p:spPr>
        <p:txBody>
          <a:bodyPr wrap="none" lIns="0" tIns="0" rIns="0" bIns="0" anchor="t" anchorCtr="0">
            <a:spAutoFit/>
          </a:bodyPr>
          <a:lstStyle/>
          <a:p>
            <a:pPr algn="ctr"/>
            <a:r>
              <a:rPr lang="zh-CN" sz="1500" dirty="0">
                <a:solidFill>
                  <a:srgbClr val="FA8C16"/>
                </a:solidFill>
                <a:latin typeface="Arial"/>
                <a:ea typeface="Microsoft YaHei"/>
                <a:cs typeface="Arial"/>
              </a:rPr>
              <a:t>▼</a:t>
            </a:r>
          </a:p>
        </p:txBody>
      </p:sp>
      <p:grpSp>
        <p:nvGrpSpPr>
          <p:cNvPr id="59" name="Group 59"/>
          <p:cNvGrpSpPr/>
          <p:nvPr/>
        </p:nvGrpSpPr>
        <p:grpSpPr>
          <a:xfrm>
            <a:off x="571500" y="5238750"/>
            <a:ext cx="11049000" cy="952500"/>
            <a:chOff x="571500" y="5238750"/>
            <a:chExt cx="11049000" cy="952500"/>
          </a:xfrm>
        </p:grpSpPr>
        <p:sp>
          <p:nvSpPr>
            <p:cNvPr id="48" name="Rectangle 48"/>
            <p:cNvSpPr/>
            <p:nvPr/>
          </p:nvSpPr>
          <p:spPr>
            <a:xfrm>
              <a:off x="571500" y="5238750"/>
              <a:ext cx="11049000" cy="952500"/>
            </a:xfrm>
            <a:prstGeom prst="roundRect">
              <a:avLst>
                <a:gd name="adj" fmla="val 10000"/>
              </a:avLst>
            </a:prstGeom>
            <a:solidFill>
              <a:srgbClr val="FFFFFF"/>
            </a:solidFill>
            <a:ln>
              <a:noFill/>
            </a:ln>
          </p:spPr>
        </p:sp>
        <p:sp>
          <p:nvSpPr>
            <p:cNvPr id="49" name="Rectangle 49"/>
            <p:cNvSpPr/>
            <p:nvPr/>
          </p:nvSpPr>
          <p:spPr>
            <a:xfrm>
              <a:off x="571500" y="5238750"/>
              <a:ext cx="76200" cy="952500"/>
            </a:xfrm>
            <a:prstGeom prst="roundRect">
              <a:avLst>
                <a:gd name="adj" fmla="val 50000"/>
              </a:avLst>
            </a:prstGeom>
            <a:solidFill>
              <a:srgbClr val="1A1A2E"/>
            </a:solidFill>
            <a:ln>
              <a:noFill/>
            </a:ln>
          </p:spPr>
        </p:sp>
        <p:sp>
          <p:nvSpPr>
            <p:cNvPr id="50" name="TextBox 50"/>
            <p:cNvSpPr txBox="1"/>
            <p:nvPr/>
          </p:nvSpPr>
          <p:spPr>
            <a:xfrm>
              <a:off x="842010" y="5394960"/>
              <a:ext cx="582549"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数据层</a:t>
              </a:r>
            </a:p>
          </p:txBody>
        </p:sp>
        <p:sp>
          <p:nvSpPr>
            <p:cNvPr id="51" name="Rectangle 51"/>
            <p:cNvSpPr/>
            <p:nvPr/>
          </p:nvSpPr>
          <p:spPr>
            <a:xfrm>
              <a:off x="857250" y="5619750"/>
              <a:ext cx="1905000" cy="381000"/>
            </a:xfrm>
            <a:prstGeom prst="roundRect">
              <a:avLst>
                <a:gd name="adj" fmla="val 20000"/>
              </a:avLst>
            </a:prstGeom>
            <a:solidFill>
              <a:srgbClr val="1A1A2E">
                <a:alpha val="8000"/>
              </a:srgbClr>
            </a:solidFill>
            <a:ln>
              <a:noFill/>
            </a:ln>
          </p:spPr>
        </p:sp>
        <p:sp>
          <p:nvSpPr>
            <p:cNvPr id="52" name="TextBox 52"/>
            <p:cNvSpPr txBox="1"/>
            <p:nvPr/>
          </p:nvSpPr>
          <p:spPr>
            <a:xfrm>
              <a:off x="1294186" y="5754052"/>
              <a:ext cx="1031129"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SQLite 数据库</a:t>
              </a:r>
            </a:p>
          </p:txBody>
        </p:sp>
        <p:sp>
          <p:nvSpPr>
            <p:cNvPr id="53" name="Rectangle 53"/>
            <p:cNvSpPr/>
            <p:nvPr/>
          </p:nvSpPr>
          <p:spPr>
            <a:xfrm>
              <a:off x="2952750" y="5619750"/>
              <a:ext cx="1905000" cy="381000"/>
            </a:xfrm>
            <a:prstGeom prst="roundRect">
              <a:avLst>
                <a:gd name="adj" fmla="val 20000"/>
              </a:avLst>
            </a:prstGeom>
            <a:solidFill>
              <a:srgbClr val="1A1A2E">
                <a:alpha val="8000"/>
              </a:srgbClr>
            </a:solidFill>
            <a:ln>
              <a:noFill/>
            </a:ln>
          </p:spPr>
        </p:sp>
        <p:sp>
          <p:nvSpPr>
            <p:cNvPr id="54" name="TextBox 54"/>
            <p:cNvSpPr txBox="1"/>
            <p:nvPr/>
          </p:nvSpPr>
          <p:spPr>
            <a:xfrm>
              <a:off x="3397353" y="5754052"/>
              <a:ext cx="1015794"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景点数据 117个</a:t>
              </a:r>
            </a:p>
          </p:txBody>
        </p:sp>
        <p:sp>
          <p:nvSpPr>
            <p:cNvPr id="55" name="Rectangle 55"/>
            <p:cNvSpPr/>
            <p:nvPr/>
          </p:nvSpPr>
          <p:spPr>
            <a:xfrm>
              <a:off x="5048250" y="5619750"/>
              <a:ext cx="1905000" cy="381000"/>
            </a:xfrm>
            <a:prstGeom prst="roundRect">
              <a:avLst>
                <a:gd name="adj" fmla="val 20000"/>
              </a:avLst>
            </a:prstGeom>
            <a:solidFill>
              <a:srgbClr val="1A1A2E">
                <a:alpha val="8000"/>
              </a:srgbClr>
            </a:solidFill>
            <a:ln>
              <a:noFill/>
            </a:ln>
          </p:spPr>
        </p:sp>
        <p:sp>
          <p:nvSpPr>
            <p:cNvPr id="56" name="TextBox 56"/>
            <p:cNvSpPr txBox="1"/>
            <p:nvPr/>
          </p:nvSpPr>
          <p:spPr>
            <a:xfrm>
              <a:off x="5680710" y="5754052"/>
              <a:ext cx="640080"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图片资源</a:t>
              </a:r>
            </a:p>
          </p:txBody>
        </p:sp>
        <p:sp>
          <p:nvSpPr>
            <p:cNvPr id="57" name="Rectangle 57"/>
            <p:cNvSpPr/>
            <p:nvPr/>
          </p:nvSpPr>
          <p:spPr>
            <a:xfrm>
              <a:off x="7143750" y="5619750"/>
              <a:ext cx="1905000" cy="381000"/>
            </a:xfrm>
            <a:prstGeom prst="roundRect">
              <a:avLst>
                <a:gd name="adj" fmla="val 20000"/>
              </a:avLst>
            </a:prstGeom>
            <a:solidFill>
              <a:srgbClr val="1A1A2E">
                <a:alpha val="8000"/>
              </a:srgbClr>
            </a:solidFill>
            <a:ln>
              <a:noFill/>
            </a:ln>
          </p:spPr>
        </p:sp>
        <p:sp>
          <p:nvSpPr>
            <p:cNvPr id="58" name="TextBox 58"/>
            <p:cNvSpPr txBox="1"/>
            <p:nvPr/>
          </p:nvSpPr>
          <p:spPr>
            <a:xfrm>
              <a:off x="7776210" y="5754052"/>
              <a:ext cx="640080" cy="213360"/>
            </a:xfrm>
            <a:prstGeom prst="rect">
              <a:avLst/>
            </a:prstGeom>
            <a:noFill/>
            <a:ln>
              <a:noFill/>
            </a:ln>
          </p:spPr>
          <p:txBody>
            <a:bodyPr wrap="none" lIns="0" tIns="0" rIns="0" bIns="0" anchor="t" anchorCtr="0">
              <a:spAutoFit/>
            </a:bodyPr>
            <a:lstStyle/>
            <a:p>
              <a:pPr algn="ctr"/>
              <a:r>
                <a:rPr lang="zh-CN" sz="1050" dirty="0">
                  <a:solidFill>
                    <a:srgbClr val="1A1A2E"/>
                  </a:solidFill>
                  <a:latin typeface="Arial"/>
                  <a:ea typeface="Microsoft YaHei"/>
                  <a:cs typeface="Arial"/>
                </a:rPr>
                <a:t>路线数据</a:t>
              </a:r>
            </a:p>
          </p:txBody>
        </p:sp>
      </p:grpSp>
      <p:sp>
        <p:nvSpPr>
          <p:cNvPr id="60" name="TextBox 60"/>
          <p:cNvSpPr txBox="1"/>
          <p:nvPr/>
        </p:nvSpPr>
        <p:spPr>
          <a:xfrm>
            <a:off x="11608118" y="6562249"/>
            <a:ext cx="181404"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05</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par>
                          <p:cTn id="8" fill="hold">
                            <p:stCondLst>
                              <p:cond delay="900"/>
                            </p:stCondLst>
                            <p:childTnLst>
                              <p:par>
                                <p:cTn id="9" presetID="4" presetClass="entr" presetSubtype="0"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box(in)">
                                      <p:cBhvr>
                                        <p:cTn id="11" dur="400"/>
                                        <p:tgtEl>
                                          <p:spTgt spid="33"/>
                                        </p:tgtEl>
                                      </p:cBhvr>
                                    </p:animEffect>
                                  </p:childTnLst>
                                </p:cTn>
                              </p:par>
                            </p:childTnLst>
                          </p:cTn>
                        </p:par>
                        <p:par>
                          <p:cTn id="12" fill="hold">
                            <p:stCondLst>
                              <p:cond delay="1800"/>
                            </p:stCondLst>
                            <p:childTnLst>
                              <p:par>
                                <p:cTn id="13" presetID="16" presetClass="entr" presetSubtype="21"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barn(inVertical)">
                                      <p:cBhvr>
                                        <p:cTn id="15" dur="400"/>
                                        <p:tgtEl>
                                          <p:spTgt spid="46"/>
                                        </p:tgtEl>
                                      </p:cBhvr>
                                    </p:animEffect>
                                  </p:childTnLst>
                                </p:cTn>
                              </p:par>
                            </p:childTnLst>
                          </p:cTn>
                        </p:par>
                        <p:par>
                          <p:cTn id="16" fill="hold">
                            <p:stCondLst>
                              <p:cond delay="2700"/>
                            </p:stCondLst>
                            <p:childTnLst>
                              <p:par>
                                <p:cTn id="17" presetID="18" presetClass="entr" presetSubtype="12" fill="hold" nodeType="after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strips(downRight)">
                                      <p:cBhvr>
                                        <p:cTn id="19" dur="4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3" grpId="0"/>
      <p:bldP spid="46" grpId="0"/>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F8FAF9">
                  <a:alpha val="92000"/>
                </a:srgbClr>
              </a:gs>
              <a:gs pos="100000">
                <a:srgbClr val="FFFFFF">
                  <a:alpha val="95000"/>
                </a:srgbClr>
              </a:gs>
            </a:gsLst>
            <a:lin ang="5400000" scaled="1"/>
          </a:gradFill>
          <a:ln>
            <a:noFill/>
          </a:ln>
        </p:spPr>
      </p:sp>
      <p:sp>
        <p:nvSpPr>
          <p:cNvPr id="4" name="Rectangle 4"/>
          <p:cNvSpPr/>
          <p:nvPr/>
        </p:nvSpPr>
        <p:spPr>
          <a:xfrm>
            <a:off x="0" y="0"/>
            <a:ext cx="12192000" cy="38100"/>
          </a:xfrm>
          <a:prstGeom prst="rect">
            <a:avLst/>
          </a:prstGeom>
          <a:solidFill>
            <a:srgbClr val="00B96B"/>
          </a:solidFill>
          <a:ln>
            <a:noFill/>
          </a:ln>
        </p:spPr>
      </p:sp>
      <p:sp>
        <p:nvSpPr>
          <p:cNvPr id="5" name="TextBox 5"/>
          <p:cNvSpPr txBox="1"/>
          <p:nvPr/>
        </p:nvSpPr>
        <p:spPr>
          <a:xfrm>
            <a:off x="558165" y="553402"/>
            <a:ext cx="670750" cy="213360"/>
          </a:xfrm>
          <a:prstGeom prst="rect">
            <a:avLst/>
          </a:prstGeom>
          <a:noFill/>
          <a:ln>
            <a:noFill/>
          </a:ln>
        </p:spPr>
        <p:txBody>
          <a:bodyPr wrap="none" lIns="0" tIns="0" rIns="0" bIns="0" anchor="t" anchorCtr="0">
            <a:spAutoFit/>
          </a:bodyPr>
          <a:lstStyle/>
          <a:p>
            <a:pPr algn="l"/>
            <a:r>
              <a:rPr lang="zh-CN" sz="1050" b="1" dirty="0">
                <a:solidFill>
                  <a:srgbClr val="00B96B"/>
                </a:solidFill>
                <a:latin typeface="Arial"/>
                <a:ea typeface="Microsoft YaHei"/>
                <a:cs typeface="Arial"/>
              </a:rPr>
              <a:t>技术实现</a:t>
            </a:r>
          </a:p>
        </p:txBody>
      </p:sp>
      <p:sp>
        <p:nvSpPr>
          <p:cNvPr id="6" name="TextBox 6"/>
          <p:cNvSpPr txBox="1"/>
          <p:nvPr/>
        </p:nvSpPr>
        <p:spPr>
          <a:xfrm>
            <a:off x="536258" y="795814"/>
            <a:ext cx="2602526" cy="563880"/>
          </a:xfrm>
          <a:prstGeom prst="rect">
            <a:avLst/>
          </a:prstGeom>
          <a:noFill/>
          <a:ln>
            <a:noFill/>
          </a:ln>
        </p:spPr>
        <p:txBody>
          <a:bodyPr wrap="none" lIns="0" tIns="0" rIns="0" bIns="0" anchor="t" anchorCtr="0">
            <a:spAutoFit/>
          </a:bodyPr>
          <a:lstStyle/>
          <a:p>
            <a:pPr algn="l"/>
            <a:r>
              <a:rPr lang="zh-CN" sz="2775" b="1" dirty="0">
                <a:solidFill>
                  <a:srgbClr val="1A1A2E"/>
                </a:solidFill>
                <a:latin typeface="Georgia"/>
                <a:ea typeface="Microsoft YaHei"/>
                <a:cs typeface="Georgia"/>
              </a:rPr>
              <a:t>RAG 问答流程</a:t>
            </a:r>
          </a:p>
        </p:txBody>
      </p:sp>
      <p:grpSp>
        <p:nvGrpSpPr>
          <p:cNvPr id="11" name="Group 11"/>
          <p:cNvGrpSpPr/>
          <p:nvPr/>
        </p:nvGrpSpPr>
        <p:grpSpPr>
          <a:xfrm>
            <a:off x="857250" y="2000250"/>
            <a:ext cx="952500" cy="1569244"/>
            <a:chOff x="857250" y="2000250"/>
            <a:chExt cx="952500" cy="1569244"/>
          </a:xfrm>
        </p:grpSpPr>
        <p:sp>
          <p:nvSpPr>
            <p:cNvPr id="7" name="Ellipse 7"/>
            <p:cNvSpPr/>
            <p:nvPr/>
          </p:nvSpPr>
          <p:spPr>
            <a:xfrm>
              <a:off x="857250" y="2000250"/>
              <a:ext cx="952500" cy="952500"/>
            </a:xfrm>
            <a:prstGeom prst="ellipse">
              <a:avLst/>
            </a:prstGeom>
            <a:solidFill>
              <a:srgbClr val="00B96B"/>
            </a:solidFill>
            <a:ln>
              <a:noFill/>
            </a:ln>
          </p:spPr>
        </p:sp>
        <p:sp>
          <p:nvSpPr>
            <p:cNvPr id="8" name="TextBox 8"/>
            <p:cNvSpPr txBox="1"/>
            <p:nvPr/>
          </p:nvSpPr>
          <p:spPr>
            <a:xfrm>
              <a:off x="1285301" y="2406968"/>
              <a:ext cx="96398"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1</a:t>
              </a:r>
            </a:p>
          </p:txBody>
        </p:sp>
        <p:sp>
          <p:nvSpPr>
            <p:cNvPr id="9" name="TextBox 9"/>
            <p:cNvSpPr txBox="1"/>
            <p:nvPr/>
          </p:nvSpPr>
          <p:spPr>
            <a:xfrm>
              <a:off x="950214" y="3108960"/>
              <a:ext cx="766572"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用户提问</a:t>
              </a:r>
            </a:p>
          </p:txBody>
        </p:sp>
        <p:sp>
          <p:nvSpPr>
            <p:cNvPr id="10" name="TextBox 10"/>
            <p:cNvSpPr txBox="1"/>
            <p:nvPr/>
          </p:nvSpPr>
          <p:spPr>
            <a:xfrm>
              <a:off x="893921" y="3371374"/>
              <a:ext cx="879157"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自然语言输入</a:t>
              </a:r>
            </a:p>
          </p:txBody>
        </p:sp>
      </p:grpSp>
      <p:sp>
        <p:nvSpPr>
          <p:cNvPr id="12" name="Line 12"/>
          <p:cNvSpPr/>
          <p:nvPr/>
        </p:nvSpPr>
        <p:spPr>
          <a:xfrm>
            <a:off x="1905000" y="2476500"/>
            <a:ext cx="571500" cy="9525"/>
          </a:xfrm>
          <a:custGeom>
            <a:avLst/>
            <a:gdLst/>
            <a:ahLst/>
            <a:cxnLst/>
            <a:rect l="l" t="t" r="r" b="b"/>
            <a:pathLst>
              <a:path w="571500" h="9525">
                <a:moveTo>
                  <a:pt x="0" y="0"/>
                </a:moveTo>
                <a:lnTo>
                  <a:pt x="571500" y="0"/>
                </a:lnTo>
              </a:path>
            </a:pathLst>
          </a:custGeom>
          <a:noFill/>
          <a:ln w="19050">
            <a:solidFill>
              <a:srgbClr val="00B96B"/>
            </a:solidFill>
          </a:ln>
        </p:spPr>
      </p:sp>
      <p:sp>
        <p:nvSpPr>
          <p:cNvPr id="13" name="Polygon 13"/>
          <p:cNvSpPr/>
          <p:nvPr/>
        </p:nvSpPr>
        <p:spPr>
          <a:xfrm>
            <a:off x="2476500" y="2419350"/>
            <a:ext cx="114300" cy="114300"/>
          </a:xfrm>
          <a:custGeom>
            <a:avLst/>
            <a:gdLst/>
            <a:ahLst/>
            <a:cxnLst/>
            <a:rect l="l" t="t" r="r" b="b"/>
            <a:pathLst>
              <a:path w="114300" h="114300">
                <a:moveTo>
                  <a:pt x="0" y="0"/>
                </a:moveTo>
                <a:lnTo>
                  <a:pt x="114300" y="57150"/>
                </a:lnTo>
                <a:lnTo>
                  <a:pt x="0" y="114300"/>
                </a:lnTo>
                <a:close/>
              </a:path>
            </a:pathLst>
          </a:custGeom>
          <a:solidFill>
            <a:srgbClr val="00B96B"/>
          </a:solidFill>
          <a:ln>
            <a:noFill/>
          </a:ln>
        </p:spPr>
      </p:sp>
      <p:grpSp>
        <p:nvGrpSpPr>
          <p:cNvPr id="18" name="Group 18"/>
          <p:cNvGrpSpPr/>
          <p:nvPr/>
        </p:nvGrpSpPr>
        <p:grpSpPr>
          <a:xfrm>
            <a:off x="2762250" y="2000250"/>
            <a:ext cx="952500" cy="1569244"/>
            <a:chOff x="2762250" y="2000250"/>
            <a:chExt cx="952500" cy="1569244"/>
          </a:xfrm>
        </p:grpSpPr>
        <p:sp>
          <p:nvSpPr>
            <p:cNvPr id="14" name="Ellipse 14"/>
            <p:cNvSpPr/>
            <p:nvPr/>
          </p:nvSpPr>
          <p:spPr>
            <a:xfrm>
              <a:off x="2762250" y="2000250"/>
              <a:ext cx="952500" cy="952500"/>
            </a:xfrm>
            <a:prstGeom prst="ellipse">
              <a:avLst/>
            </a:prstGeom>
            <a:solidFill>
              <a:srgbClr val="36CFC9"/>
            </a:solidFill>
            <a:ln>
              <a:noFill/>
            </a:ln>
          </p:spPr>
        </p:sp>
        <p:sp>
          <p:nvSpPr>
            <p:cNvPr id="15" name="TextBox 15"/>
            <p:cNvSpPr txBox="1"/>
            <p:nvPr/>
          </p:nvSpPr>
          <p:spPr>
            <a:xfrm>
              <a:off x="3164423" y="24069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2</a:t>
              </a:r>
            </a:p>
          </p:txBody>
        </p:sp>
        <p:sp>
          <p:nvSpPr>
            <p:cNvPr id="16" name="TextBox 16"/>
            <p:cNvSpPr txBox="1"/>
            <p:nvPr/>
          </p:nvSpPr>
          <p:spPr>
            <a:xfrm>
              <a:off x="2855214" y="3108960"/>
              <a:ext cx="766572"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意图识别</a:t>
              </a:r>
            </a:p>
          </p:txBody>
        </p:sp>
        <p:sp>
          <p:nvSpPr>
            <p:cNvPr id="17" name="TextBox 17"/>
            <p:cNvSpPr txBox="1"/>
            <p:nvPr/>
          </p:nvSpPr>
          <p:spPr>
            <a:xfrm>
              <a:off x="2830961" y="3371374"/>
              <a:ext cx="815078"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5种意图分类</a:t>
              </a:r>
            </a:p>
          </p:txBody>
        </p:sp>
      </p:grpSp>
      <p:sp>
        <p:nvSpPr>
          <p:cNvPr id="19" name="Line 19"/>
          <p:cNvSpPr/>
          <p:nvPr/>
        </p:nvSpPr>
        <p:spPr>
          <a:xfrm>
            <a:off x="3810000" y="2476500"/>
            <a:ext cx="571500" cy="9525"/>
          </a:xfrm>
          <a:custGeom>
            <a:avLst/>
            <a:gdLst/>
            <a:ahLst/>
            <a:cxnLst/>
            <a:rect l="l" t="t" r="r" b="b"/>
            <a:pathLst>
              <a:path w="571500" h="9525">
                <a:moveTo>
                  <a:pt x="0" y="0"/>
                </a:moveTo>
                <a:lnTo>
                  <a:pt x="571500" y="0"/>
                </a:lnTo>
              </a:path>
            </a:pathLst>
          </a:custGeom>
          <a:noFill/>
          <a:ln w="19050">
            <a:solidFill>
              <a:srgbClr val="36CFC9"/>
            </a:solidFill>
          </a:ln>
        </p:spPr>
      </p:sp>
      <p:sp>
        <p:nvSpPr>
          <p:cNvPr id="20" name="Polygon 20"/>
          <p:cNvSpPr/>
          <p:nvPr/>
        </p:nvSpPr>
        <p:spPr>
          <a:xfrm>
            <a:off x="4381500" y="2419350"/>
            <a:ext cx="114300" cy="114300"/>
          </a:xfrm>
          <a:custGeom>
            <a:avLst/>
            <a:gdLst/>
            <a:ahLst/>
            <a:cxnLst/>
            <a:rect l="l" t="t" r="r" b="b"/>
            <a:pathLst>
              <a:path w="114300" h="114300">
                <a:moveTo>
                  <a:pt x="0" y="0"/>
                </a:moveTo>
                <a:lnTo>
                  <a:pt x="114300" y="57150"/>
                </a:lnTo>
                <a:lnTo>
                  <a:pt x="0" y="114300"/>
                </a:lnTo>
                <a:close/>
              </a:path>
            </a:pathLst>
          </a:custGeom>
          <a:solidFill>
            <a:srgbClr val="36CFC9"/>
          </a:solidFill>
          <a:ln>
            <a:noFill/>
          </a:ln>
        </p:spPr>
      </p:sp>
      <p:grpSp>
        <p:nvGrpSpPr>
          <p:cNvPr id="25" name="Group 25"/>
          <p:cNvGrpSpPr/>
          <p:nvPr/>
        </p:nvGrpSpPr>
        <p:grpSpPr>
          <a:xfrm>
            <a:off x="4632722" y="2000250"/>
            <a:ext cx="1021556" cy="1569244"/>
            <a:chOff x="4632722" y="2000250"/>
            <a:chExt cx="1021556" cy="1569244"/>
          </a:xfrm>
        </p:grpSpPr>
        <p:sp>
          <p:nvSpPr>
            <p:cNvPr id="21" name="Ellipse 21"/>
            <p:cNvSpPr/>
            <p:nvPr/>
          </p:nvSpPr>
          <p:spPr>
            <a:xfrm>
              <a:off x="4667250" y="2000250"/>
              <a:ext cx="952500" cy="952500"/>
            </a:xfrm>
            <a:prstGeom prst="ellipse">
              <a:avLst/>
            </a:prstGeom>
            <a:solidFill>
              <a:srgbClr val="FA8C16"/>
            </a:solidFill>
            <a:ln>
              <a:noFill/>
            </a:ln>
          </p:spPr>
        </p:sp>
        <p:sp>
          <p:nvSpPr>
            <p:cNvPr id="22" name="TextBox 22"/>
            <p:cNvSpPr txBox="1"/>
            <p:nvPr/>
          </p:nvSpPr>
          <p:spPr>
            <a:xfrm>
              <a:off x="5069423" y="24069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3</a:t>
              </a:r>
            </a:p>
          </p:txBody>
        </p:sp>
        <p:sp>
          <p:nvSpPr>
            <p:cNvPr id="23" name="TextBox 23"/>
            <p:cNvSpPr txBox="1"/>
            <p:nvPr/>
          </p:nvSpPr>
          <p:spPr>
            <a:xfrm>
              <a:off x="4635998" y="3108960"/>
              <a:ext cx="1015003"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TF-IDF 检索</a:t>
              </a:r>
            </a:p>
          </p:txBody>
        </p:sp>
        <p:sp>
          <p:nvSpPr>
            <p:cNvPr id="24" name="TextBox 24"/>
            <p:cNvSpPr txBox="1"/>
            <p:nvPr/>
          </p:nvSpPr>
          <p:spPr>
            <a:xfrm>
              <a:off x="4632722" y="3371374"/>
              <a:ext cx="1021556"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语义相似度匹配</a:t>
              </a:r>
            </a:p>
          </p:txBody>
        </p:sp>
      </p:grpSp>
      <p:sp>
        <p:nvSpPr>
          <p:cNvPr id="26" name="Line 26"/>
          <p:cNvSpPr/>
          <p:nvPr/>
        </p:nvSpPr>
        <p:spPr>
          <a:xfrm>
            <a:off x="5715000" y="2476500"/>
            <a:ext cx="571500" cy="9525"/>
          </a:xfrm>
          <a:custGeom>
            <a:avLst/>
            <a:gdLst/>
            <a:ahLst/>
            <a:cxnLst/>
            <a:rect l="l" t="t" r="r" b="b"/>
            <a:pathLst>
              <a:path w="571500" h="9525">
                <a:moveTo>
                  <a:pt x="0" y="0"/>
                </a:moveTo>
                <a:lnTo>
                  <a:pt x="571500" y="0"/>
                </a:lnTo>
              </a:path>
            </a:pathLst>
          </a:custGeom>
          <a:noFill/>
          <a:ln w="19050">
            <a:solidFill>
              <a:srgbClr val="FA8C16"/>
            </a:solidFill>
          </a:ln>
        </p:spPr>
      </p:sp>
      <p:sp>
        <p:nvSpPr>
          <p:cNvPr id="27" name="Polygon 27"/>
          <p:cNvSpPr/>
          <p:nvPr/>
        </p:nvSpPr>
        <p:spPr>
          <a:xfrm>
            <a:off x="6286500" y="2419350"/>
            <a:ext cx="114300" cy="114300"/>
          </a:xfrm>
          <a:custGeom>
            <a:avLst/>
            <a:gdLst/>
            <a:ahLst/>
            <a:cxnLst/>
            <a:rect l="l" t="t" r="r" b="b"/>
            <a:pathLst>
              <a:path w="114300" h="114300">
                <a:moveTo>
                  <a:pt x="0" y="0"/>
                </a:moveTo>
                <a:lnTo>
                  <a:pt x="114300" y="57150"/>
                </a:lnTo>
                <a:lnTo>
                  <a:pt x="0" y="114300"/>
                </a:lnTo>
                <a:close/>
              </a:path>
            </a:pathLst>
          </a:custGeom>
          <a:solidFill>
            <a:srgbClr val="FA8C16"/>
          </a:solidFill>
          <a:ln>
            <a:noFill/>
          </a:ln>
        </p:spPr>
      </p:sp>
      <p:grpSp>
        <p:nvGrpSpPr>
          <p:cNvPr id="32" name="Group 32"/>
          <p:cNvGrpSpPr/>
          <p:nvPr/>
        </p:nvGrpSpPr>
        <p:grpSpPr>
          <a:xfrm>
            <a:off x="6534162" y="2000250"/>
            <a:ext cx="1028676" cy="1569244"/>
            <a:chOff x="6534162" y="2000250"/>
            <a:chExt cx="1028676" cy="1569244"/>
          </a:xfrm>
        </p:grpSpPr>
        <p:sp>
          <p:nvSpPr>
            <p:cNvPr id="28" name="Ellipse 28"/>
            <p:cNvSpPr/>
            <p:nvPr/>
          </p:nvSpPr>
          <p:spPr>
            <a:xfrm>
              <a:off x="6572250" y="2000250"/>
              <a:ext cx="952500" cy="952500"/>
            </a:xfrm>
            <a:prstGeom prst="ellipse">
              <a:avLst/>
            </a:prstGeom>
            <a:solidFill>
              <a:srgbClr val="00B96B"/>
            </a:solidFill>
            <a:ln>
              <a:noFill/>
            </a:ln>
          </p:spPr>
        </p:sp>
        <p:sp>
          <p:nvSpPr>
            <p:cNvPr id="29" name="TextBox 29"/>
            <p:cNvSpPr txBox="1"/>
            <p:nvPr/>
          </p:nvSpPr>
          <p:spPr>
            <a:xfrm>
              <a:off x="6974423" y="24069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4</a:t>
              </a:r>
            </a:p>
          </p:txBody>
        </p:sp>
        <p:sp>
          <p:nvSpPr>
            <p:cNvPr id="30" name="TextBox 30"/>
            <p:cNvSpPr txBox="1"/>
            <p:nvPr/>
          </p:nvSpPr>
          <p:spPr>
            <a:xfrm>
              <a:off x="6665214" y="3108960"/>
              <a:ext cx="766572"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匹配景点</a:t>
              </a:r>
            </a:p>
          </p:txBody>
        </p:sp>
        <p:sp>
          <p:nvSpPr>
            <p:cNvPr id="31" name="TextBox 31"/>
            <p:cNvSpPr txBox="1"/>
            <p:nvPr/>
          </p:nvSpPr>
          <p:spPr>
            <a:xfrm>
              <a:off x="6534162" y="3371374"/>
              <a:ext cx="1028676"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Top-5 检索结果</a:t>
              </a:r>
            </a:p>
          </p:txBody>
        </p:sp>
      </p:grpSp>
      <p:sp>
        <p:nvSpPr>
          <p:cNvPr id="33" name="Line 33"/>
          <p:cNvSpPr/>
          <p:nvPr/>
        </p:nvSpPr>
        <p:spPr>
          <a:xfrm>
            <a:off x="7620000" y="2476500"/>
            <a:ext cx="571500" cy="9525"/>
          </a:xfrm>
          <a:custGeom>
            <a:avLst/>
            <a:gdLst/>
            <a:ahLst/>
            <a:cxnLst/>
            <a:rect l="l" t="t" r="r" b="b"/>
            <a:pathLst>
              <a:path w="571500" h="9525">
                <a:moveTo>
                  <a:pt x="0" y="0"/>
                </a:moveTo>
                <a:lnTo>
                  <a:pt x="571500" y="0"/>
                </a:lnTo>
              </a:path>
            </a:pathLst>
          </a:custGeom>
          <a:noFill/>
          <a:ln w="19050">
            <a:solidFill>
              <a:srgbClr val="00B96B"/>
            </a:solidFill>
          </a:ln>
        </p:spPr>
      </p:sp>
      <p:sp>
        <p:nvSpPr>
          <p:cNvPr id="34" name="Polygon 34"/>
          <p:cNvSpPr/>
          <p:nvPr/>
        </p:nvSpPr>
        <p:spPr>
          <a:xfrm>
            <a:off x="8191500" y="2419350"/>
            <a:ext cx="114300" cy="114300"/>
          </a:xfrm>
          <a:custGeom>
            <a:avLst/>
            <a:gdLst/>
            <a:ahLst/>
            <a:cxnLst/>
            <a:rect l="l" t="t" r="r" b="b"/>
            <a:pathLst>
              <a:path w="114300" h="114300">
                <a:moveTo>
                  <a:pt x="0" y="0"/>
                </a:moveTo>
                <a:lnTo>
                  <a:pt x="114300" y="57150"/>
                </a:lnTo>
                <a:lnTo>
                  <a:pt x="0" y="114300"/>
                </a:lnTo>
                <a:close/>
              </a:path>
            </a:pathLst>
          </a:custGeom>
          <a:solidFill>
            <a:srgbClr val="00B96B"/>
          </a:solidFill>
          <a:ln>
            <a:noFill/>
          </a:ln>
        </p:spPr>
      </p:sp>
      <p:grpSp>
        <p:nvGrpSpPr>
          <p:cNvPr id="39" name="Group 39"/>
          <p:cNvGrpSpPr/>
          <p:nvPr/>
        </p:nvGrpSpPr>
        <p:grpSpPr>
          <a:xfrm>
            <a:off x="8477250" y="2000250"/>
            <a:ext cx="952500" cy="1569244"/>
            <a:chOff x="8477250" y="2000250"/>
            <a:chExt cx="952500" cy="1569244"/>
          </a:xfrm>
        </p:grpSpPr>
        <p:sp>
          <p:nvSpPr>
            <p:cNvPr id="35" name="Ellipse 35"/>
            <p:cNvSpPr/>
            <p:nvPr/>
          </p:nvSpPr>
          <p:spPr>
            <a:xfrm>
              <a:off x="8477250" y="2000250"/>
              <a:ext cx="952500" cy="952500"/>
            </a:xfrm>
            <a:prstGeom prst="ellipse">
              <a:avLst/>
            </a:prstGeom>
            <a:solidFill>
              <a:srgbClr val="36CFC9"/>
            </a:solidFill>
            <a:ln>
              <a:noFill/>
            </a:ln>
          </p:spPr>
        </p:sp>
        <p:sp>
          <p:nvSpPr>
            <p:cNvPr id="36" name="TextBox 36"/>
            <p:cNvSpPr txBox="1"/>
            <p:nvPr/>
          </p:nvSpPr>
          <p:spPr>
            <a:xfrm>
              <a:off x="8879423" y="24069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5</a:t>
              </a:r>
            </a:p>
          </p:txBody>
        </p:sp>
        <p:sp>
          <p:nvSpPr>
            <p:cNvPr id="37" name="TextBox 37"/>
            <p:cNvSpPr txBox="1"/>
            <p:nvPr/>
          </p:nvSpPr>
          <p:spPr>
            <a:xfrm>
              <a:off x="8570214" y="3108960"/>
              <a:ext cx="766572"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生成回答</a:t>
              </a:r>
            </a:p>
          </p:txBody>
        </p:sp>
        <p:sp>
          <p:nvSpPr>
            <p:cNvPr id="38" name="TextBox 38"/>
            <p:cNvSpPr txBox="1"/>
            <p:nvPr/>
          </p:nvSpPr>
          <p:spPr>
            <a:xfrm>
              <a:off x="8513921" y="3371374"/>
              <a:ext cx="879157"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整合资料输出</a:t>
              </a:r>
            </a:p>
          </p:txBody>
        </p:sp>
      </p:grpSp>
      <p:sp>
        <p:nvSpPr>
          <p:cNvPr id="40" name="Line 40"/>
          <p:cNvSpPr/>
          <p:nvPr/>
        </p:nvSpPr>
        <p:spPr>
          <a:xfrm>
            <a:off x="9525000" y="2476500"/>
            <a:ext cx="571500" cy="9525"/>
          </a:xfrm>
          <a:custGeom>
            <a:avLst/>
            <a:gdLst/>
            <a:ahLst/>
            <a:cxnLst/>
            <a:rect l="l" t="t" r="r" b="b"/>
            <a:pathLst>
              <a:path w="571500" h="9525">
                <a:moveTo>
                  <a:pt x="0" y="0"/>
                </a:moveTo>
                <a:lnTo>
                  <a:pt x="571500" y="0"/>
                </a:lnTo>
              </a:path>
            </a:pathLst>
          </a:custGeom>
          <a:noFill/>
          <a:ln w="19050">
            <a:solidFill>
              <a:srgbClr val="36CFC9"/>
            </a:solidFill>
          </a:ln>
        </p:spPr>
      </p:sp>
      <p:sp>
        <p:nvSpPr>
          <p:cNvPr id="41" name="Polygon 41"/>
          <p:cNvSpPr/>
          <p:nvPr/>
        </p:nvSpPr>
        <p:spPr>
          <a:xfrm>
            <a:off x="10096500" y="2419350"/>
            <a:ext cx="114300" cy="114300"/>
          </a:xfrm>
          <a:custGeom>
            <a:avLst/>
            <a:gdLst/>
            <a:ahLst/>
            <a:cxnLst/>
            <a:rect l="l" t="t" r="r" b="b"/>
            <a:pathLst>
              <a:path w="114300" h="114300">
                <a:moveTo>
                  <a:pt x="0" y="0"/>
                </a:moveTo>
                <a:lnTo>
                  <a:pt x="114300" y="57150"/>
                </a:lnTo>
                <a:lnTo>
                  <a:pt x="0" y="114300"/>
                </a:lnTo>
                <a:close/>
              </a:path>
            </a:pathLst>
          </a:custGeom>
          <a:solidFill>
            <a:srgbClr val="36CFC9"/>
          </a:solidFill>
          <a:ln>
            <a:noFill/>
          </a:ln>
        </p:spPr>
      </p:sp>
      <p:grpSp>
        <p:nvGrpSpPr>
          <p:cNvPr id="46" name="Group 46"/>
          <p:cNvGrpSpPr/>
          <p:nvPr/>
        </p:nvGrpSpPr>
        <p:grpSpPr>
          <a:xfrm>
            <a:off x="10340602" y="2000250"/>
            <a:ext cx="1035796" cy="1569244"/>
            <a:chOff x="10340602" y="2000250"/>
            <a:chExt cx="1035796" cy="1569244"/>
          </a:xfrm>
        </p:grpSpPr>
        <p:sp>
          <p:nvSpPr>
            <p:cNvPr id="42" name="Ellipse 42"/>
            <p:cNvSpPr/>
            <p:nvPr/>
          </p:nvSpPr>
          <p:spPr>
            <a:xfrm>
              <a:off x="10382250" y="2000250"/>
              <a:ext cx="952500" cy="952500"/>
            </a:xfrm>
            <a:prstGeom prst="ellipse">
              <a:avLst/>
            </a:prstGeom>
            <a:solidFill>
              <a:srgbClr val="FA8C16"/>
            </a:solidFill>
            <a:ln>
              <a:noFill/>
            </a:ln>
          </p:spPr>
        </p:sp>
        <p:sp>
          <p:nvSpPr>
            <p:cNvPr id="43" name="TextBox 43"/>
            <p:cNvSpPr txBox="1"/>
            <p:nvPr/>
          </p:nvSpPr>
          <p:spPr>
            <a:xfrm>
              <a:off x="10784423" y="2406968"/>
              <a:ext cx="148154"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Arial"/>
                  <a:ea typeface="Microsoft YaHei"/>
                  <a:cs typeface="Arial"/>
                </a:rPr>
                <a:t>6</a:t>
              </a:r>
            </a:p>
          </p:txBody>
        </p:sp>
        <p:sp>
          <p:nvSpPr>
            <p:cNvPr id="44" name="TextBox 44"/>
            <p:cNvSpPr txBox="1"/>
            <p:nvPr/>
          </p:nvSpPr>
          <p:spPr>
            <a:xfrm>
              <a:off x="10475214" y="3108960"/>
              <a:ext cx="766572" cy="243840"/>
            </a:xfrm>
            <a:prstGeom prst="rect">
              <a:avLst/>
            </a:prstGeom>
            <a:noFill/>
            <a:ln>
              <a:noFill/>
            </a:ln>
          </p:spPr>
          <p:txBody>
            <a:bodyPr wrap="none" lIns="0" tIns="0" rIns="0" bIns="0" anchor="t" anchorCtr="0">
              <a:spAutoFit/>
            </a:bodyPr>
            <a:lstStyle/>
            <a:p>
              <a:pPr algn="ctr"/>
              <a:r>
                <a:rPr lang="zh-CN" sz="1200" b="1" dirty="0">
                  <a:solidFill>
                    <a:srgbClr val="1A1A2E"/>
                  </a:solidFill>
                  <a:latin typeface="Arial"/>
                  <a:ea typeface="Microsoft YaHei"/>
                  <a:cs typeface="Arial"/>
                </a:rPr>
                <a:t>返回结果</a:t>
              </a:r>
            </a:p>
          </p:txBody>
        </p:sp>
        <p:sp>
          <p:nvSpPr>
            <p:cNvPr id="45" name="TextBox 45"/>
            <p:cNvSpPr txBox="1"/>
            <p:nvPr/>
          </p:nvSpPr>
          <p:spPr>
            <a:xfrm>
              <a:off x="10340602" y="3371374"/>
              <a:ext cx="1035796"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答案+来源+建议</a:t>
              </a:r>
            </a:p>
          </p:txBody>
        </p:sp>
      </p:grpSp>
      <p:grpSp>
        <p:nvGrpSpPr>
          <p:cNvPr id="55" name="Group 55"/>
          <p:cNvGrpSpPr/>
          <p:nvPr/>
        </p:nvGrpSpPr>
        <p:grpSpPr>
          <a:xfrm>
            <a:off x="571500" y="4000500"/>
            <a:ext cx="3429000" cy="2095500"/>
            <a:chOff x="571500" y="4000500"/>
            <a:chExt cx="3429000" cy="2095500"/>
          </a:xfrm>
        </p:grpSpPr>
        <p:sp>
          <p:nvSpPr>
            <p:cNvPr id="47" name="Rectangle 47"/>
            <p:cNvSpPr/>
            <p:nvPr/>
          </p:nvSpPr>
          <p:spPr>
            <a:xfrm>
              <a:off x="571500" y="4000500"/>
              <a:ext cx="3429000" cy="2095500"/>
            </a:xfrm>
            <a:prstGeom prst="roundRect">
              <a:avLst>
                <a:gd name="adj" fmla="val 5455"/>
              </a:avLst>
            </a:prstGeom>
            <a:solidFill>
              <a:srgbClr val="FFFFFF"/>
            </a:solidFill>
            <a:ln>
              <a:noFill/>
            </a:ln>
          </p:spPr>
        </p:sp>
        <p:sp>
          <p:nvSpPr>
            <p:cNvPr id="48" name="Rectangle 48"/>
            <p:cNvSpPr/>
            <p:nvPr/>
          </p:nvSpPr>
          <p:spPr>
            <a:xfrm>
              <a:off x="571500" y="4000500"/>
              <a:ext cx="3429000" cy="57150"/>
            </a:xfrm>
            <a:prstGeom prst="roundRect">
              <a:avLst>
                <a:gd name="adj" fmla="val 50000"/>
              </a:avLst>
            </a:prstGeom>
            <a:solidFill>
              <a:srgbClr val="00B96B"/>
            </a:solidFill>
            <a:ln>
              <a:noFill/>
            </a:ln>
          </p:spPr>
        </p:sp>
        <p:sp>
          <p:nvSpPr>
            <p:cNvPr id="49" name="TextBox 49"/>
            <p:cNvSpPr txBox="1"/>
            <p:nvPr/>
          </p:nvSpPr>
          <p:spPr>
            <a:xfrm>
              <a:off x="1854803" y="4235768"/>
              <a:ext cx="862393" cy="274320"/>
            </a:xfrm>
            <a:prstGeom prst="rect">
              <a:avLst/>
            </a:prstGeom>
            <a:noFill/>
            <a:ln>
              <a:noFill/>
            </a:ln>
          </p:spPr>
          <p:txBody>
            <a:bodyPr wrap="none" lIns="0" tIns="0" rIns="0" bIns="0" anchor="t" anchorCtr="0">
              <a:spAutoFit/>
            </a:bodyPr>
            <a:lstStyle/>
            <a:p>
              <a:pPr algn="ctr"/>
              <a:r>
                <a:rPr lang="zh-CN" sz="1350" b="1" dirty="0">
                  <a:solidFill>
                    <a:srgbClr val="00B96B"/>
                  </a:solidFill>
                  <a:latin typeface="Arial"/>
                  <a:ea typeface="Microsoft YaHei"/>
                  <a:cs typeface="Arial"/>
                </a:rPr>
                <a:t>意图分类</a:t>
              </a:r>
            </a:p>
          </p:txBody>
        </p:sp>
        <p:sp>
          <p:nvSpPr>
            <p:cNvPr id="50" name="TextBox 50"/>
            <p:cNvSpPr txBox="1"/>
            <p:nvPr/>
          </p:nvSpPr>
          <p:spPr>
            <a:xfrm>
              <a:off x="842962" y="4641056"/>
              <a:ext cx="1154073"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门票价格查询</a:t>
              </a:r>
            </a:p>
          </p:txBody>
        </p:sp>
        <p:sp>
          <p:nvSpPr>
            <p:cNvPr id="51" name="TextBox 51"/>
            <p:cNvSpPr txBox="1"/>
            <p:nvPr/>
          </p:nvSpPr>
          <p:spPr>
            <a:xfrm>
              <a:off x="842962" y="4907756"/>
              <a:ext cx="1154073"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交通路线查询</a:t>
              </a:r>
            </a:p>
          </p:txBody>
        </p:sp>
        <p:sp>
          <p:nvSpPr>
            <p:cNvPr id="52" name="TextBox 52"/>
            <p:cNvSpPr txBox="1"/>
            <p:nvPr/>
          </p:nvSpPr>
          <p:spPr>
            <a:xfrm>
              <a:off x="842962" y="5174456"/>
              <a:ext cx="1154073"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开放时间查询</a:t>
              </a:r>
            </a:p>
          </p:txBody>
        </p:sp>
        <p:sp>
          <p:nvSpPr>
            <p:cNvPr id="53" name="TextBox 53"/>
            <p:cNvSpPr txBox="1"/>
            <p:nvPr/>
          </p:nvSpPr>
          <p:spPr>
            <a:xfrm>
              <a:off x="842962" y="5441156"/>
              <a:ext cx="825460"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景点推荐</a:t>
              </a:r>
            </a:p>
          </p:txBody>
        </p:sp>
        <p:sp>
          <p:nvSpPr>
            <p:cNvPr id="54" name="TextBox 54"/>
            <p:cNvSpPr txBox="1"/>
            <p:nvPr/>
          </p:nvSpPr>
          <p:spPr>
            <a:xfrm>
              <a:off x="842962" y="5707856"/>
              <a:ext cx="825460"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综合问答</a:t>
              </a:r>
            </a:p>
          </p:txBody>
        </p:sp>
      </p:grpSp>
      <p:grpSp>
        <p:nvGrpSpPr>
          <p:cNvPr id="64" name="Group 64"/>
          <p:cNvGrpSpPr/>
          <p:nvPr/>
        </p:nvGrpSpPr>
        <p:grpSpPr>
          <a:xfrm>
            <a:off x="4381500" y="4000500"/>
            <a:ext cx="3429000" cy="2095500"/>
            <a:chOff x="4381500" y="4000500"/>
            <a:chExt cx="3429000" cy="2095500"/>
          </a:xfrm>
        </p:grpSpPr>
        <p:sp>
          <p:nvSpPr>
            <p:cNvPr id="56" name="Rectangle 56"/>
            <p:cNvSpPr/>
            <p:nvPr/>
          </p:nvSpPr>
          <p:spPr>
            <a:xfrm>
              <a:off x="4381500" y="4000500"/>
              <a:ext cx="3429000" cy="2095500"/>
            </a:xfrm>
            <a:prstGeom prst="roundRect">
              <a:avLst>
                <a:gd name="adj" fmla="val 5455"/>
              </a:avLst>
            </a:prstGeom>
            <a:solidFill>
              <a:srgbClr val="FFFFFF"/>
            </a:solidFill>
            <a:ln>
              <a:noFill/>
            </a:ln>
          </p:spPr>
        </p:sp>
        <p:sp>
          <p:nvSpPr>
            <p:cNvPr id="57" name="Rectangle 57"/>
            <p:cNvSpPr/>
            <p:nvPr/>
          </p:nvSpPr>
          <p:spPr>
            <a:xfrm>
              <a:off x="4381500" y="4000500"/>
              <a:ext cx="3429000" cy="57150"/>
            </a:xfrm>
            <a:prstGeom prst="roundRect">
              <a:avLst>
                <a:gd name="adj" fmla="val 50000"/>
              </a:avLst>
            </a:prstGeom>
            <a:solidFill>
              <a:srgbClr val="36CFC9"/>
            </a:solidFill>
            <a:ln>
              <a:noFill/>
            </a:ln>
          </p:spPr>
        </p:sp>
        <p:sp>
          <p:nvSpPr>
            <p:cNvPr id="58" name="TextBox 58"/>
            <p:cNvSpPr txBox="1"/>
            <p:nvPr/>
          </p:nvSpPr>
          <p:spPr>
            <a:xfrm>
              <a:off x="5664803" y="4235768"/>
              <a:ext cx="862393" cy="274320"/>
            </a:xfrm>
            <a:prstGeom prst="rect">
              <a:avLst/>
            </a:prstGeom>
            <a:noFill/>
            <a:ln>
              <a:noFill/>
            </a:ln>
          </p:spPr>
          <p:txBody>
            <a:bodyPr wrap="none" lIns="0" tIns="0" rIns="0" bIns="0" anchor="t" anchorCtr="0">
              <a:spAutoFit/>
            </a:bodyPr>
            <a:lstStyle/>
            <a:p>
              <a:pPr algn="ctr"/>
              <a:r>
                <a:rPr lang="zh-CN" sz="1350" b="1" dirty="0">
                  <a:solidFill>
                    <a:srgbClr val="36CFC9"/>
                  </a:solidFill>
                  <a:latin typeface="Arial"/>
                  <a:ea typeface="Microsoft YaHei"/>
                  <a:cs typeface="Arial"/>
                </a:rPr>
                <a:t>检索机制</a:t>
              </a:r>
            </a:p>
          </p:txBody>
        </p:sp>
        <p:sp>
          <p:nvSpPr>
            <p:cNvPr id="59" name="TextBox 59"/>
            <p:cNvSpPr txBox="1"/>
            <p:nvPr/>
          </p:nvSpPr>
          <p:spPr>
            <a:xfrm>
              <a:off x="4652962" y="4641056"/>
              <a:ext cx="1704499"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TF-IDF 向量空间模型</a:t>
              </a:r>
            </a:p>
          </p:txBody>
        </p:sp>
        <p:sp>
          <p:nvSpPr>
            <p:cNvPr id="60" name="TextBox 60"/>
            <p:cNvSpPr txBox="1"/>
            <p:nvPr/>
          </p:nvSpPr>
          <p:spPr>
            <a:xfrm>
              <a:off x="4652962" y="4907756"/>
              <a:ext cx="1449824"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n-gram 中文分词</a:t>
              </a:r>
            </a:p>
          </p:txBody>
        </p:sp>
        <p:sp>
          <p:nvSpPr>
            <p:cNvPr id="61" name="TextBox 61"/>
            <p:cNvSpPr txBox="1"/>
            <p:nvPr/>
          </p:nvSpPr>
          <p:spPr>
            <a:xfrm>
              <a:off x="4652962" y="5174456"/>
              <a:ext cx="1318379"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余弦相似度排序</a:t>
              </a:r>
            </a:p>
          </p:txBody>
        </p:sp>
        <p:sp>
          <p:nvSpPr>
            <p:cNvPr id="62" name="TextBox 62"/>
            <p:cNvSpPr txBox="1"/>
            <p:nvPr/>
          </p:nvSpPr>
          <p:spPr>
            <a:xfrm>
              <a:off x="4652962" y="5441156"/>
              <a:ext cx="997982"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Top-K 检索</a:t>
              </a:r>
            </a:p>
          </p:txBody>
        </p:sp>
        <p:sp>
          <p:nvSpPr>
            <p:cNvPr id="63" name="TextBox 63"/>
            <p:cNvSpPr txBox="1"/>
            <p:nvPr/>
          </p:nvSpPr>
          <p:spPr>
            <a:xfrm>
              <a:off x="4652962" y="5707856"/>
              <a:ext cx="989767"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毫秒级响应</a:t>
              </a:r>
            </a:p>
          </p:txBody>
        </p:sp>
      </p:grpSp>
      <p:grpSp>
        <p:nvGrpSpPr>
          <p:cNvPr id="73" name="Group 73"/>
          <p:cNvGrpSpPr/>
          <p:nvPr/>
        </p:nvGrpSpPr>
        <p:grpSpPr>
          <a:xfrm>
            <a:off x="8191500" y="4000500"/>
            <a:ext cx="3429000" cy="2095500"/>
            <a:chOff x="8191500" y="4000500"/>
            <a:chExt cx="3429000" cy="2095500"/>
          </a:xfrm>
        </p:grpSpPr>
        <p:sp>
          <p:nvSpPr>
            <p:cNvPr id="65" name="Rectangle 65"/>
            <p:cNvSpPr/>
            <p:nvPr/>
          </p:nvSpPr>
          <p:spPr>
            <a:xfrm>
              <a:off x="8191500" y="4000500"/>
              <a:ext cx="3429000" cy="2095500"/>
            </a:xfrm>
            <a:prstGeom prst="roundRect">
              <a:avLst>
                <a:gd name="adj" fmla="val 5455"/>
              </a:avLst>
            </a:prstGeom>
            <a:solidFill>
              <a:srgbClr val="FFFFFF"/>
            </a:solidFill>
            <a:ln>
              <a:noFill/>
            </a:ln>
          </p:spPr>
        </p:sp>
        <p:sp>
          <p:nvSpPr>
            <p:cNvPr id="66" name="Rectangle 66"/>
            <p:cNvSpPr/>
            <p:nvPr/>
          </p:nvSpPr>
          <p:spPr>
            <a:xfrm>
              <a:off x="8191500" y="4000500"/>
              <a:ext cx="3429000" cy="57150"/>
            </a:xfrm>
            <a:prstGeom prst="roundRect">
              <a:avLst>
                <a:gd name="adj" fmla="val 50000"/>
              </a:avLst>
            </a:prstGeom>
            <a:solidFill>
              <a:srgbClr val="FA8C16"/>
            </a:solidFill>
            <a:ln>
              <a:noFill/>
            </a:ln>
          </p:spPr>
        </p:sp>
        <p:sp>
          <p:nvSpPr>
            <p:cNvPr id="67" name="TextBox 67"/>
            <p:cNvSpPr txBox="1"/>
            <p:nvPr/>
          </p:nvSpPr>
          <p:spPr>
            <a:xfrm>
              <a:off x="9479979" y="4235768"/>
              <a:ext cx="852042" cy="274320"/>
            </a:xfrm>
            <a:prstGeom prst="rect">
              <a:avLst/>
            </a:prstGeom>
            <a:noFill/>
            <a:ln>
              <a:noFill/>
            </a:ln>
          </p:spPr>
          <p:txBody>
            <a:bodyPr wrap="none" lIns="0" tIns="0" rIns="0" bIns="0" anchor="t" anchorCtr="0">
              <a:spAutoFit/>
            </a:bodyPr>
            <a:lstStyle/>
            <a:p>
              <a:pPr algn="ctr"/>
              <a:r>
                <a:rPr lang="zh-CN" sz="1350" b="1" dirty="0">
                  <a:solidFill>
                    <a:srgbClr val="FA8C16"/>
                  </a:solidFill>
                  <a:latin typeface="Arial"/>
                  <a:ea typeface="Microsoft YaHei"/>
                  <a:cs typeface="Arial"/>
                </a:rPr>
                <a:t>RAG 增强</a:t>
              </a:r>
            </a:p>
          </p:txBody>
        </p:sp>
        <p:sp>
          <p:nvSpPr>
            <p:cNvPr id="68" name="TextBox 68"/>
            <p:cNvSpPr txBox="1"/>
            <p:nvPr/>
          </p:nvSpPr>
          <p:spPr>
            <a:xfrm>
              <a:off x="8462962" y="4641056"/>
              <a:ext cx="1154073"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检索增强生成</a:t>
              </a:r>
            </a:p>
          </p:txBody>
        </p:sp>
        <p:sp>
          <p:nvSpPr>
            <p:cNvPr id="69" name="TextBox 69"/>
            <p:cNvSpPr txBox="1"/>
            <p:nvPr/>
          </p:nvSpPr>
          <p:spPr>
            <a:xfrm>
              <a:off x="8462962" y="4907756"/>
              <a:ext cx="1482685"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回答基于真实数据</a:t>
              </a:r>
            </a:p>
          </p:txBody>
        </p:sp>
        <p:sp>
          <p:nvSpPr>
            <p:cNvPr id="70" name="TextBox 70"/>
            <p:cNvSpPr txBox="1"/>
            <p:nvPr/>
          </p:nvSpPr>
          <p:spPr>
            <a:xfrm>
              <a:off x="8462962" y="5174456"/>
              <a:ext cx="1154073"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附带来源信息</a:t>
              </a:r>
            </a:p>
          </p:txBody>
        </p:sp>
        <p:sp>
          <p:nvSpPr>
            <p:cNvPr id="71" name="TextBox 71"/>
            <p:cNvSpPr txBox="1"/>
            <p:nvPr/>
          </p:nvSpPr>
          <p:spPr>
            <a:xfrm>
              <a:off x="8462962" y="5441156"/>
              <a:ext cx="1154073"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避免幻觉问题</a:t>
              </a:r>
            </a:p>
          </p:txBody>
        </p:sp>
        <p:sp>
          <p:nvSpPr>
            <p:cNvPr id="72" name="TextBox 72"/>
            <p:cNvSpPr txBox="1"/>
            <p:nvPr/>
          </p:nvSpPr>
          <p:spPr>
            <a:xfrm>
              <a:off x="8462962" y="5707856"/>
              <a:ext cx="1154073" cy="228600"/>
            </a:xfrm>
            <a:prstGeom prst="rect">
              <a:avLst/>
            </a:prstGeom>
            <a:noFill/>
            <a:ln>
              <a:noFill/>
            </a:ln>
          </p:spPr>
          <p:txBody>
            <a:bodyPr wrap="none" lIns="0" tIns="0" rIns="0" bIns="0" anchor="t" anchorCtr="0">
              <a:spAutoFit/>
            </a:bodyPr>
            <a:lstStyle/>
            <a:p>
              <a:pPr algn="l"/>
              <a:r>
                <a:rPr lang="zh-CN" sz="1125" dirty="0">
                  <a:solidFill>
                    <a:srgbClr val="1A1A2E"/>
                  </a:solidFill>
                  <a:latin typeface="Arial"/>
                  <a:ea typeface="Microsoft YaHei"/>
                  <a:cs typeface="Arial"/>
                </a:rPr>
                <a:t>· 可溯源可验证</a:t>
              </a:r>
            </a:p>
          </p:txBody>
        </p:sp>
      </p:grpSp>
      <p:sp>
        <p:nvSpPr>
          <p:cNvPr id="74" name="TextBox 74"/>
          <p:cNvSpPr txBox="1"/>
          <p:nvPr/>
        </p:nvSpPr>
        <p:spPr>
          <a:xfrm>
            <a:off x="11608118" y="6562249"/>
            <a:ext cx="181404"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06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childTnLst>
                          </p:cTn>
                        </p:par>
                        <p:par>
                          <p:cTn id="8" fill="hold">
                            <p:stCondLst>
                              <p:cond delay="900"/>
                            </p:stCondLst>
                            <p:childTnLst>
                              <p:par>
                                <p:cTn id="9" presetID="20" presetClass="entr" presetSubtype="0"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edge">
                                      <p:cBhvr>
                                        <p:cTn id="11" dur="400"/>
                                        <p:tgtEl>
                                          <p:spTgt spid="18"/>
                                        </p:tgtEl>
                                      </p:cBhvr>
                                    </p:animEffect>
                                  </p:childTnLst>
                                </p:cTn>
                              </p:par>
                            </p:childTnLst>
                          </p:cTn>
                        </p:par>
                        <p:par>
                          <p:cTn id="12" fill="hold">
                            <p:stCondLst>
                              <p:cond delay="1800"/>
                            </p:stCondLst>
                            <p:childTnLst>
                              <p:par>
                                <p:cTn id="13" presetID="21" presetClass="entr" presetSubtype="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heel(4)">
                                      <p:cBhvr>
                                        <p:cTn id="15" dur="400"/>
                                        <p:tgtEl>
                                          <p:spTgt spid="25"/>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400"/>
                                        <p:tgtEl>
                                          <p:spTgt spid="32"/>
                                        </p:tgtEl>
                                      </p:cBhvr>
                                    </p:animEffect>
                                  </p:childTnLst>
                                </p:cTn>
                              </p:par>
                            </p:childTnLst>
                          </p:cTn>
                        </p:par>
                        <p:par>
                          <p:cTn id="20" fill="hold">
                            <p:stCondLst>
                              <p:cond delay="3600"/>
                            </p:stCondLst>
                            <p:childTnLst>
                              <p:par>
                                <p:cTn id="21" presetID="50" presetClass="entr" presetSubtype="0" fill="hold" nodeType="afterEffect">
                                  <p:stCondLst>
                                    <p:cond delay="0"/>
                                  </p:stCondLst>
                                  <p:childTnLst>
                                    <p:set>
                                      <p:cBhvr>
                                        <p:cTn id="22" dur="1" fill="hold">
                                          <p:stCondLst>
                                            <p:cond delay="0"/>
                                          </p:stCondLst>
                                        </p:cTn>
                                        <p:tgtEl>
                                          <p:spTgt spid="39"/>
                                        </p:tgtEl>
                                        <p:attrNameLst>
                                          <p:attrName>style.visibility</p:attrName>
                                        </p:attrNameLst>
                                      </p:cBhvr>
                                      <p:to>
                                        <p:strVal val="visible"/>
                                      </p:to>
                                    </p:set>
                                    <p:animEffect transition="in" filter="stretch(across)">
                                      <p:cBhvr>
                                        <p:cTn id="23" dur="400"/>
                                        <p:tgtEl>
                                          <p:spTgt spid="39"/>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46"/>
                                        </p:tgtEl>
                                        <p:attrNameLst>
                                          <p:attrName>style.visibility</p:attrName>
                                        </p:attrNameLst>
                                      </p:cBhvr>
                                      <p:to>
                                        <p:strVal val="visible"/>
                                      </p:to>
                                    </p:set>
                                    <p:animEffect transition="in" filter="fade">
                                      <p:cBhvr>
                                        <p:cTn id="27" dur="400"/>
                                        <p:tgtEl>
                                          <p:spTgt spid="46"/>
                                        </p:tgtEl>
                                      </p:cBhvr>
                                    </p:animEffect>
                                  </p:childTnLst>
                                </p:cTn>
                              </p:par>
                            </p:childTnLst>
                          </p:cTn>
                        </p:par>
                        <p:par>
                          <p:cTn id="28" fill="hold">
                            <p:stCondLst>
                              <p:cond delay="5400"/>
                            </p:stCondLst>
                            <p:childTnLst>
                              <p:par>
                                <p:cTn id="29" presetID="19" presetClass="entr" presetSubtype="0" fill="hold" nodeType="after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wheel(1)">
                                      <p:cBhvr>
                                        <p:cTn id="31" dur="400"/>
                                        <p:tgtEl>
                                          <p:spTgt spid="55"/>
                                        </p:tgtEl>
                                      </p:cBhvr>
                                    </p:animEffect>
                                  </p:childTnLst>
                                </p:cTn>
                              </p:par>
                            </p:childTnLst>
                          </p:cTn>
                        </p:par>
                        <p:par>
                          <p:cTn id="32" fill="hold">
                            <p:stCondLst>
                              <p:cond delay="6300"/>
                            </p:stCondLst>
                            <p:childTnLst>
                              <p:par>
                                <p:cTn id="33" presetID="23" presetClass="entr" presetSubtype="0" fill="hold" nodeType="afterEffect">
                                  <p:stCondLst>
                                    <p:cond delay="0"/>
                                  </p:stCondLst>
                                  <p:childTnLst>
                                    <p:set>
                                      <p:cBhvr>
                                        <p:cTn id="34" dur="1" fill="hold">
                                          <p:stCondLst>
                                            <p:cond delay="0"/>
                                          </p:stCondLst>
                                        </p:cTn>
                                        <p:tgtEl>
                                          <p:spTgt spid="64"/>
                                        </p:tgtEl>
                                        <p:attrNameLst>
                                          <p:attrName>style.visibility</p:attrName>
                                        </p:attrNameLst>
                                      </p:cBhvr>
                                      <p:to>
                                        <p:strVal val="visible"/>
                                      </p:to>
                                    </p:set>
                                    <p:animEffect transition="in" filter="image">
                                      <p:cBhvr>
                                        <p:cTn id="35" dur="400"/>
                                        <p:tgtEl>
                                          <p:spTgt spid="64"/>
                                        </p:tgtEl>
                                      </p:cBhvr>
                                    </p:animEffect>
                                  </p:childTnLst>
                                </p:cTn>
                              </p:par>
                            </p:childTnLst>
                          </p:cTn>
                        </p:par>
                        <p:par>
                          <p:cTn id="36" fill="hold">
                            <p:stCondLst>
                              <p:cond delay="7200"/>
                            </p:stCondLst>
                            <p:childTnLst>
                              <p:par>
                                <p:cTn id="37" presetID="3" presetClass="entr" presetSubtype="10" fill="hold" nodeType="afterEffect">
                                  <p:stCondLst>
                                    <p:cond delay="0"/>
                                  </p:stCondLst>
                                  <p:childTnLst>
                                    <p:set>
                                      <p:cBhvr>
                                        <p:cTn id="38" dur="1" fill="hold">
                                          <p:stCondLst>
                                            <p:cond delay="0"/>
                                          </p:stCondLst>
                                        </p:cTn>
                                        <p:tgtEl>
                                          <p:spTgt spid="73"/>
                                        </p:tgtEl>
                                        <p:attrNameLst>
                                          <p:attrName>style.visibility</p:attrName>
                                        </p:attrNameLst>
                                      </p:cBhvr>
                                      <p:to>
                                        <p:strVal val="visible"/>
                                      </p:to>
                                    </p:set>
                                    <p:animEffect transition="in" filter="blinds(horizontal)">
                                      <p:cBhvr>
                                        <p:cTn id="39"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8" grpId="0"/>
      <p:bldP spid="25" grpId="0"/>
      <p:bldP spid="32" grpId="0"/>
      <p:bldP spid="39" grpId="0"/>
      <p:bldP spid="46" grpId="0"/>
      <p:bldP spid="55" grpId="0"/>
      <p:bldP spid="64" grpId="0"/>
      <p:bldP spid="7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F8FAF9">
                  <a:alpha val="92000"/>
                </a:srgbClr>
              </a:gs>
              <a:gs pos="100000">
                <a:srgbClr val="FFFFFF">
                  <a:alpha val="95000"/>
                </a:srgbClr>
              </a:gs>
            </a:gsLst>
            <a:lin ang="5400000" scaled="1"/>
          </a:gradFill>
          <a:ln>
            <a:noFill/>
          </a:ln>
        </p:spPr>
      </p:sp>
      <p:sp>
        <p:nvSpPr>
          <p:cNvPr id="4" name="Rectangle 4"/>
          <p:cNvSpPr/>
          <p:nvPr/>
        </p:nvSpPr>
        <p:spPr>
          <a:xfrm>
            <a:off x="0" y="0"/>
            <a:ext cx="12192000" cy="38100"/>
          </a:xfrm>
          <a:prstGeom prst="rect">
            <a:avLst/>
          </a:prstGeom>
          <a:solidFill>
            <a:srgbClr val="00B96B"/>
          </a:solidFill>
          <a:ln>
            <a:noFill/>
          </a:ln>
        </p:spPr>
      </p:sp>
      <p:sp>
        <p:nvSpPr>
          <p:cNvPr id="5" name="TextBox 5"/>
          <p:cNvSpPr txBox="1"/>
          <p:nvPr/>
        </p:nvSpPr>
        <p:spPr>
          <a:xfrm>
            <a:off x="558165" y="553402"/>
            <a:ext cx="670750" cy="213360"/>
          </a:xfrm>
          <a:prstGeom prst="rect">
            <a:avLst/>
          </a:prstGeom>
          <a:noFill/>
          <a:ln>
            <a:noFill/>
          </a:ln>
        </p:spPr>
        <p:txBody>
          <a:bodyPr wrap="none" lIns="0" tIns="0" rIns="0" bIns="0" anchor="t" anchorCtr="0">
            <a:spAutoFit/>
          </a:bodyPr>
          <a:lstStyle/>
          <a:p>
            <a:pPr algn="l"/>
            <a:r>
              <a:rPr lang="zh-CN" sz="1050" b="1" dirty="0">
                <a:solidFill>
                  <a:srgbClr val="00B96B"/>
                </a:solidFill>
                <a:latin typeface="Arial"/>
                <a:ea typeface="Microsoft YaHei"/>
                <a:cs typeface="Arial"/>
              </a:rPr>
              <a:t>数据成果</a:t>
            </a:r>
          </a:p>
        </p:txBody>
      </p:sp>
      <p:sp>
        <p:nvSpPr>
          <p:cNvPr id="6" name="TextBox 6"/>
          <p:cNvSpPr txBox="1"/>
          <p:nvPr/>
        </p:nvSpPr>
        <p:spPr>
          <a:xfrm>
            <a:off x="536258" y="795814"/>
            <a:ext cx="1772698" cy="563880"/>
          </a:xfrm>
          <a:prstGeom prst="rect">
            <a:avLst/>
          </a:prstGeom>
          <a:noFill/>
          <a:ln>
            <a:noFill/>
          </a:ln>
        </p:spPr>
        <p:txBody>
          <a:bodyPr wrap="none" lIns="0" tIns="0" rIns="0" bIns="0" anchor="t" anchorCtr="0">
            <a:spAutoFit/>
          </a:bodyPr>
          <a:lstStyle/>
          <a:p>
            <a:pPr algn="l"/>
            <a:r>
              <a:rPr lang="zh-CN" sz="2775" b="1" dirty="0">
                <a:solidFill>
                  <a:srgbClr val="1A1A2E"/>
                </a:solidFill>
                <a:latin typeface="Georgia"/>
                <a:ea typeface="Microsoft YaHei"/>
                <a:cs typeface="Georgia"/>
              </a:rPr>
              <a:t>项目成果</a:t>
            </a:r>
          </a:p>
        </p:txBody>
      </p:sp>
      <p:grpSp>
        <p:nvGrpSpPr>
          <p:cNvPr id="14" name="Group 14"/>
          <p:cNvGrpSpPr/>
          <p:nvPr/>
        </p:nvGrpSpPr>
        <p:grpSpPr>
          <a:xfrm>
            <a:off x="571500" y="1619250"/>
            <a:ext cx="5238750" cy="2095500"/>
            <a:chOff x="571500" y="1619250"/>
            <a:chExt cx="5238750" cy="2095500"/>
          </a:xfrm>
        </p:grpSpPr>
        <p:sp>
          <p:nvSpPr>
            <p:cNvPr id="7" name="Rectangle 7"/>
            <p:cNvSpPr/>
            <p:nvPr/>
          </p:nvSpPr>
          <p:spPr>
            <a:xfrm>
              <a:off x="571500" y="1619250"/>
              <a:ext cx="5238750" cy="2095500"/>
            </a:xfrm>
            <a:prstGeom prst="roundRect">
              <a:avLst>
                <a:gd name="adj" fmla="val 5455"/>
              </a:avLst>
            </a:prstGeom>
            <a:solidFill>
              <a:srgbClr val="FFFFFF"/>
            </a:solidFill>
            <a:ln>
              <a:noFill/>
            </a:ln>
          </p:spPr>
        </p:sp>
        <p:sp>
          <p:nvSpPr>
            <p:cNvPr id="8" name="Rectangle 8"/>
            <p:cNvSpPr/>
            <p:nvPr/>
          </p:nvSpPr>
          <p:spPr>
            <a:xfrm>
              <a:off x="571500" y="1619250"/>
              <a:ext cx="57150" cy="2095500"/>
            </a:xfrm>
            <a:prstGeom prst="roundRect">
              <a:avLst>
                <a:gd name="adj" fmla="val 50000"/>
              </a:avLst>
            </a:prstGeom>
            <a:solidFill>
              <a:srgbClr val="00B96B"/>
            </a:solidFill>
            <a:ln>
              <a:noFill/>
            </a:ln>
          </p:spPr>
        </p:sp>
        <p:sp>
          <p:nvSpPr>
            <p:cNvPr id="9" name="Freeform 9"/>
            <p:cNvSpPr/>
            <p:nvPr/>
          </p:nvSpPr>
          <p:spPr>
            <a:xfrm>
              <a:off x="983445" y="2049016"/>
              <a:ext cx="319111" cy="284610"/>
            </a:xfrm>
            <a:custGeom>
              <a:avLst/>
              <a:gdLst/>
              <a:ahLst/>
              <a:cxnLst/>
              <a:rect l="l" t="t" r="r" b="b"/>
              <a:pathLst>
                <a:path w="319111" h="284610">
                  <a:moveTo>
                    <a:pt x="67163" y="125065"/>
                  </a:moveTo>
                  <a:lnTo>
                    <a:pt x="107485" y="175468"/>
                  </a:lnTo>
                  <a:lnTo>
                    <a:pt x="108819" y="176945"/>
                  </a:lnTo>
                  <a:cubicBezTo>
                    <a:pt x="115041" y="182983"/>
                    <a:pt x="124956" y="182912"/>
                    <a:pt x="131091" y="176786"/>
                  </a:cubicBezTo>
                  <a:lnTo>
                    <a:pt x="157079" y="150783"/>
                  </a:lnTo>
                  <a:lnTo>
                    <a:pt x="178097" y="182295"/>
                  </a:lnTo>
                  <a:cubicBezTo>
                    <a:pt x="180566" y="185998"/>
                    <a:pt x="184475" y="188494"/>
                    <a:pt x="188873" y="189177"/>
                  </a:cubicBezTo>
                  <a:cubicBezTo>
                    <a:pt x="193271" y="189859"/>
                    <a:pt x="197753" y="188664"/>
                    <a:pt x="201227" y="185882"/>
                  </a:cubicBezTo>
                  <a:lnTo>
                    <a:pt x="258885" y="139750"/>
                  </a:lnTo>
                  <a:lnTo>
                    <a:pt x="316781" y="261940"/>
                  </a:lnTo>
                  <a:cubicBezTo>
                    <a:pt x="319111" y="266858"/>
                    <a:pt x="318758" y="272627"/>
                    <a:pt x="315847" y="277225"/>
                  </a:cubicBezTo>
                  <a:cubicBezTo>
                    <a:pt x="312936" y="281824"/>
                    <a:pt x="307872" y="284610"/>
                    <a:pt x="302430" y="284609"/>
                  </a:cubicBezTo>
                  <a:lnTo>
                    <a:pt x="16680" y="284609"/>
                  </a:lnTo>
                  <a:cubicBezTo>
                    <a:pt x="11238" y="284610"/>
                    <a:pt x="6175" y="281824"/>
                    <a:pt x="3264" y="277225"/>
                  </a:cubicBezTo>
                  <a:cubicBezTo>
                    <a:pt x="353" y="272627"/>
                    <a:pt x="0" y="266858"/>
                    <a:pt x="2329" y="261940"/>
                  </a:cubicBezTo>
                  <a:close/>
                  <a:moveTo>
                    <a:pt x="159555" y="2"/>
                  </a:moveTo>
                  <a:cubicBezTo>
                    <a:pt x="179807" y="0"/>
                    <a:pt x="198245" y="11670"/>
                    <a:pt x="206910" y="29974"/>
                  </a:cubicBezTo>
                  <a:lnTo>
                    <a:pt x="244915" y="110254"/>
                  </a:lnTo>
                  <a:lnTo>
                    <a:pt x="194909" y="150259"/>
                  </a:lnTo>
                  <a:lnTo>
                    <a:pt x="172763" y="117048"/>
                  </a:lnTo>
                  <a:lnTo>
                    <a:pt x="171573" y="115477"/>
                  </a:lnTo>
                  <a:cubicBezTo>
                    <a:pt x="168688" y="112139"/>
                    <a:pt x="164544" y="110152"/>
                    <a:pt x="160135" y="109992"/>
                  </a:cubicBezTo>
                  <a:cubicBezTo>
                    <a:pt x="155727" y="109832"/>
                    <a:pt x="151450" y="111515"/>
                    <a:pt x="148332" y="114635"/>
                  </a:cubicBezTo>
                  <a:lnTo>
                    <a:pt x="121170" y="141766"/>
                  </a:lnTo>
                  <a:lnTo>
                    <a:pt x="100516" y="115937"/>
                  </a:lnTo>
                  <a:lnTo>
                    <a:pt x="82244" y="93157"/>
                  </a:lnTo>
                  <a:lnTo>
                    <a:pt x="112216" y="29974"/>
                  </a:lnTo>
                  <a:cubicBezTo>
                    <a:pt x="120879" y="11675"/>
                    <a:pt x="139310" y="6"/>
                    <a:pt x="159555" y="2"/>
                  </a:cubicBezTo>
                </a:path>
              </a:pathLst>
            </a:custGeom>
            <a:solidFill>
              <a:srgbClr val="00B96B"/>
            </a:solidFill>
            <a:ln>
              <a:noFill/>
            </a:ln>
          </p:spPr>
        </p:sp>
        <p:sp>
          <p:nvSpPr>
            <p:cNvPr id="10" name="TextBox 10"/>
            <p:cNvSpPr txBox="1"/>
            <p:nvPr/>
          </p:nvSpPr>
          <p:spPr>
            <a:xfrm>
              <a:off x="1508760" y="2204085"/>
              <a:ext cx="731520"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景点数据</a:t>
              </a:r>
            </a:p>
          </p:txBody>
        </p:sp>
        <p:sp>
          <p:nvSpPr>
            <p:cNvPr id="11" name="TextBox 11"/>
            <p:cNvSpPr txBox="1"/>
            <p:nvPr/>
          </p:nvSpPr>
          <p:spPr>
            <a:xfrm>
              <a:off x="899160" y="2594610"/>
              <a:ext cx="847373" cy="853440"/>
            </a:xfrm>
            <a:prstGeom prst="rect">
              <a:avLst/>
            </a:prstGeom>
            <a:noFill/>
            <a:ln>
              <a:noFill/>
            </a:ln>
          </p:spPr>
          <p:txBody>
            <a:bodyPr wrap="none" lIns="0" tIns="0" rIns="0" bIns="0" anchor="t" anchorCtr="0">
              <a:spAutoFit/>
            </a:bodyPr>
            <a:lstStyle/>
            <a:p>
              <a:pPr algn="l"/>
              <a:r>
                <a:rPr lang="zh-CN" sz="4200" b="1" dirty="0">
                  <a:solidFill>
                    <a:srgbClr val="00B96B"/>
                  </a:solidFill>
                  <a:latin typeface="Georgia"/>
                  <a:ea typeface="Microsoft YaHei"/>
                  <a:cs typeface="Georgia"/>
                </a:rPr>
                <a:t>117</a:t>
              </a:r>
            </a:p>
          </p:txBody>
        </p:sp>
        <p:sp>
          <p:nvSpPr>
            <p:cNvPr id="12" name="TextBox 12"/>
            <p:cNvSpPr txBox="1"/>
            <p:nvPr/>
          </p:nvSpPr>
          <p:spPr>
            <a:xfrm>
              <a:off x="2362200" y="2886075"/>
              <a:ext cx="695325" cy="304800"/>
            </a:xfrm>
            <a:prstGeom prst="rect">
              <a:avLst/>
            </a:prstGeom>
            <a:noFill/>
            <a:ln>
              <a:noFill/>
            </a:ln>
          </p:spPr>
          <p:txBody>
            <a:bodyPr wrap="none" lIns="0" tIns="0" rIns="0" bIns="0" anchor="t" anchorCtr="0">
              <a:spAutoFit/>
            </a:bodyPr>
            <a:lstStyle/>
            <a:p>
              <a:pPr algn="l"/>
              <a:r>
                <a:rPr lang="zh-CN" sz="1500" dirty="0">
                  <a:solidFill>
                    <a:srgbClr val="1A1A2E"/>
                  </a:solidFill>
                  <a:latin typeface="Arial"/>
                  <a:ea typeface="Microsoft YaHei"/>
                  <a:cs typeface="Arial"/>
                </a:rPr>
                <a:t>个景点</a:t>
              </a:r>
            </a:p>
          </p:txBody>
        </p:sp>
        <p:sp>
          <p:nvSpPr>
            <p:cNvPr id="13" name="TextBox 13"/>
            <p:cNvSpPr txBox="1"/>
            <p:nvPr/>
          </p:nvSpPr>
          <p:spPr>
            <a:xfrm>
              <a:off x="939165" y="3315652"/>
              <a:ext cx="1560195"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覆盖贵州主要旅游城市</a:t>
              </a:r>
            </a:p>
          </p:txBody>
        </p:sp>
      </p:grpSp>
      <p:grpSp>
        <p:nvGrpSpPr>
          <p:cNvPr id="25" name="Group 25"/>
          <p:cNvGrpSpPr/>
          <p:nvPr/>
        </p:nvGrpSpPr>
        <p:grpSpPr>
          <a:xfrm>
            <a:off x="6381750" y="1619250"/>
            <a:ext cx="5238750" cy="2095500"/>
            <a:chOff x="6381750" y="1619250"/>
            <a:chExt cx="5238750" cy="2095500"/>
          </a:xfrm>
        </p:grpSpPr>
        <p:sp>
          <p:nvSpPr>
            <p:cNvPr id="15" name="Rectangle 15"/>
            <p:cNvSpPr/>
            <p:nvPr/>
          </p:nvSpPr>
          <p:spPr>
            <a:xfrm>
              <a:off x="6381750" y="1619250"/>
              <a:ext cx="5238750" cy="2095500"/>
            </a:xfrm>
            <a:prstGeom prst="roundRect">
              <a:avLst>
                <a:gd name="adj" fmla="val 5455"/>
              </a:avLst>
            </a:prstGeom>
            <a:solidFill>
              <a:srgbClr val="FFFFFF"/>
            </a:solidFill>
            <a:ln>
              <a:noFill/>
            </a:ln>
          </p:spPr>
        </p:sp>
        <p:sp>
          <p:nvSpPr>
            <p:cNvPr id="16" name="Rectangle 16"/>
            <p:cNvSpPr/>
            <p:nvPr/>
          </p:nvSpPr>
          <p:spPr>
            <a:xfrm>
              <a:off x="6381750" y="1619250"/>
              <a:ext cx="57150" cy="2095500"/>
            </a:xfrm>
            <a:prstGeom prst="roundRect">
              <a:avLst>
                <a:gd name="adj" fmla="val 50000"/>
              </a:avLst>
            </a:prstGeom>
            <a:solidFill>
              <a:srgbClr val="36CFC9"/>
            </a:solidFill>
            <a:ln>
              <a:noFill/>
            </a:ln>
          </p:spPr>
        </p:sp>
        <p:grpSp>
          <p:nvGrpSpPr>
            <p:cNvPr id="20" name="Group 20"/>
            <p:cNvGrpSpPr/>
            <p:nvPr/>
          </p:nvGrpSpPr>
          <p:grpSpPr>
            <a:xfrm>
              <a:off x="6789214" y="2042589"/>
              <a:ext cx="312197" cy="296323"/>
              <a:chOff x="6789214" y="2042589"/>
              <a:chExt cx="312197" cy="296323"/>
            </a:xfrm>
          </p:grpSpPr>
          <p:sp>
            <p:nvSpPr>
              <p:cNvPr id="17" name="Freeform 17"/>
              <p:cNvSpPr/>
              <p:nvPr/>
            </p:nvSpPr>
            <p:spPr>
              <a:xfrm>
                <a:off x="7000875" y="2233089"/>
                <a:ext cx="100536" cy="105823"/>
              </a:xfrm>
              <a:custGeom>
                <a:avLst/>
                <a:gdLst/>
                <a:ahLst/>
                <a:cxnLst/>
                <a:rect l="l" t="t" r="r" b="b"/>
                <a:pathLst>
                  <a:path w="100536" h="105823">
                    <a:moveTo>
                      <a:pt x="15875" y="68786"/>
                    </a:moveTo>
                    <a:cubicBezTo>
                      <a:pt x="7107" y="68786"/>
                      <a:pt x="0" y="61679"/>
                      <a:pt x="0" y="52911"/>
                    </a:cubicBezTo>
                    <a:cubicBezTo>
                      <a:pt x="0" y="44144"/>
                      <a:pt x="7107" y="37036"/>
                      <a:pt x="15875" y="37036"/>
                    </a:cubicBezTo>
                    <a:cubicBezTo>
                      <a:pt x="24643" y="37036"/>
                      <a:pt x="31750" y="29929"/>
                      <a:pt x="31750" y="21161"/>
                    </a:cubicBezTo>
                    <a:cubicBezTo>
                      <a:pt x="31750" y="0"/>
                      <a:pt x="63500" y="0"/>
                      <a:pt x="63500" y="21161"/>
                    </a:cubicBezTo>
                    <a:cubicBezTo>
                      <a:pt x="63500" y="29929"/>
                      <a:pt x="70607" y="37036"/>
                      <a:pt x="79375" y="37036"/>
                    </a:cubicBezTo>
                    <a:cubicBezTo>
                      <a:pt x="100536" y="37036"/>
                      <a:pt x="100536" y="68786"/>
                      <a:pt x="79375" y="68786"/>
                    </a:cubicBezTo>
                    <a:cubicBezTo>
                      <a:pt x="70607" y="68786"/>
                      <a:pt x="63500" y="75894"/>
                      <a:pt x="63500" y="84661"/>
                    </a:cubicBezTo>
                    <a:cubicBezTo>
                      <a:pt x="63500" y="105823"/>
                      <a:pt x="31750" y="105823"/>
                      <a:pt x="31750" y="84661"/>
                    </a:cubicBezTo>
                    <a:cubicBezTo>
                      <a:pt x="31750" y="75894"/>
                      <a:pt x="24643" y="68786"/>
                      <a:pt x="15875" y="68786"/>
                    </a:cubicBezTo>
                  </a:path>
                </a:pathLst>
              </a:custGeom>
              <a:solidFill>
                <a:srgbClr val="36CFC9"/>
              </a:solidFill>
              <a:ln>
                <a:noFill/>
              </a:ln>
            </p:spPr>
          </p:sp>
          <p:sp>
            <p:nvSpPr>
              <p:cNvPr id="18" name="Freeform 18"/>
              <p:cNvSpPr/>
              <p:nvPr/>
            </p:nvSpPr>
            <p:spPr>
              <a:xfrm>
                <a:off x="6789214" y="2074339"/>
                <a:ext cx="232823" cy="227536"/>
              </a:xfrm>
              <a:custGeom>
                <a:avLst/>
                <a:gdLst/>
                <a:ahLst/>
                <a:cxnLst/>
                <a:rect l="l" t="t" r="r" b="b"/>
                <a:pathLst>
                  <a:path w="232823" h="227536">
                    <a:moveTo>
                      <a:pt x="21161" y="100536"/>
                    </a:moveTo>
                    <a:cubicBezTo>
                      <a:pt x="64999" y="100536"/>
                      <a:pt x="100536" y="64999"/>
                      <a:pt x="100536" y="21161"/>
                    </a:cubicBezTo>
                    <a:cubicBezTo>
                      <a:pt x="100536" y="0"/>
                      <a:pt x="132286" y="0"/>
                      <a:pt x="132286" y="21161"/>
                    </a:cubicBezTo>
                    <a:cubicBezTo>
                      <a:pt x="132286" y="64999"/>
                      <a:pt x="167824" y="100536"/>
                      <a:pt x="211661" y="100536"/>
                    </a:cubicBezTo>
                    <a:cubicBezTo>
                      <a:pt x="232823" y="100536"/>
                      <a:pt x="232823" y="132286"/>
                      <a:pt x="211661" y="132286"/>
                    </a:cubicBezTo>
                    <a:cubicBezTo>
                      <a:pt x="167824" y="132286"/>
                      <a:pt x="132286" y="167824"/>
                      <a:pt x="132286" y="211661"/>
                    </a:cubicBezTo>
                    <a:cubicBezTo>
                      <a:pt x="132286" y="220429"/>
                      <a:pt x="125179" y="227536"/>
                      <a:pt x="116411" y="227536"/>
                    </a:cubicBezTo>
                    <a:cubicBezTo>
                      <a:pt x="107644" y="227536"/>
                      <a:pt x="100536" y="220429"/>
                      <a:pt x="100536" y="211661"/>
                    </a:cubicBezTo>
                    <a:cubicBezTo>
                      <a:pt x="100536" y="167824"/>
                      <a:pt x="64999" y="132286"/>
                      <a:pt x="21161" y="132286"/>
                    </a:cubicBezTo>
                    <a:cubicBezTo>
                      <a:pt x="0" y="132286"/>
                      <a:pt x="0" y="100536"/>
                      <a:pt x="21161" y="100536"/>
                    </a:cubicBezTo>
                  </a:path>
                </a:pathLst>
              </a:custGeom>
              <a:solidFill>
                <a:srgbClr val="36CFC9"/>
              </a:solidFill>
              <a:ln>
                <a:noFill/>
              </a:ln>
            </p:spPr>
          </p:sp>
          <p:sp>
            <p:nvSpPr>
              <p:cNvPr id="19" name="Freeform 19"/>
              <p:cNvSpPr/>
              <p:nvPr/>
            </p:nvSpPr>
            <p:spPr>
              <a:xfrm>
                <a:off x="7000875" y="2042589"/>
                <a:ext cx="100536" cy="105823"/>
              </a:xfrm>
              <a:custGeom>
                <a:avLst/>
                <a:gdLst/>
                <a:ahLst/>
                <a:cxnLst/>
                <a:rect l="l" t="t" r="r" b="b"/>
                <a:pathLst>
                  <a:path w="100536" h="105823">
                    <a:moveTo>
                      <a:pt x="15875" y="68786"/>
                    </a:moveTo>
                    <a:cubicBezTo>
                      <a:pt x="7107" y="68786"/>
                      <a:pt x="0" y="61679"/>
                      <a:pt x="0" y="52911"/>
                    </a:cubicBezTo>
                    <a:cubicBezTo>
                      <a:pt x="0" y="44144"/>
                      <a:pt x="7107" y="37036"/>
                      <a:pt x="15875" y="37036"/>
                    </a:cubicBezTo>
                    <a:cubicBezTo>
                      <a:pt x="24643" y="37036"/>
                      <a:pt x="31750" y="29929"/>
                      <a:pt x="31750" y="21161"/>
                    </a:cubicBezTo>
                    <a:cubicBezTo>
                      <a:pt x="31750" y="0"/>
                      <a:pt x="63500" y="0"/>
                      <a:pt x="63500" y="21161"/>
                    </a:cubicBezTo>
                    <a:cubicBezTo>
                      <a:pt x="63500" y="29929"/>
                      <a:pt x="70607" y="37036"/>
                      <a:pt x="79375" y="37036"/>
                    </a:cubicBezTo>
                    <a:cubicBezTo>
                      <a:pt x="100536" y="37036"/>
                      <a:pt x="100536" y="68786"/>
                      <a:pt x="79375" y="68786"/>
                    </a:cubicBezTo>
                    <a:cubicBezTo>
                      <a:pt x="70607" y="68786"/>
                      <a:pt x="63500" y="75894"/>
                      <a:pt x="63500" y="84661"/>
                    </a:cubicBezTo>
                    <a:cubicBezTo>
                      <a:pt x="63500" y="105823"/>
                      <a:pt x="31750" y="105823"/>
                      <a:pt x="31750" y="84661"/>
                    </a:cubicBezTo>
                    <a:cubicBezTo>
                      <a:pt x="31750" y="75894"/>
                      <a:pt x="24643" y="68786"/>
                      <a:pt x="15875" y="68786"/>
                    </a:cubicBezTo>
                  </a:path>
                </a:pathLst>
              </a:custGeom>
              <a:solidFill>
                <a:srgbClr val="36CFC9"/>
              </a:solidFill>
              <a:ln>
                <a:noFill/>
              </a:ln>
            </p:spPr>
          </p:sp>
        </p:grpSp>
        <p:sp>
          <p:nvSpPr>
            <p:cNvPr id="21" name="TextBox 21"/>
            <p:cNvSpPr txBox="1"/>
            <p:nvPr/>
          </p:nvSpPr>
          <p:spPr>
            <a:xfrm>
              <a:off x="7319010" y="2204085"/>
              <a:ext cx="731520"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意图分类</a:t>
              </a:r>
            </a:p>
          </p:txBody>
        </p:sp>
        <p:sp>
          <p:nvSpPr>
            <p:cNvPr id="22" name="TextBox 22"/>
            <p:cNvSpPr txBox="1"/>
            <p:nvPr/>
          </p:nvSpPr>
          <p:spPr>
            <a:xfrm>
              <a:off x="6709410" y="2594610"/>
              <a:ext cx="460924" cy="853440"/>
            </a:xfrm>
            <a:prstGeom prst="rect">
              <a:avLst/>
            </a:prstGeom>
            <a:noFill/>
            <a:ln>
              <a:noFill/>
            </a:ln>
          </p:spPr>
          <p:txBody>
            <a:bodyPr wrap="none" lIns="0" tIns="0" rIns="0" bIns="0" anchor="t" anchorCtr="0">
              <a:spAutoFit/>
            </a:bodyPr>
            <a:lstStyle/>
            <a:p>
              <a:pPr algn="l"/>
              <a:r>
                <a:rPr lang="zh-CN" sz="4200" b="1" dirty="0">
                  <a:solidFill>
                    <a:srgbClr val="36CFC9"/>
                  </a:solidFill>
                  <a:latin typeface="Georgia"/>
                  <a:ea typeface="Microsoft YaHei"/>
                  <a:cs typeface="Georgia"/>
                </a:rPr>
                <a:t>5</a:t>
              </a:r>
            </a:p>
          </p:txBody>
        </p:sp>
        <p:sp>
          <p:nvSpPr>
            <p:cNvPr id="23" name="TextBox 23"/>
            <p:cNvSpPr txBox="1"/>
            <p:nvPr/>
          </p:nvSpPr>
          <p:spPr>
            <a:xfrm>
              <a:off x="7219950" y="2886075"/>
              <a:ext cx="695325" cy="304800"/>
            </a:xfrm>
            <a:prstGeom prst="rect">
              <a:avLst/>
            </a:prstGeom>
            <a:noFill/>
            <a:ln>
              <a:noFill/>
            </a:ln>
          </p:spPr>
          <p:txBody>
            <a:bodyPr wrap="none" lIns="0" tIns="0" rIns="0" bIns="0" anchor="t" anchorCtr="0">
              <a:spAutoFit/>
            </a:bodyPr>
            <a:lstStyle/>
            <a:p>
              <a:pPr algn="l"/>
              <a:r>
                <a:rPr lang="zh-CN" sz="1500" dirty="0">
                  <a:solidFill>
                    <a:srgbClr val="1A1A2E"/>
                  </a:solidFill>
                  <a:latin typeface="Arial"/>
                  <a:ea typeface="Microsoft YaHei"/>
                  <a:cs typeface="Arial"/>
                </a:rPr>
                <a:t>种意图</a:t>
              </a:r>
            </a:p>
          </p:txBody>
        </p:sp>
        <p:sp>
          <p:nvSpPr>
            <p:cNvPr id="24" name="TextBox 24"/>
            <p:cNvSpPr txBox="1"/>
            <p:nvPr/>
          </p:nvSpPr>
          <p:spPr>
            <a:xfrm>
              <a:off x="6749415" y="3315652"/>
              <a:ext cx="1897570"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门票/交通/时间/推荐/综合</a:t>
              </a:r>
            </a:p>
          </p:txBody>
        </p:sp>
      </p:grpSp>
      <p:grpSp>
        <p:nvGrpSpPr>
          <p:cNvPr id="36" name="Group 36"/>
          <p:cNvGrpSpPr/>
          <p:nvPr/>
        </p:nvGrpSpPr>
        <p:grpSpPr>
          <a:xfrm>
            <a:off x="571500" y="4000500"/>
            <a:ext cx="5238750" cy="2095500"/>
            <a:chOff x="571500" y="4000500"/>
            <a:chExt cx="5238750" cy="2095500"/>
          </a:xfrm>
        </p:grpSpPr>
        <p:sp>
          <p:nvSpPr>
            <p:cNvPr id="26" name="Rectangle 26"/>
            <p:cNvSpPr/>
            <p:nvPr/>
          </p:nvSpPr>
          <p:spPr>
            <a:xfrm>
              <a:off x="571500" y="4000500"/>
              <a:ext cx="5238750" cy="2095500"/>
            </a:xfrm>
            <a:prstGeom prst="roundRect">
              <a:avLst>
                <a:gd name="adj" fmla="val 5455"/>
              </a:avLst>
            </a:prstGeom>
            <a:solidFill>
              <a:srgbClr val="FFFFFF"/>
            </a:solidFill>
            <a:ln>
              <a:noFill/>
            </a:ln>
          </p:spPr>
        </p:sp>
        <p:sp>
          <p:nvSpPr>
            <p:cNvPr id="27" name="Rectangle 27"/>
            <p:cNvSpPr/>
            <p:nvPr/>
          </p:nvSpPr>
          <p:spPr>
            <a:xfrm>
              <a:off x="571500" y="4000500"/>
              <a:ext cx="57150" cy="2095500"/>
            </a:xfrm>
            <a:prstGeom prst="roundRect">
              <a:avLst>
                <a:gd name="adj" fmla="val 50000"/>
              </a:avLst>
            </a:prstGeom>
            <a:solidFill>
              <a:srgbClr val="FA8C16"/>
            </a:solidFill>
            <a:ln>
              <a:noFill/>
            </a:ln>
          </p:spPr>
        </p:sp>
        <p:grpSp>
          <p:nvGrpSpPr>
            <p:cNvPr id="31" name="Group 31"/>
            <p:cNvGrpSpPr/>
            <p:nvPr/>
          </p:nvGrpSpPr>
          <p:grpSpPr>
            <a:xfrm>
              <a:off x="1000124" y="4413250"/>
              <a:ext cx="285751" cy="317500"/>
              <a:chOff x="1000124" y="4413250"/>
              <a:chExt cx="285751" cy="317500"/>
            </a:xfrm>
          </p:grpSpPr>
          <p:sp>
            <p:nvSpPr>
              <p:cNvPr id="28" name="Freeform 28"/>
              <p:cNvSpPr/>
              <p:nvPr/>
            </p:nvSpPr>
            <p:spPr>
              <a:xfrm>
                <a:off x="1000125" y="4631230"/>
                <a:ext cx="285750" cy="99520"/>
              </a:xfrm>
              <a:custGeom>
                <a:avLst/>
                <a:gdLst/>
                <a:ahLst/>
                <a:cxnLst/>
                <a:rect l="l" t="t" r="r" b="b"/>
                <a:pathLst>
                  <a:path w="285750" h="99520">
                    <a:moveTo>
                      <a:pt x="0" y="0"/>
                    </a:moveTo>
                    <a:cubicBezTo>
                      <a:pt x="31242" y="23924"/>
                      <a:pt x="83090" y="36020"/>
                      <a:pt x="142875" y="36020"/>
                    </a:cubicBezTo>
                    <a:cubicBezTo>
                      <a:pt x="202565" y="36020"/>
                      <a:pt x="254397" y="23955"/>
                      <a:pt x="285750" y="270"/>
                    </a:cubicBezTo>
                    <a:lnTo>
                      <a:pt x="285750" y="36020"/>
                    </a:lnTo>
                    <a:cubicBezTo>
                      <a:pt x="285750" y="74517"/>
                      <a:pt x="223917" y="98504"/>
                      <a:pt x="147749" y="99489"/>
                    </a:cubicBezTo>
                    <a:lnTo>
                      <a:pt x="142875" y="99520"/>
                    </a:lnTo>
                    <a:cubicBezTo>
                      <a:pt x="64484" y="99520"/>
                      <a:pt x="0" y="75343"/>
                      <a:pt x="0" y="36020"/>
                    </a:cubicBezTo>
                    <a:close/>
                  </a:path>
                </a:pathLst>
              </a:custGeom>
              <a:solidFill>
                <a:srgbClr val="FA8C16"/>
              </a:solidFill>
              <a:ln>
                <a:noFill/>
              </a:ln>
            </p:spPr>
          </p:sp>
          <p:sp>
            <p:nvSpPr>
              <p:cNvPr id="29" name="Freeform 29"/>
              <p:cNvSpPr/>
              <p:nvPr/>
            </p:nvSpPr>
            <p:spPr>
              <a:xfrm>
                <a:off x="1000125" y="4535980"/>
                <a:ext cx="285750" cy="99520"/>
              </a:xfrm>
              <a:custGeom>
                <a:avLst/>
                <a:gdLst/>
                <a:ahLst/>
                <a:cxnLst/>
                <a:rect l="l" t="t" r="r" b="b"/>
                <a:pathLst>
                  <a:path w="285750" h="99520">
                    <a:moveTo>
                      <a:pt x="0" y="0"/>
                    </a:moveTo>
                    <a:cubicBezTo>
                      <a:pt x="31242" y="23924"/>
                      <a:pt x="83090" y="36020"/>
                      <a:pt x="142875" y="36020"/>
                    </a:cubicBezTo>
                    <a:cubicBezTo>
                      <a:pt x="202565" y="36020"/>
                      <a:pt x="254397" y="23955"/>
                      <a:pt x="285750" y="270"/>
                    </a:cubicBezTo>
                    <a:lnTo>
                      <a:pt x="285750" y="36020"/>
                    </a:lnTo>
                    <a:cubicBezTo>
                      <a:pt x="285750" y="75343"/>
                      <a:pt x="221266" y="99520"/>
                      <a:pt x="142875" y="99520"/>
                    </a:cubicBezTo>
                    <a:cubicBezTo>
                      <a:pt x="66707" y="99520"/>
                      <a:pt x="3651" y="76692"/>
                      <a:pt x="333" y="39275"/>
                    </a:cubicBezTo>
                    <a:lnTo>
                      <a:pt x="79" y="37671"/>
                    </a:lnTo>
                    <a:lnTo>
                      <a:pt x="0" y="36020"/>
                    </a:lnTo>
                    <a:close/>
                  </a:path>
                </a:pathLst>
              </a:custGeom>
              <a:solidFill>
                <a:srgbClr val="FA8C16"/>
              </a:solidFill>
              <a:ln>
                <a:noFill/>
              </a:ln>
            </p:spPr>
          </p:sp>
          <p:sp>
            <p:nvSpPr>
              <p:cNvPr id="30" name="Freeform 30"/>
              <p:cNvSpPr/>
              <p:nvPr/>
            </p:nvSpPr>
            <p:spPr>
              <a:xfrm>
                <a:off x="1000124" y="4413250"/>
                <a:ext cx="285751" cy="127000"/>
              </a:xfrm>
              <a:custGeom>
                <a:avLst/>
                <a:gdLst/>
                <a:ahLst/>
                <a:cxnLst/>
                <a:rect l="l" t="t" r="r" b="b"/>
                <a:pathLst>
                  <a:path w="285751" h="127000">
                    <a:moveTo>
                      <a:pt x="142876" y="0"/>
                    </a:moveTo>
                    <a:cubicBezTo>
                      <a:pt x="159402" y="0"/>
                      <a:pt x="175325" y="1080"/>
                      <a:pt x="190136" y="3143"/>
                    </a:cubicBezTo>
                    <a:lnTo>
                      <a:pt x="197581" y="4270"/>
                    </a:lnTo>
                    <a:cubicBezTo>
                      <a:pt x="206471" y="5752"/>
                      <a:pt x="214864" y="7594"/>
                      <a:pt x="222759" y="9795"/>
                    </a:cubicBezTo>
                    <a:lnTo>
                      <a:pt x="229744" y="11875"/>
                    </a:lnTo>
                    <a:lnTo>
                      <a:pt x="230935" y="12256"/>
                    </a:lnTo>
                    <a:cubicBezTo>
                      <a:pt x="235255" y="13676"/>
                      <a:pt x="239518" y="15265"/>
                      <a:pt x="243714" y="17018"/>
                    </a:cubicBezTo>
                    <a:lnTo>
                      <a:pt x="246873" y="18383"/>
                    </a:lnTo>
                    <a:cubicBezTo>
                      <a:pt x="252535" y="20944"/>
                      <a:pt x="257652" y="23749"/>
                      <a:pt x="262224" y="26797"/>
                    </a:cubicBezTo>
                    <a:cubicBezTo>
                      <a:pt x="263971" y="27961"/>
                      <a:pt x="265627" y="29152"/>
                      <a:pt x="267193" y="30369"/>
                    </a:cubicBezTo>
                    <a:cubicBezTo>
                      <a:pt x="271161" y="33448"/>
                      <a:pt x="274729" y="37010"/>
                      <a:pt x="277814" y="40973"/>
                    </a:cubicBezTo>
                    <a:lnTo>
                      <a:pt x="279258" y="43005"/>
                    </a:lnTo>
                    <a:cubicBezTo>
                      <a:pt x="279999" y="44117"/>
                      <a:pt x="280682" y="45233"/>
                      <a:pt x="281306" y="46355"/>
                    </a:cubicBezTo>
                    <a:lnTo>
                      <a:pt x="282417" y="48562"/>
                    </a:lnTo>
                    <a:cubicBezTo>
                      <a:pt x="284143" y="52266"/>
                      <a:pt x="285201" y="56129"/>
                      <a:pt x="285592" y="60150"/>
                    </a:cubicBezTo>
                    <a:lnTo>
                      <a:pt x="285751" y="63500"/>
                    </a:lnTo>
                    <a:cubicBezTo>
                      <a:pt x="285751" y="102822"/>
                      <a:pt x="221267" y="127000"/>
                      <a:pt x="142876" y="127000"/>
                    </a:cubicBezTo>
                    <a:cubicBezTo>
                      <a:pt x="66708" y="127000"/>
                      <a:pt x="3652" y="104172"/>
                      <a:pt x="335" y="66754"/>
                    </a:cubicBezTo>
                    <a:cubicBezTo>
                      <a:pt x="112" y="65684"/>
                      <a:pt x="0" y="64593"/>
                      <a:pt x="1" y="63500"/>
                    </a:cubicBezTo>
                    <a:lnTo>
                      <a:pt x="81" y="61849"/>
                    </a:lnTo>
                    <a:lnTo>
                      <a:pt x="335" y="60262"/>
                    </a:lnTo>
                    <a:cubicBezTo>
                      <a:pt x="3589" y="23654"/>
                      <a:pt x="63993" y="1000"/>
                      <a:pt x="137923" y="32"/>
                    </a:cubicBezTo>
                    <a:close/>
                  </a:path>
                </a:pathLst>
              </a:custGeom>
              <a:solidFill>
                <a:srgbClr val="FA8C16"/>
              </a:solidFill>
              <a:ln>
                <a:noFill/>
              </a:ln>
            </p:spPr>
          </p:sp>
        </p:grpSp>
        <p:sp>
          <p:nvSpPr>
            <p:cNvPr id="32" name="TextBox 32"/>
            <p:cNvSpPr txBox="1"/>
            <p:nvPr/>
          </p:nvSpPr>
          <p:spPr>
            <a:xfrm>
              <a:off x="1508760" y="4585335"/>
              <a:ext cx="556260"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数据表</a:t>
              </a:r>
            </a:p>
          </p:txBody>
        </p:sp>
        <p:sp>
          <p:nvSpPr>
            <p:cNvPr id="33" name="TextBox 33"/>
            <p:cNvSpPr txBox="1"/>
            <p:nvPr/>
          </p:nvSpPr>
          <p:spPr>
            <a:xfrm>
              <a:off x="899160" y="4975860"/>
              <a:ext cx="460924" cy="853440"/>
            </a:xfrm>
            <a:prstGeom prst="rect">
              <a:avLst/>
            </a:prstGeom>
            <a:noFill/>
            <a:ln>
              <a:noFill/>
            </a:ln>
          </p:spPr>
          <p:txBody>
            <a:bodyPr wrap="none" lIns="0" tIns="0" rIns="0" bIns="0" anchor="t" anchorCtr="0">
              <a:spAutoFit/>
            </a:bodyPr>
            <a:lstStyle/>
            <a:p>
              <a:pPr algn="l"/>
              <a:r>
                <a:rPr lang="zh-CN" sz="4200" b="1" dirty="0">
                  <a:solidFill>
                    <a:srgbClr val="FA8C16"/>
                  </a:solidFill>
                  <a:latin typeface="Georgia"/>
                  <a:ea typeface="Microsoft YaHei"/>
                  <a:cs typeface="Georgia"/>
                </a:rPr>
                <a:t>6</a:t>
              </a:r>
            </a:p>
          </p:txBody>
        </p:sp>
        <p:sp>
          <p:nvSpPr>
            <p:cNvPr id="34" name="TextBox 34"/>
            <p:cNvSpPr txBox="1"/>
            <p:nvPr/>
          </p:nvSpPr>
          <p:spPr>
            <a:xfrm>
              <a:off x="1409700" y="5267325"/>
              <a:ext cx="476250" cy="304800"/>
            </a:xfrm>
            <a:prstGeom prst="rect">
              <a:avLst/>
            </a:prstGeom>
            <a:noFill/>
            <a:ln>
              <a:noFill/>
            </a:ln>
          </p:spPr>
          <p:txBody>
            <a:bodyPr wrap="none" lIns="0" tIns="0" rIns="0" bIns="0" anchor="t" anchorCtr="0">
              <a:spAutoFit/>
            </a:bodyPr>
            <a:lstStyle/>
            <a:p>
              <a:pPr algn="l"/>
              <a:r>
                <a:rPr lang="zh-CN" sz="1500" dirty="0">
                  <a:solidFill>
                    <a:srgbClr val="1A1A2E"/>
                  </a:solidFill>
                  <a:latin typeface="Arial"/>
                  <a:ea typeface="Microsoft YaHei"/>
                  <a:cs typeface="Arial"/>
                </a:rPr>
                <a:t>张表</a:t>
              </a:r>
            </a:p>
          </p:txBody>
        </p:sp>
        <p:sp>
          <p:nvSpPr>
            <p:cNvPr id="35" name="TextBox 35"/>
            <p:cNvSpPr txBox="1"/>
            <p:nvPr/>
          </p:nvSpPr>
          <p:spPr>
            <a:xfrm>
              <a:off x="939165" y="5696902"/>
              <a:ext cx="1897570"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景点/图片/攻略/路线/收藏</a:t>
              </a:r>
            </a:p>
          </p:txBody>
        </p:sp>
      </p:grpSp>
      <p:grpSp>
        <p:nvGrpSpPr>
          <p:cNvPr id="44" name="Group 44"/>
          <p:cNvGrpSpPr/>
          <p:nvPr/>
        </p:nvGrpSpPr>
        <p:grpSpPr>
          <a:xfrm>
            <a:off x="6381750" y="4000500"/>
            <a:ext cx="5238750" cy="2095500"/>
            <a:chOff x="6381750" y="4000500"/>
            <a:chExt cx="5238750" cy="2095500"/>
          </a:xfrm>
        </p:grpSpPr>
        <p:sp>
          <p:nvSpPr>
            <p:cNvPr id="37" name="Rectangle 37"/>
            <p:cNvSpPr/>
            <p:nvPr/>
          </p:nvSpPr>
          <p:spPr>
            <a:xfrm>
              <a:off x="6381750" y="4000500"/>
              <a:ext cx="5238750" cy="2095500"/>
            </a:xfrm>
            <a:prstGeom prst="roundRect">
              <a:avLst>
                <a:gd name="adj" fmla="val 5455"/>
              </a:avLst>
            </a:prstGeom>
            <a:solidFill>
              <a:srgbClr val="FFFFFF"/>
            </a:solidFill>
            <a:ln>
              <a:noFill/>
            </a:ln>
          </p:spPr>
        </p:sp>
        <p:sp>
          <p:nvSpPr>
            <p:cNvPr id="38" name="Rectangle 38"/>
            <p:cNvSpPr/>
            <p:nvPr/>
          </p:nvSpPr>
          <p:spPr>
            <a:xfrm>
              <a:off x="6381750" y="4000500"/>
              <a:ext cx="57150" cy="2095500"/>
            </a:xfrm>
            <a:prstGeom prst="roundRect">
              <a:avLst>
                <a:gd name="adj" fmla="val 50000"/>
              </a:avLst>
            </a:prstGeom>
            <a:solidFill>
              <a:srgbClr val="52C41A"/>
            </a:solidFill>
            <a:ln>
              <a:noFill/>
            </a:ln>
          </p:spPr>
        </p:sp>
        <p:sp>
          <p:nvSpPr>
            <p:cNvPr id="39" name="Freeform 39"/>
            <p:cNvSpPr/>
            <p:nvPr/>
          </p:nvSpPr>
          <p:spPr>
            <a:xfrm>
              <a:off x="6825531" y="4413250"/>
              <a:ext cx="255438" cy="323390"/>
            </a:xfrm>
            <a:custGeom>
              <a:avLst/>
              <a:gdLst/>
              <a:ahLst/>
              <a:cxnLst/>
              <a:rect l="l" t="t" r="r" b="b"/>
              <a:pathLst>
                <a:path w="255438" h="323390">
                  <a:moveTo>
                    <a:pt x="143594" y="0"/>
                  </a:moveTo>
                  <a:lnTo>
                    <a:pt x="143880" y="16"/>
                  </a:lnTo>
                  <a:lnTo>
                    <a:pt x="144134" y="32"/>
                  </a:lnTo>
                  <a:lnTo>
                    <a:pt x="145451" y="111"/>
                  </a:lnTo>
                  <a:lnTo>
                    <a:pt x="145626" y="143"/>
                  </a:lnTo>
                  <a:lnTo>
                    <a:pt x="145800" y="143"/>
                  </a:lnTo>
                  <a:lnTo>
                    <a:pt x="146404" y="286"/>
                  </a:lnTo>
                  <a:lnTo>
                    <a:pt x="147229" y="413"/>
                  </a:lnTo>
                  <a:lnTo>
                    <a:pt x="147483" y="508"/>
                  </a:lnTo>
                  <a:lnTo>
                    <a:pt x="147658" y="524"/>
                  </a:lnTo>
                  <a:lnTo>
                    <a:pt x="148118" y="698"/>
                  </a:lnTo>
                  <a:lnTo>
                    <a:pt x="148944" y="921"/>
                  </a:lnTo>
                  <a:lnTo>
                    <a:pt x="149245" y="1064"/>
                  </a:lnTo>
                  <a:lnTo>
                    <a:pt x="149483" y="1127"/>
                  </a:lnTo>
                  <a:lnTo>
                    <a:pt x="149928" y="1349"/>
                  </a:lnTo>
                  <a:lnTo>
                    <a:pt x="150563" y="1619"/>
                  </a:lnTo>
                  <a:lnTo>
                    <a:pt x="150896" y="1810"/>
                  </a:lnTo>
                  <a:lnTo>
                    <a:pt x="151246" y="1969"/>
                  </a:lnTo>
                  <a:lnTo>
                    <a:pt x="151611" y="2207"/>
                  </a:lnTo>
                  <a:lnTo>
                    <a:pt x="152103" y="2476"/>
                  </a:lnTo>
                  <a:lnTo>
                    <a:pt x="152643" y="2858"/>
                  </a:lnTo>
                  <a:lnTo>
                    <a:pt x="152928" y="3032"/>
                  </a:lnTo>
                  <a:lnTo>
                    <a:pt x="153135" y="3223"/>
                  </a:lnTo>
                  <a:lnTo>
                    <a:pt x="153516" y="3493"/>
                  </a:lnTo>
                  <a:lnTo>
                    <a:pt x="154119" y="4032"/>
                  </a:lnTo>
                  <a:lnTo>
                    <a:pt x="154468" y="4302"/>
                  </a:lnTo>
                  <a:lnTo>
                    <a:pt x="154595" y="4461"/>
                  </a:lnTo>
                  <a:lnTo>
                    <a:pt x="154817" y="4651"/>
                  </a:lnTo>
                  <a:lnTo>
                    <a:pt x="155389" y="5302"/>
                  </a:lnTo>
                  <a:lnTo>
                    <a:pt x="155802" y="5731"/>
                  </a:lnTo>
                  <a:lnTo>
                    <a:pt x="155897" y="5874"/>
                  </a:lnTo>
                  <a:cubicBezTo>
                    <a:pt x="157802" y="8207"/>
                    <a:pt x="159008" y="10986"/>
                    <a:pt x="159358" y="14018"/>
                  </a:cubicBezTo>
                  <a:lnTo>
                    <a:pt x="159374" y="14208"/>
                  </a:lnTo>
                  <a:lnTo>
                    <a:pt x="159405" y="14859"/>
                  </a:lnTo>
                  <a:lnTo>
                    <a:pt x="159469" y="15875"/>
                  </a:lnTo>
                  <a:lnTo>
                    <a:pt x="159469" y="111125"/>
                  </a:lnTo>
                  <a:lnTo>
                    <a:pt x="238844" y="111125"/>
                  </a:lnTo>
                  <a:cubicBezTo>
                    <a:pt x="244506" y="111124"/>
                    <a:pt x="249741" y="114138"/>
                    <a:pt x="252581" y="119037"/>
                  </a:cubicBezTo>
                  <a:cubicBezTo>
                    <a:pt x="255421" y="123936"/>
                    <a:pt x="255438" y="129976"/>
                    <a:pt x="252623" y="134890"/>
                  </a:cubicBezTo>
                  <a:lnTo>
                    <a:pt x="251671" y="136334"/>
                  </a:lnTo>
                  <a:lnTo>
                    <a:pt x="124671" y="310960"/>
                  </a:lnTo>
                  <a:cubicBezTo>
                    <a:pt x="115654" y="323390"/>
                    <a:pt x="95969" y="316992"/>
                    <a:pt x="95969" y="301625"/>
                  </a:cubicBezTo>
                  <a:lnTo>
                    <a:pt x="95969" y="206375"/>
                  </a:lnTo>
                  <a:lnTo>
                    <a:pt x="16594" y="206375"/>
                  </a:lnTo>
                  <a:cubicBezTo>
                    <a:pt x="10931" y="206376"/>
                    <a:pt x="5697" y="203362"/>
                    <a:pt x="2856" y="198463"/>
                  </a:cubicBezTo>
                  <a:cubicBezTo>
                    <a:pt x="16" y="193564"/>
                    <a:pt x="0" y="187524"/>
                    <a:pt x="2814" y="182610"/>
                  </a:cubicBezTo>
                  <a:lnTo>
                    <a:pt x="3767" y="181166"/>
                  </a:lnTo>
                  <a:lnTo>
                    <a:pt x="130767" y="6541"/>
                  </a:lnTo>
                  <a:lnTo>
                    <a:pt x="130926" y="6334"/>
                  </a:lnTo>
                  <a:lnTo>
                    <a:pt x="131211" y="5953"/>
                  </a:lnTo>
                  <a:lnTo>
                    <a:pt x="131735" y="5350"/>
                  </a:lnTo>
                  <a:lnTo>
                    <a:pt x="132021" y="5001"/>
                  </a:lnTo>
                  <a:lnTo>
                    <a:pt x="132164" y="4874"/>
                  </a:lnTo>
                  <a:lnTo>
                    <a:pt x="132370" y="4651"/>
                  </a:lnTo>
                  <a:lnTo>
                    <a:pt x="133005" y="4080"/>
                  </a:lnTo>
                  <a:lnTo>
                    <a:pt x="133450" y="3667"/>
                  </a:lnTo>
                  <a:lnTo>
                    <a:pt x="133577" y="3572"/>
                  </a:lnTo>
                  <a:cubicBezTo>
                    <a:pt x="135437" y="2049"/>
                    <a:pt x="137619" y="969"/>
                    <a:pt x="139958" y="413"/>
                  </a:cubicBezTo>
                  <a:lnTo>
                    <a:pt x="140133" y="397"/>
                  </a:lnTo>
                  <a:lnTo>
                    <a:pt x="140562" y="318"/>
                  </a:lnTo>
                  <a:lnTo>
                    <a:pt x="141736" y="111"/>
                  </a:lnTo>
                  <a:lnTo>
                    <a:pt x="141911" y="95"/>
                  </a:lnTo>
                  <a:lnTo>
                    <a:pt x="142562" y="63"/>
                  </a:lnTo>
                  <a:close/>
                </a:path>
              </a:pathLst>
            </a:custGeom>
            <a:solidFill>
              <a:srgbClr val="52C41A"/>
            </a:solidFill>
            <a:ln>
              <a:noFill/>
            </a:ln>
          </p:spPr>
        </p:sp>
        <p:sp>
          <p:nvSpPr>
            <p:cNvPr id="40" name="TextBox 40"/>
            <p:cNvSpPr txBox="1"/>
            <p:nvPr/>
          </p:nvSpPr>
          <p:spPr>
            <a:xfrm>
              <a:off x="7319010" y="4585335"/>
              <a:ext cx="731520" cy="243840"/>
            </a:xfrm>
            <a:prstGeom prst="rect">
              <a:avLst/>
            </a:prstGeom>
            <a:noFill/>
            <a:ln>
              <a:noFill/>
            </a:ln>
          </p:spPr>
          <p:txBody>
            <a:bodyPr wrap="none" lIns="0" tIns="0" rIns="0" bIns="0" anchor="t" anchorCtr="0">
              <a:spAutoFit/>
            </a:bodyPr>
            <a:lstStyle/>
            <a:p>
              <a:pPr algn="l"/>
              <a:r>
                <a:rPr lang="zh-CN" sz="1200" dirty="0">
                  <a:solidFill>
                    <a:srgbClr val="666666"/>
                  </a:solidFill>
                  <a:latin typeface="Arial"/>
                  <a:ea typeface="Microsoft YaHei"/>
                  <a:cs typeface="Arial"/>
                </a:rPr>
                <a:t>响应速度</a:t>
              </a:r>
            </a:p>
          </p:txBody>
        </p:sp>
        <p:sp>
          <p:nvSpPr>
            <p:cNvPr id="41" name="TextBox 41"/>
            <p:cNvSpPr txBox="1"/>
            <p:nvPr/>
          </p:nvSpPr>
          <p:spPr>
            <a:xfrm>
              <a:off x="6722745" y="5089208"/>
              <a:ext cx="756295" cy="640080"/>
            </a:xfrm>
            <a:prstGeom prst="rect">
              <a:avLst/>
            </a:prstGeom>
            <a:noFill/>
            <a:ln>
              <a:noFill/>
            </a:ln>
          </p:spPr>
          <p:txBody>
            <a:bodyPr wrap="none" lIns="0" tIns="0" rIns="0" bIns="0" anchor="t" anchorCtr="0">
              <a:spAutoFit/>
            </a:bodyPr>
            <a:lstStyle/>
            <a:p>
              <a:pPr algn="l"/>
              <a:r>
                <a:rPr lang="zh-CN" sz="3150" b="1" dirty="0">
                  <a:solidFill>
                    <a:srgbClr val="52C41A"/>
                  </a:solidFill>
                  <a:latin typeface="Georgia"/>
                  <a:ea typeface="Microsoft YaHei"/>
                  <a:cs typeface="Georgia"/>
                </a:rPr>
                <a:t>&lt;1s</a:t>
              </a:r>
            </a:p>
          </p:txBody>
        </p:sp>
        <p:sp>
          <p:nvSpPr>
            <p:cNvPr id="42" name="TextBox 42"/>
            <p:cNvSpPr txBox="1"/>
            <p:nvPr/>
          </p:nvSpPr>
          <p:spPr>
            <a:xfrm>
              <a:off x="7886700" y="5267325"/>
              <a:ext cx="695325" cy="304800"/>
            </a:xfrm>
            <a:prstGeom prst="rect">
              <a:avLst/>
            </a:prstGeom>
            <a:noFill/>
            <a:ln>
              <a:noFill/>
            </a:ln>
          </p:spPr>
          <p:txBody>
            <a:bodyPr wrap="none" lIns="0" tIns="0" rIns="0" bIns="0" anchor="t" anchorCtr="0">
              <a:spAutoFit/>
            </a:bodyPr>
            <a:lstStyle/>
            <a:p>
              <a:pPr algn="l"/>
              <a:r>
                <a:rPr lang="zh-CN" sz="1500" dirty="0">
                  <a:solidFill>
                    <a:srgbClr val="1A1A2E"/>
                  </a:solidFill>
                  <a:latin typeface="Arial"/>
                  <a:ea typeface="Microsoft YaHei"/>
                  <a:cs typeface="Arial"/>
                </a:rPr>
                <a:t>毫秒级</a:t>
              </a:r>
            </a:p>
          </p:txBody>
        </p:sp>
        <p:sp>
          <p:nvSpPr>
            <p:cNvPr id="43" name="TextBox 43"/>
            <p:cNvSpPr txBox="1"/>
            <p:nvPr/>
          </p:nvSpPr>
          <p:spPr>
            <a:xfrm>
              <a:off x="6749415" y="5696902"/>
              <a:ext cx="1460516"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TF-IDF 检索极速响应</a:t>
              </a:r>
            </a:p>
          </p:txBody>
        </p:sp>
      </p:grpSp>
      <p:sp>
        <p:nvSpPr>
          <p:cNvPr id="45" name="TextBox 45"/>
          <p:cNvSpPr txBox="1"/>
          <p:nvPr/>
        </p:nvSpPr>
        <p:spPr>
          <a:xfrm>
            <a:off x="11608118" y="6562249"/>
            <a:ext cx="181404"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07</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childTnLst>
                          </p:cTn>
                        </p:par>
                        <p:par>
                          <p:cTn id="8" fill="hold">
                            <p:stCondLst>
                              <p:cond delay="900"/>
                            </p:stCondLst>
                            <p:childTnLst>
                              <p:par>
                                <p:cTn id="9" presetID="5" presetClass="entr" presetSubtype="6"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checkerboard(across)">
                                      <p:cBhvr>
                                        <p:cTn id="11" dur="400"/>
                                        <p:tgtEl>
                                          <p:spTgt spid="25"/>
                                        </p:tgtEl>
                                      </p:cBhvr>
                                    </p:animEffect>
                                  </p:childTnLst>
                                </p:cTn>
                              </p:par>
                            </p:childTnLst>
                          </p:cTn>
                        </p:par>
                        <p:par>
                          <p:cTn id="12" fill="hold">
                            <p:stCondLst>
                              <p:cond delay="1800"/>
                            </p:stCondLst>
                            <p:childTnLst>
                              <p:par>
                                <p:cTn id="13" presetID="9" presetClass="entr" presetSubtype="0" fill="hold" nodeType="afterEffect">
                                  <p:stCondLst>
                                    <p:cond delay="0"/>
                                  </p:stCondLst>
                                  <p:childTnLst>
                                    <p:set>
                                      <p:cBhvr>
                                        <p:cTn id="14" dur="1" fill="hold">
                                          <p:stCondLst>
                                            <p:cond delay="0"/>
                                          </p:stCondLst>
                                        </p:cTn>
                                        <p:tgtEl>
                                          <p:spTgt spid="36"/>
                                        </p:tgtEl>
                                        <p:attrNameLst>
                                          <p:attrName>style.visibility</p:attrName>
                                        </p:attrNameLst>
                                      </p:cBhvr>
                                      <p:to>
                                        <p:strVal val="visible"/>
                                      </p:to>
                                    </p:set>
                                    <p:animEffect transition="in" filter="dissolve">
                                      <p:cBhvr>
                                        <p:cTn id="15" dur="400"/>
                                        <p:tgtEl>
                                          <p:spTgt spid="36"/>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44"/>
                                        </p:tgtEl>
                                        <p:attrNameLst>
                                          <p:attrName>style.visibility</p:attrName>
                                        </p:attrNameLst>
                                      </p:cBhvr>
                                      <p:to>
                                        <p:strVal val="visible"/>
                                      </p:to>
                                    </p:set>
                                    <p:animEffect transition="in" filter="slide(fromBottom)">
                                      <p:cBhvr>
                                        <p:cTn id="19" dur="4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5" grpId="0"/>
      <p:bldP spid="36" grpId="0"/>
      <p:bldP spid="4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F8FAF9">
                  <a:alpha val="92000"/>
                </a:srgbClr>
              </a:gs>
              <a:gs pos="100000">
                <a:srgbClr val="FFFFFF">
                  <a:alpha val="95000"/>
                </a:srgbClr>
              </a:gs>
            </a:gsLst>
            <a:lin ang="5400000" scaled="1"/>
          </a:gradFill>
          <a:ln>
            <a:noFill/>
          </a:ln>
        </p:spPr>
      </p:sp>
      <p:sp>
        <p:nvSpPr>
          <p:cNvPr id="4" name="Rectangle 4"/>
          <p:cNvSpPr/>
          <p:nvPr/>
        </p:nvSpPr>
        <p:spPr>
          <a:xfrm>
            <a:off x="0" y="0"/>
            <a:ext cx="12192000" cy="38100"/>
          </a:xfrm>
          <a:prstGeom prst="rect">
            <a:avLst/>
          </a:prstGeom>
          <a:solidFill>
            <a:srgbClr val="00B96B"/>
          </a:solidFill>
          <a:ln>
            <a:noFill/>
          </a:ln>
        </p:spPr>
      </p:sp>
      <p:sp>
        <p:nvSpPr>
          <p:cNvPr id="5" name="TextBox 5"/>
          <p:cNvSpPr txBox="1"/>
          <p:nvPr/>
        </p:nvSpPr>
        <p:spPr>
          <a:xfrm>
            <a:off x="558165" y="553402"/>
            <a:ext cx="670750" cy="213360"/>
          </a:xfrm>
          <a:prstGeom prst="rect">
            <a:avLst/>
          </a:prstGeom>
          <a:noFill/>
          <a:ln>
            <a:noFill/>
          </a:ln>
        </p:spPr>
        <p:txBody>
          <a:bodyPr wrap="none" lIns="0" tIns="0" rIns="0" bIns="0" anchor="t" anchorCtr="0">
            <a:spAutoFit/>
          </a:bodyPr>
          <a:lstStyle/>
          <a:p>
            <a:pPr algn="l"/>
            <a:r>
              <a:rPr lang="zh-CN" sz="1050" b="1" dirty="0">
                <a:solidFill>
                  <a:srgbClr val="00B96B"/>
                </a:solidFill>
                <a:latin typeface="Arial"/>
                <a:ea typeface="Microsoft YaHei"/>
                <a:cs typeface="Arial"/>
              </a:rPr>
              <a:t>开发历程</a:t>
            </a:r>
          </a:p>
        </p:txBody>
      </p:sp>
      <p:sp>
        <p:nvSpPr>
          <p:cNvPr id="6" name="TextBox 6"/>
          <p:cNvSpPr txBox="1"/>
          <p:nvPr/>
        </p:nvSpPr>
        <p:spPr>
          <a:xfrm>
            <a:off x="536258" y="795814"/>
            <a:ext cx="1772698" cy="563880"/>
          </a:xfrm>
          <a:prstGeom prst="rect">
            <a:avLst/>
          </a:prstGeom>
          <a:noFill/>
          <a:ln>
            <a:noFill/>
          </a:ln>
        </p:spPr>
        <p:txBody>
          <a:bodyPr wrap="none" lIns="0" tIns="0" rIns="0" bIns="0" anchor="t" anchorCtr="0">
            <a:spAutoFit/>
          </a:bodyPr>
          <a:lstStyle/>
          <a:p>
            <a:pPr algn="l"/>
            <a:r>
              <a:rPr lang="zh-CN" sz="2775" b="1" dirty="0">
                <a:solidFill>
                  <a:srgbClr val="1A1A2E"/>
                </a:solidFill>
                <a:latin typeface="Georgia"/>
                <a:ea typeface="Microsoft YaHei"/>
                <a:cs typeface="Georgia"/>
              </a:rPr>
              <a:t>开发过程</a:t>
            </a:r>
          </a:p>
        </p:txBody>
      </p:sp>
      <p:sp>
        <p:nvSpPr>
          <p:cNvPr id="7" name="Line 7"/>
          <p:cNvSpPr/>
          <p:nvPr/>
        </p:nvSpPr>
        <p:spPr>
          <a:xfrm>
            <a:off x="1143000" y="2095500"/>
            <a:ext cx="9906000" cy="9525"/>
          </a:xfrm>
          <a:custGeom>
            <a:avLst/>
            <a:gdLst/>
            <a:ahLst/>
            <a:cxnLst/>
            <a:rect l="l" t="t" r="r" b="b"/>
            <a:pathLst>
              <a:path w="9906000" h="9525">
                <a:moveTo>
                  <a:pt x="0" y="0"/>
                </a:moveTo>
                <a:lnTo>
                  <a:pt x="9906000" y="0"/>
                </a:lnTo>
              </a:path>
            </a:pathLst>
          </a:custGeom>
          <a:noFill/>
          <a:ln w="28575">
            <a:solidFill>
              <a:srgbClr val="E8E8E8"/>
            </a:solidFill>
          </a:ln>
        </p:spPr>
      </p:sp>
      <p:grpSp>
        <p:nvGrpSpPr>
          <p:cNvPr id="13" name="Group 13"/>
          <p:cNvGrpSpPr/>
          <p:nvPr/>
        </p:nvGrpSpPr>
        <p:grpSpPr>
          <a:xfrm>
            <a:off x="1274921" y="1584960"/>
            <a:ext cx="879157" cy="1365409"/>
            <a:chOff x="1274921" y="1584960"/>
            <a:chExt cx="879157" cy="1365409"/>
          </a:xfrm>
        </p:grpSpPr>
        <p:sp>
          <p:nvSpPr>
            <p:cNvPr id="8" name="Ellipse 8"/>
            <p:cNvSpPr/>
            <p:nvPr/>
          </p:nvSpPr>
          <p:spPr>
            <a:xfrm>
              <a:off x="1485900" y="1866900"/>
              <a:ext cx="457200" cy="457200"/>
            </a:xfrm>
            <a:prstGeom prst="ellipse">
              <a:avLst/>
            </a:prstGeom>
            <a:solidFill>
              <a:srgbClr val="00B96B"/>
            </a:solidFill>
            <a:ln>
              <a:noFill/>
            </a:ln>
          </p:spPr>
        </p:sp>
        <p:sp>
          <p:nvSpPr>
            <p:cNvPr id="9" name="TextBox 9"/>
            <p:cNvSpPr txBox="1"/>
            <p:nvPr/>
          </p:nvSpPr>
          <p:spPr>
            <a:xfrm>
              <a:off x="1677012" y="2039302"/>
              <a:ext cx="74976"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1</a:t>
              </a:r>
            </a:p>
          </p:txBody>
        </p:sp>
        <p:sp>
          <p:nvSpPr>
            <p:cNvPr id="10" name="TextBox 10"/>
            <p:cNvSpPr txBox="1"/>
            <p:nvPr/>
          </p:nvSpPr>
          <p:spPr>
            <a:xfrm>
              <a:off x="1331214" y="1584960"/>
              <a:ext cx="766572" cy="243840"/>
            </a:xfrm>
            <a:prstGeom prst="rect">
              <a:avLst/>
            </a:prstGeom>
            <a:noFill/>
            <a:ln>
              <a:noFill/>
            </a:ln>
          </p:spPr>
          <p:txBody>
            <a:bodyPr wrap="none" lIns="0" tIns="0" rIns="0" bIns="0" anchor="t" anchorCtr="0">
              <a:spAutoFit/>
            </a:bodyPr>
            <a:lstStyle/>
            <a:p>
              <a:pPr algn="ctr"/>
              <a:r>
                <a:rPr lang="zh-CN" sz="1200" b="1" dirty="0">
                  <a:solidFill>
                    <a:srgbClr val="00B96B"/>
                  </a:solidFill>
                  <a:latin typeface="Arial"/>
                  <a:ea typeface="Microsoft YaHei"/>
                  <a:cs typeface="Arial"/>
                </a:rPr>
                <a:t>需求分析</a:t>
              </a:r>
            </a:p>
          </p:txBody>
        </p:sp>
        <p:sp>
          <p:nvSpPr>
            <p:cNvPr id="11" name="TextBox 11"/>
            <p:cNvSpPr txBox="1"/>
            <p:nvPr/>
          </p:nvSpPr>
          <p:spPr>
            <a:xfrm>
              <a:off x="1274921" y="2561749"/>
              <a:ext cx="879157"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分析用户痛点</a:t>
              </a:r>
            </a:p>
          </p:txBody>
        </p:sp>
        <p:sp>
          <p:nvSpPr>
            <p:cNvPr id="12" name="TextBox 12"/>
            <p:cNvSpPr txBox="1"/>
            <p:nvPr/>
          </p:nvSpPr>
          <p:spPr>
            <a:xfrm>
              <a:off x="1274921" y="2752249"/>
              <a:ext cx="879157"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确定核心功能</a:t>
              </a:r>
            </a:p>
          </p:txBody>
        </p:sp>
      </p:grpSp>
      <p:grpSp>
        <p:nvGrpSpPr>
          <p:cNvPr id="19" name="Group 19"/>
          <p:cNvGrpSpPr/>
          <p:nvPr/>
        </p:nvGrpSpPr>
        <p:grpSpPr>
          <a:xfrm>
            <a:off x="3359741" y="1584960"/>
            <a:ext cx="900517" cy="1365409"/>
            <a:chOff x="3359741" y="1584960"/>
            <a:chExt cx="900517" cy="1365409"/>
          </a:xfrm>
        </p:grpSpPr>
        <p:sp>
          <p:nvSpPr>
            <p:cNvPr id="14" name="Ellipse 14"/>
            <p:cNvSpPr/>
            <p:nvPr/>
          </p:nvSpPr>
          <p:spPr>
            <a:xfrm>
              <a:off x="3581400" y="1866900"/>
              <a:ext cx="457200" cy="457200"/>
            </a:xfrm>
            <a:prstGeom prst="ellipse">
              <a:avLst/>
            </a:prstGeom>
            <a:solidFill>
              <a:srgbClr val="36CFC9"/>
            </a:solidFill>
            <a:ln>
              <a:noFill/>
            </a:ln>
          </p:spPr>
        </p:sp>
        <p:sp>
          <p:nvSpPr>
            <p:cNvPr id="15" name="TextBox 15"/>
            <p:cNvSpPr txBox="1"/>
            <p:nvPr/>
          </p:nvSpPr>
          <p:spPr>
            <a:xfrm>
              <a:off x="3752384" y="203930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2</a:t>
              </a:r>
            </a:p>
          </p:txBody>
        </p:sp>
        <p:sp>
          <p:nvSpPr>
            <p:cNvPr id="16" name="TextBox 16"/>
            <p:cNvSpPr txBox="1"/>
            <p:nvPr/>
          </p:nvSpPr>
          <p:spPr>
            <a:xfrm>
              <a:off x="3426714" y="1584960"/>
              <a:ext cx="766572" cy="243840"/>
            </a:xfrm>
            <a:prstGeom prst="rect">
              <a:avLst/>
            </a:prstGeom>
            <a:noFill/>
            <a:ln>
              <a:noFill/>
            </a:ln>
          </p:spPr>
          <p:txBody>
            <a:bodyPr wrap="none" lIns="0" tIns="0" rIns="0" bIns="0" anchor="t" anchorCtr="0">
              <a:spAutoFit/>
            </a:bodyPr>
            <a:lstStyle/>
            <a:p>
              <a:pPr algn="ctr"/>
              <a:r>
                <a:rPr lang="zh-CN" sz="1200" b="1" dirty="0">
                  <a:solidFill>
                    <a:srgbClr val="36CFC9"/>
                  </a:solidFill>
                  <a:latin typeface="Arial"/>
                  <a:ea typeface="Microsoft YaHei"/>
                  <a:cs typeface="Arial"/>
                </a:rPr>
                <a:t>数据爬取</a:t>
              </a:r>
            </a:p>
          </p:txBody>
        </p:sp>
        <p:sp>
          <p:nvSpPr>
            <p:cNvPr id="17" name="TextBox 17"/>
            <p:cNvSpPr txBox="1"/>
            <p:nvPr/>
          </p:nvSpPr>
          <p:spPr>
            <a:xfrm>
              <a:off x="3370421" y="2561749"/>
              <a:ext cx="879157"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多源爬虫整合</a:t>
              </a:r>
            </a:p>
          </p:txBody>
        </p:sp>
        <p:sp>
          <p:nvSpPr>
            <p:cNvPr id="18" name="TextBox 18"/>
            <p:cNvSpPr txBox="1"/>
            <p:nvPr/>
          </p:nvSpPr>
          <p:spPr>
            <a:xfrm>
              <a:off x="3359741" y="2752249"/>
              <a:ext cx="900517"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117个景点数据</a:t>
              </a:r>
            </a:p>
          </p:txBody>
        </p:sp>
      </p:grpSp>
      <p:grpSp>
        <p:nvGrpSpPr>
          <p:cNvPr id="25" name="Group 25"/>
          <p:cNvGrpSpPr/>
          <p:nvPr/>
        </p:nvGrpSpPr>
        <p:grpSpPr>
          <a:xfrm>
            <a:off x="5522214" y="1584960"/>
            <a:ext cx="766572" cy="1365409"/>
            <a:chOff x="5522214" y="1584960"/>
            <a:chExt cx="766572" cy="1365409"/>
          </a:xfrm>
        </p:grpSpPr>
        <p:sp>
          <p:nvSpPr>
            <p:cNvPr id="20" name="Ellipse 20"/>
            <p:cNvSpPr/>
            <p:nvPr/>
          </p:nvSpPr>
          <p:spPr>
            <a:xfrm>
              <a:off x="5676900" y="1866900"/>
              <a:ext cx="457200" cy="457200"/>
            </a:xfrm>
            <a:prstGeom prst="ellipse">
              <a:avLst/>
            </a:prstGeom>
            <a:solidFill>
              <a:srgbClr val="FA8C16"/>
            </a:solidFill>
            <a:ln>
              <a:noFill/>
            </a:ln>
          </p:spPr>
        </p:sp>
        <p:sp>
          <p:nvSpPr>
            <p:cNvPr id="21" name="TextBox 21"/>
            <p:cNvSpPr txBox="1"/>
            <p:nvPr/>
          </p:nvSpPr>
          <p:spPr>
            <a:xfrm>
              <a:off x="5847884" y="203930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3</a:t>
              </a:r>
            </a:p>
          </p:txBody>
        </p:sp>
        <p:sp>
          <p:nvSpPr>
            <p:cNvPr id="22" name="TextBox 22"/>
            <p:cNvSpPr txBox="1"/>
            <p:nvPr/>
          </p:nvSpPr>
          <p:spPr>
            <a:xfrm>
              <a:off x="5522214" y="1584960"/>
              <a:ext cx="766572" cy="243840"/>
            </a:xfrm>
            <a:prstGeom prst="rect">
              <a:avLst/>
            </a:prstGeom>
            <a:noFill/>
            <a:ln>
              <a:noFill/>
            </a:ln>
          </p:spPr>
          <p:txBody>
            <a:bodyPr wrap="none" lIns="0" tIns="0" rIns="0" bIns="0" anchor="t" anchorCtr="0">
              <a:spAutoFit/>
            </a:bodyPr>
            <a:lstStyle/>
            <a:p>
              <a:pPr algn="ctr"/>
              <a:r>
                <a:rPr lang="zh-CN" sz="1200" b="1" dirty="0">
                  <a:solidFill>
                    <a:srgbClr val="FA8C16"/>
                  </a:solidFill>
                  <a:latin typeface="Arial"/>
                  <a:ea typeface="Microsoft YaHei"/>
                  <a:cs typeface="Arial"/>
                </a:rPr>
                <a:t>系统设计</a:t>
              </a:r>
            </a:p>
          </p:txBody>
        </p:sp>
        <p:sp>
          <p:nvSpPr>
            <p:cNvPr id="23" name="TextBox 23"/>
            <p:cNvSpPr txBox="1"/>
            <p:nvPr/>
          </p:nvSpPr>
          <p:spPr>
            <a:xfrm>
              <a:off x="5608320" y="2561749"/>
              <a:ext cx="594360"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架构设计</a:t>
              </a:r>
            </a:p>
          </p:txBody>
        </p:sp>
        <p:sp>
          <p:nvSpPr>
            <p:cNvPr id="24" name="TextBox 24"/>
            <p:cNvSpPr txBox="1"/>
            <p:nvPr/>
          </p:nvSpPr>
          <p:spPr>
            <a:xfrm>
              <a:off x="5537121" y="2752249"/>
              <a:ext cx="736759"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数据库建模</a:t>
              </a:r>
            </a:p>
          </p:txBody>
        </p:sp>
      </p:grpSp>
      <p:grpSp>
        <p:nvGrpSpPr>
          <p:cNvPr id="31" name="Group 31"/>
          <p:cNvGrpSpPr/>
          <p:nvPr/>
        </p:nvGrpSpPr>
        <p:grpSpPr>
          <a:xfrm>
            <a:off x="7617714" y="1584960"/>
            <a:ext cx="766572" cy="1365409"/>
            <a:chOff x="7617714" y="1584960"/>
            <a:chExt cx="766572" cy="1365409"/>
          </a:xfrm>
        </p:grpSpPr>
        <p:sp>
          <p:nvSpPr>
            <p:cNvPr id="26" name="Ellipse 26"/>
            <p:cNvSpPr/>
            <p:nvPr/>
          </p:nvSpPr>
          <p:spPr>
            <a:xfrm>
              <a:off x="7772400" y="1866900"/>
              <a:ext cx="457200" cy="457200"/>
            </a:xfrm>
            <a:prstGeom prst="ellipse">
              <a:avLst/>
            </a:prstGeom>
            <a:solidFill>
              <a:srgbClr val="00B96B"/>
            </a:solidFill>
            <a:ln>
              <a:noFill/>
            </a:ln>
          </p:spPr>
        </p:sp>
        <p:sp>
          <p:nvSpPr>
            <p:cNvPr id="27" name="TextBox 27"/>
            <p:cNvSpPr txBox="1"/>
            <p:nvPr/>
          </p:nvSpPr>
          <p:spPr>
            <a:xfrm>
              <a:off x="7943384" y="203930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4</a:t>
              </a:r>
            </a:p>
          </p:txBody>
        </p:sp>
        <p:sp>
          <p:nvSpPr>
            <p:cNvPr id="28" name="TextBox 28"/>
            <p:cNvSpPr txBox="1"/>
            <p:nvPr/>
          </p:nvSpPr>
          <p:spPr>
            <a:xfrm>
              <a:off x="7617714" y="1584960"/>
              <a:ext cx="766572" cy="243840"/>
            </a:xfrm>
            <a:prstGeom prst="rect">
              <a:avLst/>
            </a:prstGeom>
            <a:noFill/>
            <a:ln>
              <a:noFill/>
            </a:ln>
          </p:spPr>
          <p:txBody>
            <a:bodyPr wrap="none" lIns="0" tIns="0" rIns="0" bIns="0" anchor="t" anchorCtr="0">
              <a:spAutoFit/>
            </a:bodyPr>
            <a:lstStyle/>
            <a:p>
              <a:pPr algn="ctr"/>
              <a:r>
                <a:rPr lang="zh-CN" sz="1200" b="1" dirty="0">
                  <a:solidFill>
                    <a:srgbClr val="00B96B"/>
                  </a:solidFill>
                  <a:latin typeface="Arial"/>
                  <a:ea typeface="Microsoft YaHei"/>
                  <a:cs typeface="Arial"/>
                </a:rPr>
                <a:t>编码实现</a:t>
              </a:r>
            </a:p>
          </p:txBody>
        </p:sp>
        <p:sp>
          <p:nvSpPr>
            <p:cNvPr id="29" name="TextBox 29"/>
            <p:cNvSpPr txBox="1"/>
            <p:nvPr/>
          </p:nvSpPr>
          <p:spPr>
            <a:xfrm>
              <a:off x="7632621" y="2561749"/>
              <a:ext cx="736759"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前后端开发</a:t>
              </a:r>
            </a:p>
          </p:txBody>
        </p:sp>
        <p:sp>
          <p:nvSpPr>
            <p:cNvPr id="30" name="TextBox 30"/>
            <p:cNvSpPr txBox="1"/>
            <p:nvPr/>
          </p:nvSpPr>
          <p:spPr>
            <a:xfrm>
              <a:off x="7643301" y="2752249"/>
              <a:ext cx="715399"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AI模块集成</a:t>
              </a:r>
            </a:p>
          </p:txBody>
        </p:sp>
      </p:grpSp>
      <p:grpSp>
        <p:nvGrpSpPr>
          <p:cNvPr id="37" name="Group 37"/>
          <p:cNvGrpSpPr/>
          <p:nvPr/>
        </p:nvGrpSpPr>
        <p:grpSpPr>
          <a:xfrm>
            <a:off x="9713214" y="1584960"/>
            <a:ext cx="766572" cy="1365409"/>
            <a:chOff x="9713214" y="1584960"/>
            <a:chExt cx="766572" cy="1365409"/>
          </a:xfrm>
        </p:grpSpPr>
        <p:sp>
          <p:nvSpPr>
            <p:cNvPr id="32" name="Ellipse 32"/>
            <p:cNvSpPr/>
            <p:nvPr/>
          </p:nvSpPr>
          <p:spPr>
            <a:xfrm>
              <a:off x="9867900" y="1866900"/>
              <a:ext cx="457200" cy="457200"/>
            </a:xfrm>
            <a:prstGeom prst="ellipse">
              <a:avLst/>
            </a:prstGeom>
            <a:solidFill>
              <a:srgbClr val="36CFC9"/>
            </a:solidFill>
            <a:ln>
              <a:noFill/>
            </a:ln>
          </p:spPr>
        </p:sp>
        <p:sp>
          <p:nvSpPr>
            <p:cNvPr id="33" name="TextBox 33"/>
            <p:cNvSpPr txBox="1"/>
            <p:nvPr/>
          </p:nvSpPr>
          <p:spPr>
            <a:xfrm>
              <a:off x="10038884" y="2039302"/>
              <a:ext cx="115231"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a:ea typeface="Microsoft YaHei"/>
                  <a:cs typeface="Arial"/>
                </a:rPr>
                <a:t>5</a:t>
              </a:r>
            </a:p>
          </p:txBody>
        </p:sp>
        <p:sp>
          <p:nvSpPr>
            <p:cNvPr id="34" name="TextBox 34"/>
            <p:cNvSpPr txBox="1"/>
            <p:nvPr/>
          </p:nvSpPr>
          <p:spPr>
            <a:xfrm>
              <a:off x="9713214" y="1584960"/>
              <a:ext cx="766572" cy="243840"/>
            </a:xfrm>
            <a:prstGeom prst="rect">
              <a:avLst/>
            </a:prstGeom>
            <a:noFill/>
            <a:ln>
              <a:noFill/>
            </a:ln>
          </p:spPr>
          <p:txBody>
            <a:bodyPr wrap="none" lIns="0" tIns="0" rIns="0" bIns="0" anchor="t" anchorCtr="0">
              <a:spAutoFit/>
            </a:bodyPr>
            <a:lstStyle/>
            <a:p>
              <a:pPr algn="ctr"/>
              <a:r>
                <a:rPr lang="zh-CN" sz="1200" b="1" dirty="0">
                  <a:solidFill>
                    <a:srgbClr val="36CFC9"/>
                  </a:solidFill>
                  <a:latin typeface="Arial"/>
                  <a:ea typeface="Microsoft YaHei"/>
                  <a:cs typeface="Arial"/>
                </a:rPr>
                <a:t>测试优化</a:t>
              </a:r>
            </a:p>
          </p:txBody>
        </p:sp>
        <p:sp>
          <p:nvSpPr>
            <p:cNvPr id="35" name="TextBox 35"/>
            <p:cNvSpPr txBox="1"/>
            <p:nvPr/>
          </p:nvSpPr>
          <p:spPr>
            <a:xfrm>
              <a:off x="9799320" y="2561749"/>
              <a:ext cx="594360"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功能测试</a:t>
              </a:r>
            </a:p>
          </p:txBody>
        </p:sp>
        <p:sp>
          <p:nvSpPr>
            <p:cNvPr id="36" name="TextBox 36"/>
            <p:cNvSpPr txBox="1"/>
            <p:nvPr/>
          </p:nvSpPr>
          <p:spPr>
            <a:xfrm>
              <a:off x="9799320" y="2752249"/>
              <a:ext cx="594360" cy="198120"/>
            </a:xfrm>
            <a:prstGeom prst="rect">
              <a:avLst/>
            </a:prstGeom>
            <a:noFill/>
            <a:ln>
              <a:noFill/>
            </a:ln>
          </p:spPr>
          <p:txBody>
            <a:bodyPr wrap="none" lIns="0" tIns="0" rIns="0" bIns="0" anchor="t" anchorCtr="0">
              <a:spAutoFit/>
            </a:bodyPr>
            <a:lstStyle/>
            <a:p>
              <a:pPr algn="ctr"/>
              <a:r>
                <a:rPr lang="zh-CN" sz="975" dirty="0">
                  <a:solidFill>
                    <a:srgbClr val="666666"/>
                  </a:solidFill>
                  <a:latin typeface="Arial"/>
                  <a:ea typeface="Microsoft YaHei"/>
                  <a:cs typeface="Arial"/>
                </a:rPr>
                <a:t>性能优化</a:t>
              </a:r>
            </a:p>
          </p:txBody>
        </p:sp>
      </p:grpSp>
      <p:sp>
        <p:nvSpPr>
          <p:cNvPr id="38" name="TextBox 38"/>
          <p:cNvSpPr txBox="1"/>
          <p:nvPr/>
        </p:nvSpPr>
        <p:spPr>
          <a:xfrm>
            <a:off x="548640" y="3425190"/>
            <a:ext cx="873824" cy="365760"/>
          </a:xfrm>
          <a:prstGeom prst="rect">
            <a:avLst/>
          </a:prstGeom>
          <a:noFill/>
          <a:ln>
            <a:noFill/>
          </a:ln>
        </p:spPr>
        <p:txBody>
          <a:bodyPr wrap="none" lIns="0" tIns="0" rIns="0" bIns="0" anchor="t" anchorCtr="0">
            <a:spAutoFit/>
          </a:bodyPr>
          <a:lstStyle/>
          <a:p>
            <a:pPr algn="l"/>
            <a:r>
              <a:rPr lang="zh-CN" sz="1800" b="1" dirty="0">
                <a:solidFill>
                  <a:srgbClr val="1A1A2E"/>
                </a:solidFill>
                <a:latin typeface="Georgia"/>
                <a:ea typeface="Microsoft YaHei"/>
                <a:cs typeface="Georgia"/>
              </a:rPr>
              <a:t>技术栈</a:t>
            </a:r>
          </a:p>
        </p:txBody>
      </p:sp>
      <p:grpSp>
        <p:nvGrpSpPr>
          <p:cNvPr id="54" name="Group 54"/>
          <p:cNvGrpSpPr/>
          <p:nvPr/>
        </p:nvGrpSpPr>
        <p:grpSpPr>
          <a:xfrm>
            <a:off x="571500" y="3905250"/>
            <a:ext cx="11049000" cy="952500"/>
            <a:chOff x="571500" y="3905250"/>
            <a:chExt cx="11049000" cy="952500"/>
          </a:xfrm>
        </p:grpSpPr>
        <p:sp>
          <p:nvSpPr>
            <p:cNvPr id="39" name="Rectangle 39"/>
            <p:cNvSpPr/>
            <p:nvPr/>
          </p:nvSpPr>
          <p:spPr>
            <a:xfrm>
              <a:off x="571500" y="3905250"/>
              <a:ext cx="3429000" cy="952500"/>
            </a:xfrm>
            <a:prstGeom prst="roundRect">
              <a:avLst>
                <a:gd name="adj" fmla="val 10000"/>
              </a:avLst>
            </a:prstGeom>
            <a:solidFill>
              <a:srgbClr val="FFFFFF"/>
            </a:solidFill>
            <a:ln>
              <a:noFill/>
            </a:ln>
          </p:spPr>
        </p:sp>
        <p:sp>
          <p:nvSpPr>
            <p:cNvPr id="40" name="Freeform 40"/>
            <p:cNvSpPr/>
            <p:nvPr/>
          </p:nvSpPr>
          <p:spPr>
            <a:xfrm>
              <a:off x="882648" y="4163086"/>
              <a:ext cx="267422" cy="268466"/>
            </a:xfrm>
            <a:custGeom>
              <a:avLst/>
              <a:gdLst/>
              <a:ahLst/>
              <a:cxnLst/>
              <a:rect l="l" t="t" r="r" b="b"/>
              <a:pathLst>
                <a:path w="267422" h="268466">
                  <a:moveTo>
                    <a:pt x="190502" y="22707"/>
                  </a:moveTo>
                  <a:cubicBezTo>
                    <a:pt x="243877" y="53523"/>
                    <a:pt x="267422" y="118214"/>
                    <a:pt x="246342" y="176130"/>
                  </a:cubicBezTo>
                  <a:cubicBezTo>
                    <a:pt x="225262" y="234045"/>
                    <a:pt x="165642" y="268466"/>
                    <a:pt x="104946" y="257762"/>
                  </a:cubicBezTo>
                  <a:cubicBezTo>
                    <a:pt x="44250" y="247059"/>
                    <a:pt x="0" y="194322"/>
                    <a:pt x="2" y="132689"/>
                  </a:cubicBezTo>
                  <a:lnTo>
                    <a:pt x="65" y="128574"/>
                  </a:lnTo>
                  <a:cubicBezTo>
                    <a:pt x="1512" y="83959"/>
                    <a:pt x="26276" y="43379"/>
                    <a:pt x="65291" y="21689"/>
                  </a:cubicBezTo>
                  <a:cubicBezTo>
                    <a:pt x="104306" y="0"/>
                    <a:pt x="151844" y="386"/>
                    <a:pt x="190502" y="22707"/>
                  </a:cubicBezTo>
                  <a:moveTo>
                    <a:pt x="110580" y="98310"/>
                  </a:moveTo>
                  <a:cubicBezTo>
                    <a:pt x="105621" y="93352"/>
                    <a:pt x="97582" y="93352"/>
                    <a:pt x="92623" y="98310"/>
                  </a:cubicBezTo>
                  <a:lnTo>
                    <a:pt x="67223" y="123710"/>
                  </a:lnTo>
                  <a:cubicBezTo>
                    <a:pt x="62265" y="128669"/>
                    <a:pt x="62265" y="136708"/>
                    <a:pt x="67223" y="141668"/>
                  </a:cubicBezTo>
                  <a:lnTo>
                    <a:pt x="92623" y="167068"/>
                  </a:lnTo>
                  <a:cubicBezTo>
                    <a:pt x="97582" y="172026"/>
                    <a:pt x="105621" y="172026"/>
                    <a:pt x="110580" y="167068"/>
                  </a:cubicBezTo>
                  <a:lnTo>
                    <a:pt x="111635" y="165874"/>
                  </a:lnTo>
                  <a:cubicBezTo>
                    <a:pt x="115556" y="160818"/>
                    <a:pt x="115105" y="153635"/>
                    <a:pt x="110580" y="149110"/>
                  </a:cubicBezTo>
                  <a:lnTo>
                    <a:pt x="94172" y="132689"/>
                  </a:lnTo>
                  <a:lnTo>
                    <a:pt x="110580" y="116268"/>
                  </a:lnTo>
                  <a:cubicBezTo>
                    <a:pt x="115538" y="111308"/>
                    <a:pt x="115538" y="103269"/>
                    <a:pt x="110580" y="98310"/>
                  </a:cubicBezTo>
                  <a:moveTo>
                    <a:pt x="161380" y="98310"/>
                  </a:moveTo>
                  <a:cubicBezTo>
                    <a:pt x="156421" y="93352"/>
                    <a:pt x="148382" y="93352"/>
                    <a:pt x="143423" y="98310"/>
                  </a:cubicBezTo>
                  <a:lnTo>
                    <a:pt x="142369" y="99504"/>
                  </a:lnTo>
                  <a:cubicBezTo>
                    <a:pt x="138447" y="104559"/>
                    <a:pt x="138898" y="111743"/>
                    <a:pt x="143423" y="116268"/>
                  </a:cubicBezTo>
                  <a:lnTo>
                    <a:pt x="159831" y="132689"/>
                  </a:lnTo>
                  <a:lnTo>
                    <a:pt x="143423" y="149110"/>
                  </a:lnTo>
                  <a:cubicBezTo>
                    <a:pt x="138610" y="154093"/>
                    <a:pt x="138679" y="162014"/>
                    <a:pt x="143577" y="166913"/>
                  </a:cubicBezTo>
                  <a:cubicBezTo>
                    <a:pt x="148476" y="171812"/>
                    <a:pt x="156397" y="171881"/>
                    <a:pt x="161380" y="167068"/>
                  </a:cubicBezTo>
                  <a:lnTo>
                    <a:pt x="186780" y="141668"/>
                  </a:lnTo>
                  <a:cubicBezTo>
                    <a:pt x="191738" y="136708"/>
                    <a:pt x="191738" y="128669"/>
                    <a:pt x="186780" y="123710"/>
                  </a:cubicBezTo>
                  <a:close/>
                </a:path>
              </a:pathLst>
            </a:custGeom>
            <a:solidFill>
              <a:srgbClr val="00B96B"/>
            </a:solidFill>
            <a:ln>
              <a:noFill/>
            </a:ln>
          </p:spPr>
        </p:sp>
        <p:sp>
          <p:nvSpPr>
            <p:cNvPr id="41" name="TextBox 41"/>
            <p:cNvSpPr txBox="1"/>
            <p:nvPr/>
          </p:nvSpPr>
          <p:spPr>
            <a:xfrm>
              <a:off x="1270635" y="4204335"/>
              <a:ext cx="398526"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后端</a:t>
              </a:r>
            </a:p>
          </p:txBody>
        </p:sp>
        <p:sp>
          <p:nvSpPr>
            <p:cNvPr id="42" name="TextBox 42"/>
            <p:cNvSpPr txBox="1"/>
            <p:nvPr/>
          </p:nvSpPr>
          <p:spPr>
            <a:xfrm>
              <a:off x="843915" y="4553902"/>
              <a:ext cx="1767221"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Python · Flask · SQLite</a:t>
              </a:r>
            </a:p>
          </p:txBody>
        </p:sp>
        <p:sp>
          <p:nvSpPr>
            <p:cNvPr id="43" name="Rectangle 43"/>
            <p:cNvSpPr/>
            <p:nvPr/>
          </p:nvSpPr>
          <p:spPr>
            <a:xfrm>
              <a:off x="4381500" y="3905250"/>
              <a:ext cx="3429000" cy="952500"/>
            </a:xfrm>
            <a:prstGeom prst="roundRect">
              <a:avLst>
                <a:gd name="adj" fmla="val 10000"/>
              </a:avLst>
            </a:prstGeom>
            <a:solidFill>
              <a:srgbClr val="FFFFFF"/>
            </a:solidFill>
            <a:ln>
              <a:noFill/>
            </a:ln>
          </p:spPr>
        </p:sp>
        <p:sp>
          <p:nvSpPr>
            <p:cNvPr id="44" name="Freeform 44"/>
            <p:cNvSpPr/>
            <p:nvPr/>
          </p:nvSpPr>
          <p:spPr>
            <a:xfrm>
              <a:off x="4679397" y="4194175"/>
              <a:ext cx="279941" cy="203200"/>
            </a:xfrm>
            <a:custGeom>
              <a:avLst/>
              <a:gdLst/>
              <a:ahLst/>
              <a:cxnLst/>
              <a:rect l="l" t="t" r="r" b="b"/>
              <a:pathLst>
                <a:path w="279941" h="203200">
                  <a:moveTo>
                    <a:pt x="140253" y="0"/>
                  </a:moveTo>
                  <a:cubicBezTo>
                    <a:pt x="194736" y="0"/>
                    <a:pt x="240113" y="30848"/>
                    <a:pt x="275699" y="90856"/>
                  </a:cubicBezTo>
                  <a:lnTo>
                    <a:pt x="278493" y="95669"/>
                  </a:lnTo>
                  <a:lnTo>
                    <a:pt x="279064" y="96939"/>
                  </a:lnTo>
                  <a:lnTo>
                    <a:pt x="279445" y="97993"/>
                  </a:lnTo>
                  <a:lnTo>
                    <a:pt x="279623" y="98692"/>
                  </a:lnTo>
                  <a:lnTo>
                    <a:pt x="279801" y="99733"/>
                  </a:lnTo>
                  <a:lnTo>
                    <a:pt x="279941" y="101003"/>
                  </a:lnTo>
                  <a:lnTo>
                    <a:pt x="279941" y="102400"/>
                  </a:lnTo>
                  <a:lnTo>
                    <a:pt x="279763" y="103810"/>
                  </a:lnTo>
                  <a:cubicBezTo>
                    <a:pt x="279679" y="104281"/>
                    <a:pt x="279569" y="104748"/>
                    <a:pt x="279433" y="105207"/>
                  </a:cubicBezTo>
                  <a:lnTo>
                    <a:pt x="278937" y="106578"/>
                  </a:lnTo>
                  <a:lnTo>
                    <a:pt x="278480" y="107531"/>
                  </a:lnTo>
                  <a:lnTo>
                    <a:pt x="278277" y="107912"/>
                  </a:lnTo>
                  <a:cubicBezTo>
                    <a:pt x="243174" y="169329"/>
                    <a:pt x="198267" y="201638"/>
                    <a:pt x="144228" y="203149"/>
                  </a:cubicBezTo>
                  <a:lnTo>
                    <a:pt x="140253" y="203200"/>
                  </a:lnTo>
                  <a:cubicBezTo>
                    <a:pt x="84424" y="203200"/>
                    <a:pt x="38183" y="170828"/>
                    <a:pt x="2230" y="107899"/>
                  </a:cubicBezTo>
                  <a:cubicBezTo>
                    <a:pt x="0" y="103996"/>
                    <a:pt x="0" y="99204"/>
                    <a:pt x="2230" y="95301"/>
                  </a:cubicBezTo>
                  <a:cubicBezTo>
                    <a:pt x="38183" y="32372"/>
                    <a:pt x="84424" y="0"/>
                    <a:pt x="140253" y="0"/>
                  </a:cubicBezTo>
                  <a:close/>
                  <a:moveTo>
                    <a:pt x="140253" y="63500"/>
                  </a:moveTo>
                  <a:cubicBezTo>
                    <a:pt x="119211" y="63500"/>
                    <a:pt x="102153" y="80558"/>
                    <a:pt x="102153" y="101600"/>
                  </a:cubicBezTo>
                  <a:cubicBezTo>
                    <a:pt x="102153" y="122642"/>
                    <a:pt x="119211" y="139700"/>
                    <a:pt x="140253" y="139700"/>
                  </a:cubicBezTo>
                  <a:cubicBezTo>
                    <a:pt x="161295" y="139700"/>
                    <a:pt x="178353" y="122642"/>
                    <a:pt x="178353" y="101600"/>
                  </a:cubicBezTo>
                  <a:cubicBezTo>
                    <a:pt x="178353" y="80558"/>
                    <a:pt x="161295" y="63500"/>
                    <a:pt x="140253" y="63500"/>
                  </a:cubicBezTo>
                </a:path>
              </a:pathLst>
            </a:custGeom>
            <a:solidFill>
              <a:srgbClr val="36CFC9"/>
            </a:solidFill>
            <a:ln>
              <a:noFill/>
            </a:ln>
          </p:spPr>
        </p:sp>
        <p:sp>
          <p:nvSpPr>
            <p:cNvPr id="45" name="TextBox 45"/>
            <p:cNvSpPr txBox="1"/>
            <p:nvPr/>
          </p:nvSpPr>
          <p:spPr>
            <a:xfrm>
              <a:off x="5080635" y="4204335"/>
              <a:ext cx="398526"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前端</a:t>
              </a:r>
            </a:p>
          </p:txBody>
        </p:sp>
        <p:sp>
          <p:nvSpPr>
            <p:cNvPr id="46" name="TextBox 46"/>
            <p:cNvSpPr txBox="1"/>
            <p:nvPr/>
          </p:nvSpPr>
          <p:spPr>
            <a:xfrm>
              <a:off x="4653915" y="4553902"/>
              <a:ext cx="2533983"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HTML · CSS · JavaScript · Leaflet</a:t>
              </a:r>
            </a:p>
          </p:txBody>
        </p:sp>
        <p:sp>
          <p:nvSpPr>
            <p:cNvPr id="47" name="Rectangle 47"/>
            <p:cNvSpPr/>
            <p:nvPr/>
          </p:nvSpPr>
          <p:spPr>
            <a:xfrm>
              <a:off x="8191500" y="3905250"/>
              <a:ext cx="3429000" cy="952500"/>
            </a:xfrm>
            <a:prstGeom prst="roundRect">
              <a:avLst>
                <a:gd name="adj" fmla="val 10000"/>
              </a:avLst>
            </a:prstGeom>
            <a:solidFill>
              <a:srgbClr val="FFFFFF"/>
            </a:solidFill>
            <a:ln>
              <a:noFill/>
            </a:ln>
          </p:spPr>
        </p:sp>
        <p:grpSp>
          <p:nvGrpSpPr>
            <p:cNvPr id="51" name="Group 51"/>
            <p:cNvGrpSpPr/>
            <p:nvPr/>
          </p:nvGrpSpPr>
          <p:grpSpPr>
            <a:xfrm>
              <a:off x="8498421" y="4177246"/>
              <a:ext cx="249758" cy="237058"/>
              <a:chOff x="8498421" y="4177246"/>
              <a:chExt cx="249758" cy="237058"/>
            </a:xfrm>
          </p:grpSpPr>
          <p:sp>
            <p:nvSpPr>
              <p:cNvPr id="48" name="Freeform 48"/>
              <p:cNvSpPr/>
              <p:nvPr/>
            </p:nvSpPr>
            <p:spPr>
              <a:xfrm>
                <a:off x="8667750" y="4329646"/>
                <a:ext cx="80429" cy="84658"/>
              </a:xfrm>
              <a:custGeom>
                <a:avLst/>
                <a:gdLst/>
                <a:ahLst/>
                <a:cxnLst/>
                <a:rect l="l" t="t" r="r" b="b"/>
                <a:pathLst>
                  <a:path w="80429" h="84658">
                    <a:moveTo>
                      <a:pt x="12700" y="55029"/>
                    </a:moveTo>
                    <a:cubicBezTo>
                      <a:pt x="5686" y="55029"/>
                      <a:pt x="0" y="49343"/>
                      <a:pt x="0" y="42329"/>
                    </a:cubicBezTo>
                    <a:cubicBezTo>
                      <a:pt x="0" y="35315"/>
                      <a:pt x="5686" y="29629"/>
                      <a:pt x="12700" y="29629"/>
                    </a:cubicBezTo>
                    <a:cubicBezTo>
                      <a:pt x="19714" y="29629"/>
                      <a:pt x="25400" y="23943"/>
                      <a:pt x="25400" y="16929"/>
                    </a:cubicBezTo>
                    <a:cubicBezTo>
                      <a:pt x="25400" y="0"/>
                      <a:pt x="50800" y="0"/>
                      <a:pt x="50800" y="16929"/>
                    </a:cubicBezTo>
                    <a:cubicBezTo>
                      <a:pt x="50800" y="23943"/>
                      <a:pt x="56486" y="29629"/>
                      <a:pt x="63500" y="29629"/>
                    </a:cubicBezTo>
                    <a:cubicBezTo>
                      <a:pt x="80429" y="29629"/>
                      <a:pt x="80429" y="55029"/>
                      <a:pt x="63500" y="55029"/>
                    </a:cubicBezTo>
                    <a:cubicBezTo>
                      <a:pt x="56486" y="55029"/>
                      <a:pt x="50800" y="60715"/>
                      <a:pt x="50800" y="67729"/>
                    </a:cubicBezTo>
                    <a:cubicBezTo>
                      <a:pt x="50800" y="84658"/>
                      <a:pt x="25400" y="84658"/>
                      <a:pt x="25400" y="67729"/>
                    </a:cubicBezTo>
                    <a:cubicBezTo>
                      <a:pt x="25400" y="60715"/>
                      <a:pt x="19714" y="55029"/>
                      <a:pt x="12700" y="55029"/>
                    </a:cubicBezTo>
                  </a:path>
                </a:pathLst>
              </a:custGeom>
              <a:solidFill>
                <a:srgbClr val="FA8C16"/>
              </a:solidFill>
              <a:ln>
                <a:noFill/>
              </a:ln>
            </p:spPr>
          </p:sp>
          <p:sp>
            <p:nvSpPr>
              <p:cNvPr id="49" name="Freeform 49"/>
              <p:cNvSpPr/>
              <p:nvPr/>
            </p:nvSpPr>
            <p:spPr>
              <a:xfrm>
                <a:off x="8498421" y="4202646"/>
                <a:ext cx="186258" cy="182029"/>
              </a:xfrm>
              <a:custGeom>
                <a:avLst/>
                <a:gdLst/>
                <a:ahLst/>
                <a:cxnLst/>
                <a:rect l="l" t="t" r="r" b="b"/>
                <a:pathLst>
                  <a:path w="186258" h="182029">
                    <a:moveTo>
                      <a:pt x="16929" y="80429"/>
                    </a:moveTo>
                    <a:cubicBezTo>
                      <a:pt x="51999" y="80429"/>
                      <a:pt x="80429" y="51999"/>
                      <a:pt x="80429" y="16929"/>
                    </a:cubicBezTo>
                    <a:cubicBezTo>
                      <a:pt x="80429" y="0"/>
                      <a:pt x="105829" y="0"/>
                      <a:pt x="105829" y="16929"/>
                    </a:cubicBezTo>
                    <a:cubicBezTo>
                      <a:pt x="105829" y="51999"/>
                      <a:pt x="134259" y="80429"/>
                      <a:pt x="169329" y="80429"/>
                    </a:cubicBezTo>
                    <a:cubicBezTo>
                      <a:pt x="186258" y="80429"/>
                      <a:pt x="186258" y="105829"/>
                      <a:pt x="169329" y="105829"/>
                    </a:cubicBezTo>
                    <a:cubicBezTo>
                      <a:pt x="134259" y="105829"/>
                      <a:pt x="105829" y="134259"/>
                      <a:pt x="105829" y="169329"/>
                    </a:cubicBezTo>
                    <a:cubicBezTo>
                      <a:pt x="105829" y="176343"/>
                      <a:pt x="100143" y="182029"/>
                      <a:pt x="93129" y="182029"/>
                    </a:cubicBezTo>
                    <a:cubicBezTo>
                      <a:pt x="86115" y="182029"/>
                      <a:pt x="80429" y="176343"/>
                      <a:pt x="80429" y="169329"/>
                    </a:cubicBezTo>
                    <a:cubicBezTo>
                      <a:pt x="80429" y="134259"/>
                      <a:pt x="51999" y="105829"/>
                      <a:pt x="16929" y="105829"/>
                    </a:cubicBezTo>
                    <a:cubicBezTo>
                      <a:pt x="0" y="105829"/>
                      <a:pt x="0" y="80429"/>
                      <a:pt x="16929" y="80429"/>
                    </a:cubicBezTo>
                  </a:path>
                </a:pathLst>
              </a:custGeom>
              <a:solidFill>
                <a:srgbClr val="FA8C16"/>
              </a:solidFill>
              <a:ln>
                <a:noFill/>
              </a:ln>
            </p:spPr>
          </p:sp>
          <p:sp>
            <p:nvSpPr>
              <p:cNvPr id="50" name="Freeform 50"/>
              <p:cNvSpPr/>
              <p:nvPr/>
            </p:nvSpPr>
            <p:spPr>
              <a:xfrm>
                <a:off x="8667750" y="4177246"/>
                <a:ext cx="80429" cy="84658"/>
              </a:xfrm>
              <a:custGeom>
                <a:avLst/>
                <a:gdLst/>
                <a:ahLst/>
                <a:cxnLst/>
                <a:rect l="l" t="t" r="r" b="b"/>
                <a:pathLst>
                  <a:path w="80429" h="84658">
                    <a:moveTo>
                      <a:pt x="12700" y="55029"/>
                    </a:moveTo>
                    <a:cubicBezTo>
                      <a:pt x="5686" y="55029"/>
                      <a:pt x="0" y="49343"/>
                      <a:pt x="0" y="42329"/>
                    </a:cubicBezTo>
                    <a:cubicBezTo>
                      <a:pt x="0" y="35315"/>
                      <a:pt x="5686" y="29629"/>
                      <a:pt x="12700" y="29629"/>
                    </a:cubicBezTo>
                    <a:cubicBezTo>
                      <a:pt x="19714" y="29629"/>
                      <a:pt x="25400" y="23943"/>
                      <a:pt x="25400" y="16929"/>
                    </a:cubicBezTo>
                    <a:cubicBezTo>
                      <a:pt x="25400" y="0"/>
                      <a:pt x="50800" y="0"/>
                      <a:pt x="50800" y="16929"/>
                    </a:cubicBezTo>
                    <a:cubicBezTo>
                      <a:pt x="50800" y="23943"/>
                      <a:pt x="56486" y="29629"/>
                      <a:pt x="63500" y="29629"/>
                    </a:cubicBezTo>
                    <a:cubicBezTo>
                      <a:pt x="80429" y="29629"/>
                      <a:pt x="80429" y="55029"/>
                      <a:pt x="63500" y="55029"/>
                    </a:cubicBezTo>
                    <a:cubicBezTo>
                      <a:pt x="56486" y="55029"/>
                      <a:pt x="50800" y="60715"/>
                      <a:pt x="50800" y="67729"/>
                    </a:cubicBezTo>
                    <a:cubicBezTo>
                      <a:pt x="50800" y="84658"/>
                      <a:pt x="25400" y="84658"/>
                      <a:pt x="25400" y="67729"/>
                    </a:cubicBezTo>
                    <a:cubicBezTo>
                      <a:pt x="25400" y="60715"/>
                      <a:pt x="19714" y="55029"/>
                      <a:pt x="12700" y="55029"/>
                    </a:cubicBezTo>
                  </a:path>
                </a:pathLst>
              </a:custGeom>
              <a:solidFill>
                <a:srgbClr val="FA8C16"/>
              </a:solidFill>
              <a:ln>
                <a:noFill/>
              </a:ln>
            </p:spPr>
          </p:sp>
        </p:grpSp>
        <p:sp>
          <p:nvSpPr>
            <p:cNvPr id="52" name="TextBox 52"/>
            <p:cNvSpPr txBox="1"/>
            <p:nvPr/>
          </p:nvSpPr>
          <p:spPr>
            <a:xfrm>
              <a:off x="8890635" y="4204335"/>
              <a:ext cx="610152" cy="243840"/>
            </a:xfrm>
            <a:prstGeom prst="rect">
              <a:avLst/>
            </a:prstGeom>
            <a:noFill/>
            <a:ln>
              <a:noFill/>
            </a:ln>
          </p:spPr>
          <p:txBody>
            <a:bodyPr wrap="none" lIns="0" tIns="0" rIns="0" bIns="0" anchor="t" anchorCtr="0">
              <a:spAutoFit/>
            </a:bodyPr>
            <a:lstStyle/>
            <a:p>
              <a:pPr algn="l"/>
              <a:r>
                <a:rPr lang="zh-CN" sz="1200" b="1" dirty="0">
                  <a:solidFill>
                    <a:srgbClr val="1A1A2E"/>
                  </a:solidFill>
                  <a:latin typeface="Arial"/>
                  <a:ea typeface="Microsoft YaHei"/>
                  <a:cs typeface="Arial"/>
                </a:rPr>
                <a:t>AI 核心</a:t>
              </a:r>
            </a:p>
          </p:txBody>
        </p:sp>
        <p:sp>
          <p:nvSpPr>
            <p:cNvPr id="53" name="TextBox 53"/>
            <p:cNvSpPr txBox="1"/>
            <p:nvPr/>
          </p:nvSpPr>
          <p:spPr>
            <a:xfrm>
              <a:off x="8463915" y="4553902"/>
              <a:ext cx="1713547" cy="213360"/>
            </a:xfrm>
            <a:prstGeom prst="rect">
              <a:avLst/>
            </a:prstGeom>
            <a:noFill/>
            <a:ln>
              <a:noFill/>
            </a:ln>
          </p:spPr>
          <p:txBody>
            <a:bodyPr wrap="none" lIns="0" tIns="0" rIns="0" bIns="0" anchor="t" anchorCtr="0">
              <a:spAutoFit/>
            </a:bodyPr>
            <a:lstStyle/>
            <a:p>
              <a:pPr algn="l"/>
              <a:r>
                <a:rPr lang="zh-CN" sz="1050" dirty="0">
                  <a:solidFill>
                    <a:srgbClr val="666666"/>
                  </a:solidFill>
                  <a:latin typeface="Arial"/>
                  <a:ea typeface="Microsoft YaHei"/>
                  <a:cs typeface="Arial"/>
                </a:rPr>
                <a:t>TF-IDF · 意图识别 · RAG</a:t>
              </a:r>
            </a:p>
          </p:txBody>
        </p:sp>
      </p:grpSp>
      <p:grpSp>
        <p:nvGrpSpPr>
          <p:cNvPr id="64" name="Group 64"/>
          <p:cNvGrpSpPr/>
          <p:nvPr/>
        </p:nvGrpSpPr>
        <p:grpSpPr>
          <a:xfrm>
            <a:off x="571500" y="5143500"/>
            <a:ext cx="11049000" cy="952500"/>
            <a:chOff x="571500" y="5143500"/>
            <a:chExt cx="11049000" cy="952500"/>
          </a:xfrm>
        </p:grpSpPr>
        <p:sp>
          <p:nvSpPr>
            <p:cNvPr id="55" name="Rectangle 55"/>
            <p:cNvSpPr/>
            <p:nvPr/>
          </p:nvSpPr>
          <p:spPr>
            <a:xfrm>
              <a:off x="571500" y="5143500"/>
              <a:ext cx="11049000" cy="952500"/>
            </a:xfrm>
            <a:prstGeom prst="roundRect">
              <a:avLst>
                <a:gd name="adj" fmla="val 10000"/>
              </a:avLst>
            </a:prstGeom>
            <a:solidFill>
              <a:srgbClr val="00B96B">
                <a:alpha val="8000"/>
              </a:srgbClr>
            </a:solidFill>
            <a:ln>
              <a:noFill/>
            </a:ln>
          </p:spPr>
        </p:sp>
        <p:sp>
          <p:nvSpPr>
            <p:cNvPr id="56" name="TextBox 56"/>
            <p:cNvSpPr txBox="1"/>
            <p:nvPr/>
          </p:nvSpPr>
          <p:spPr>
            <a:xfrm>
              <a:off x="1472394" y="5408295"/>
              <a:ext cx="484213" cy="487680"/>
            </a:xfrm>
            <a:prstGeom prst="rect">
              <a:avLst/>
            </a:prstGeom>
            <a:noFill/>
            <a:ln>
              <a:noFill/>
            </a:ln>
          </p:spPr>
          <p:txBody>
            <a:bodyPr wrap="none" lIns="0" tIns="0" rIns="0" bIns="0" anchor="t" anchorCtr="0">
              <a:spAutoFit/>
            </a:bodyPr>
            <a:lstStyle/>
            <a:p>
              <a:pPr algn="ctr"/>
              <a:r>
                <a:rPr lang="zh-CN" sz="2400" b="1" dirty="0">
                  <a:solidFill>
                    <a:srgbClr val="00B96B"/>
                  </a:solidFill>
                  <a:latin typeface="Georgia"/>
                  <a:ea typeface="SimSun"/>
                  <a:cs typeface="Georgia"/>
                </a:rPr>
                <a:t>117</a:t>
              </a:r>
            </a:p>
          </p:txBody>
        </p:sp>
        <p:sp>
          <p:nvSpPr>
            <p:cNvPr id="57" name="TextBox 57"/>
            <p:cNvSpPr txBox="1"/>
            <p:nvPr/>
          </p:nvSpPr>
          <p:spPr>
            <a:xfrm>
              <a:off x="1394460" y="5792152"/>
              <a:ext cx="640080"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景点数据</a:t>
              </a:r>
            </a:p>
          </p:txBody>
        </p:sp>
        <p:sp>
          <p:nvSpPr>
            <p:cNvPr id="58" name="TextBox 58"/>
            <p:cNvSpPr txBox="1"/>
            <p:nvPr/>
          </p:nvSpPr>
          <p:spPr>
            <a:xfrm>
              <a:off x="4059307" y="5408295"/>
              <a:ext cx="263385" cy="487680"/>
            </a:xfrm>
            <a:prstGeom prst="rect">
              <a:avLst/>
            </a:prstGeom>
            <a:noFill/>
            <a:ln>
              <a:noFill/>
            </a:ln>
          </p:spPr>
          <p:txBody>
            <a:bodyPr wrap="none" lIns="0" tIns="0" rIns="0" bIns="0" anchor="t" anchorCtr="0">
              <a:spAutoFit/>
            </a:bodyPr>
            <a:lstStyle/>
            <a:p>
              <a:pPr algn="ctr"/>
              <a:r>
                <a:rPr lang="zh-CN" sz="2400" b="1" dirty="0">
                  <a:solidFill>
                    <a:srgbClr val="36CFC9"/>
                  </a:solidFill>
                  <a:latin typeface="Georgia"/>
                  <a:ea typeface="SimSun"/>
                  <a:cs typeface="Georgia"/>
                </a:rPr>
                <a:t>6</a:t>
              </a:r>
            </a:p>
          </p:txBody>
        </p:sp>
        <p:sp>
          <p:nvSpPr>
            <p:cNvPr id="59" name="TextBox 59"/>
            <p:cNvSpPr txBox="1"/>
            <p:nvPr/>
          </p:nvSpPr>
          <p:spPr>
            <a:xfrm>
              <a:off x="3947636" y="5792152"/>
              <a:ext cx="486727"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数据表</a:t>
              </a:r>
            </a:p>
          </p:txBody>
        </p:sp>
        <p:sp>
          <p:nvSpPr>
            <p:cNvPr id="60" name="TextBox 60"/>
            <p:cNvSpPr txBox="1"/>
            <p:nvPr/>
          </p:nvSpPr>
          <p:spPr>
            <a:xfrm>
              <a:off x="6535807" y="5408295"/>
              <a:ext cx="263385" cy="487680"/>
            </a:xfrm>
            <a:prstGeom prst="rect">
              <a:avLst/>
            </a:prstGeom>
            <a:noFill/>
            <a:ln>
              <a:noFill/>
            </a:ln>
          </p:spPr>
          <p:txBody>
            <a:bodyPr wrap="none" lIns="0" tIns="0" rIns="0" bIns="0" anchor="t" anchorCtr="0">
              <a:spAutoFit/>
            </a:bodyPr>
            <a:lstStyle/>
            <a:p>
              <a:pPr algn="ctr"/>
              <a:r>
                <a:rPr lang="zh-CN" sz="2400" b="1" dirty="0">
                  <a:solidFill>
                    <a:srgbClr val="FA8C16"/>
                  </a:solidFill>
                  <a:latin typeface="Georgia"/>
                  <a:ea typeface="SimSun"/>
                  <a:cs typeface="Georgia"/>
                </a:rPr>
                <a:t>5</a:t>
              </a:r>
            </a:p>
          </p:txBody>
        </p:sp>
        <p:sp>
          <p:nvSpPr>
            <p:cNvPr id="61" name="TextBox 61"/>
            <p:cNvSpPr txBox="1"/>
            <p:nvPr/>
          </p:nvSpPr>
          <p:spPr>
            <a:xfrm>
              <a:off x="6347460" y="5792152"/>
              <a:ext cx="640080"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意图分类</a:t>
              </a:r>
            </a:p>
          </p:txBody>
        </p:sp>
        <p:sp>
          <p:nvSpPr>
            <p:cNvPr id="62" name="TextBox 62"/>
            <p:cNvSpPr txBox="1"/>
            <p:nvPr/>
          </p:nvSpPr>
          <p:spPr>
            <a:xfrm>
              <a:off x="8855888" y="5408295"/>
              <a:ext cx="576224" cy="487680"/>
            </a:xfrm>
            <a:prstGeom prst="rect">
              <a:avLst/>
            </a:prstGeom>
            <a:noFill/>
            <a:ln>
              <a:noFill/>
            </a:ln>
          </p:spPr>
          <p:txBody>
            <a:bodyPr wrap="none" lIns="0" tIns="0" rIns="0" bIns="0" anchor="t" anchorCtr="0">
              <a:spAutoFit/>
            </a:bodyPr>
            <a:lstStyle/>
            <a:p>
              <a:pPr algn="ctr"/>
              <a:r>
                <a:rPr lang="zh-CN" sz="2400" b="1" dirty="0">
                  <a:solidFill>
                    <a:srgbClr val="52C41A"/>
                  </a:solidFill>
                  <a:latin typeface="Georgia"/>
                  <a:ea typeface="SimSun"/>
                  <a:cs typeface="Georgia"/>
                </a:rPr>
                <a:t>&lt;1s</a:t>
              </a:r>
            </a:p>
          </p:txBody>
        </p:sp>
        <p:sp>
          <p:nvSpPr>
            <p:cNvPr id="63" name="TextBox 63"/>
            <p:cNvSpPr txBox="1"/>
            <p:nvPr/>
          </p:nvSpPr>
          <p:spPr>
            <a:xfrm>
              <a:off x="8823960" y="5792152"/>
              <a:ext cx="640080" cy="213360"/>
            </a:xfrm>
            <a:prstGeom prst="rect">
              <a:avLst/>
            </a:prstGeom>
            <a:noFill/>
            <a:ln>
              <a:noFill/>
            </a:ln>
          </p:spPr>
          <p:txBody>
            <a:bodyPr wrap="none" lIns="0" tIns="0" rIns="0" bIns="0" anchor="t" anchorCtr="0">
              <a:spAutoFit/>
            </a:bodyPr>
            <a:lstStyle/>
            <a:p>
              <a:pPr algn="ctr"/>
              <a:r>
                <a:rPr lang="zh-CN" sz="1050" dirty="0">
                  <a:solidFill>
                    <a:srgbClr val="666666"/>
                  </a:solidFill>
                  <a:latin typeface="Arial"/>
                  <a:ea typeface="Microsoft YaHei"/>
                  <a:cs typeface="Arial"/>
                </a:rPr>
                <a:t>响应速度</a:t>
              </a:r>
            </a:p>
          </p:txBody>
        </p:sp>
      </p:grpSp>
      <p:sp>
        <p:nvSpPr>
          <p:cNvPr id="65" name="TextBox 65"/>
          <p:cNvSpPr txBox="1"/>
          <p:nvPr/>
        </p:nvSpPr>
        <p:spPr>
          <a:xfrm>
            <a:off x="11608118" y="6562249"/>
            <a:ext cx="181404"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08</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900"/>
                            </p:stCondLst>
                            <p:childTnLst>
                              <p:par>
                                <p:cTn id="9" presetID="42" presetClass="entr" presetSubtype="8"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Left)">
                                      <p:cBhvr>
                                        <p:cTn id="11" dur="400"/>
                                        <p:tgtEl>
                                          <p:spTgt spid="19"/>
                                        </p:tgtEl>
                                      </p:cBhvr>
                                    </p:animEffect>
                                  </p:childTnLst>
                                </p:cTn>
                              </p:par>
                            </p:childTnLst>
                          </p:cTn>
                        </p:par>
                        <p:par>
                          <p:cTn id="12" fill="hold">
                            <p:stCondLst>
                              <p:cond delay="1800"/>
                            </p:stCondLst>
                            <p:childTnLst>
                              <p:par>
                                <p:cTn id="13" presetID="14" presetClass="entr" presetSubtype="10"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randombar(horizontal)">
                                      <p:cBhvr>
                                        <p:cTn id="15" dur="400"/>
                                        <p:tgtEl>
                                          <p:spTgt spid="25"/>
                                        </p:tgtEl>
                                      </p:cBhvr>
                                    </p:animEffect>
                                  </p:childTnLst>
                                </p:cTn>
                              </p:par>
                            </p:childTnLst>
                          </p:cTn>
                        </p:par>
                        <p:par>
                          <p:cTn id="16" fill="hold">
                            <p:stCondLst>
                              <p:cond delay="2700"/>
                            </p:stCondLst>
                            <p:childTnLst>
                              <p:par>
                                <p:cTn id="17" presetID="4" presetClass="entr" presetSubtype="0"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box(in)">
                                      <p:cBhvr>
                                        <p:cTn id="19" dur="400"/>
                                        <p:tgtEl>
                                          <p:spTgt spid="31"/>
                                        </p:tgtEl>
                                      </p:cBhvr>
                                    </p:animEffect>
                                  </p:childTnLst>
                                </p:cTn>
                              </p:par>
                            </p:childTnLst>
                          </p:cTn>
                        </p:par>
                        <p:par>
                          <p:cTn id="20" fill="hold">
                            <p:stCondLst>
                              <p:cond delay="3600"/>
                            </p:stCondLst>
                            <p:childTnLst>
                              <p:par>
                                <p:cTn id="21" presetID="16" presetClass="entr" presetSubtype="21"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barn(inVertical)">
                                      <p:cBhvr>
                                        <p:cTn id="23" dur="400"/>
                                        <p:tgtEl>
                                          <p:spTgt spid="37"/>
                                        </p:tgtEl>
                                      </p:cBhvr>
                                    </p:animEffect>
                                  </p:childTnLst>
                                </p:cTn>
                              </p:par>
                            </p:childTnLst>
                          </p:cTn>
                        </p:par>
                        <p:par>
                          <p:cTn id="24" fill="hold">
                            <p:stCondLst>
                              <p:cond delay="4500"/>
                            </p:stCondLst>
                            <p:childTnLst>
                              <p:par>
                                <p:cTn id="25" presetID="18" presetClass="entr" presetSubtype="12" fill="hold" nodeType="afterEffect">
                                  <p:stCondLst>
                                    <p:cond delay="0"/>
                                  </p:stCondLst>
                                  <p:childTnLst>
                                    <p:set>
                                      <p:cBhvr>
                                        <p:cTn id="26" dur="1" fill="hold">
                                          <p:stCondLst>
                                            <p:cond delay="0"/>
                                          </p:stCondLst>
                                        </p:cTn>
                                        <p:tgtEl>
                                          <p:spTgt spid="54"/>
                                        </p:tgtEl>
                                        <p:attrNameLst>
                                          <p:attrName>style.visibility</p:attrName>
                                        </p:attrNameLst>
                                      </p:cBhvr>
                                      <p:to>
                                        <p:strVal val="visible"/>
                                      </p:to>
                                    </p:set>
                                    <p:animEffect transition="in" filter="strips(downRight)">
                                      <p:cBhvr>
                                        <p:cTn id="27" dur="400"/>
                                        <p:tgtEl>
                                          <p:spTgt spid="54"/>
                                        </p:tgtEl>
                                      </p:cBhvr>
                                    </p:animEffect>
                                  </p:childTnLst>
                                </p:cTn>
                              </p:par>
                            </p:childTnLst>
                          </p:cTn>
                        </p:par>
                        <p:par>
                          <p:cTn id="28" fill="hold">
                            <p:stCondLst>
                              <p:cond delay="5400"/>
                            </p:stCondLst>
                            <p:childTnLst>
                              <p:par>
                                <p:cTn id="29" presetID="20" presetClass="entr" presetSubtype="0" fill="hold" nodeType="afterEffect">
                                  <p:stCondLst>
                                    <p:cond delay="0"/>
                                  </p:stCondLst>
                                  <p:childTnLst>
                                    <p:set>
                                      <p:cBhvr>
                                        <p:cTn id="30" dur="1" fill="hold">
                                          <p:stCondLst>
                                            <p:cond delay="0"/>
                                          </p:stCondLst>
                                        </p:cTn>
                                        <p:tgtEl>
                                          <p:spTgt spid="64"/>
                                        </p:tgtEl>
                                        <p:attrNameLst>
                                          <p:attrName>style.visibility</p:attrName>
                                        </p:attrNameLst>
                                      </p:cBhvr>
                                      <p:to>
                                        <p:strVal val="visible"/>
                                      </p:to>
                                    </p:set>
                                    <p:animEffect transition="in" filter="wedge">
                                      <p:cBhvr>
                                        <p:cTn id="31" dur="4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5" grpId="0"/>
      <p:bldP spid="31" grpId="0"/>
      <p:bldP spid="37" grpId="0"/>
      <p:bldP spid="54" grpId="0"/>
      <p:bldP spid="6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F8FAF9">
                  <a:alpha val="92000"/>
                </a:srgbClr>
              </a:gs>
              <a:gs pos="100000">
                <a:srgbClr val="FFFFFF">
                  <a:alpha val="95000"/>
                </a:srgbClr>
              </a:gs>
            </a:gsLst>
            <a:lin ang="5400000" scaled="1"/>
          </a:gradFill>
          <a:ln>
            <a:noFill/>
          </a:ln>
        </p:spPr>
      </p:sp>
      <p:sp>
        <p:nvSpPr>
          <p:cNvPr id="4" name="Rectangle 4"/>
          <p:cNvSpPr/>
          <p:nvPr/>
        </p:nvSpPr>
        <p:spPr>
          <a:xfrm>
            <a:off x="0" y="0"/>
            <a:ext cx="12192000" cy="38100"/>
          </a:xfrm>
          <a:prstGeom prst="rect">
            <a:avLst/>
          </a:prstGeom>
          <a:solidFill>
            <a:srgbClr val="00B96B"/>
          </a:solidFill>
          <a:ln>
            <a:noFill/>
          </a:ln>
        </p:spPr>
      </p:sp>
      <p:sp>
        <p:nvSpPr>
          <p:cNvPr id="5" name="TextBox 5"/>
          <p:cNvSpPr txBox="1"/>
          <p:nvPr/>
        </p:nvSpPr>
        <p:spPr>
          <a:xfrm>
            <a:off x="558165" y="553402"/>
            <a:ext cx="348710" cy="213360"/>
          </a:xfrm>
          <a:prstGeom prst="rect">
            <a:avLst/>
          </a:prstGeom>
          <a:noFill/>
          <a:ln>
            <a:noFill/>
          </a:ln>
        </p:spPr>
        <p:txBody>
          <a:bodyPr wrap="none" lIns="0" tIns="0" rIns="0" bIns="0" anchor="t" anchorCtr="0">
            <a:spAutoFit/>
          </a:bodyPr>
          <a:lstStyle/>
          <a:p>
            <a:pPr algn="l"/>
            <a:r>
              <a:rPr lang="zh-CN" sz="1050" b="1" dirty="0">
                <a:solidFill>
                  <a:srgbClr val="00B96B"/>
                </a:solidFill>
                <a:latin typeface="Arial"/>
                <a:ea typeface="Microsoft YaHei"/>
                <a:cs typeface="Arial"/>
              </a:rPr>
              <a:t>总结</a:t>
            </a:r>
          </a:p>
        </p:txBody>
      </p:sp>
      <p:sp>
        <p:nvSpPr>
          <p:cNvPr id="6" name="TextBox 6"/>
          <p:cNvSpPr txBox="1"/>
          <p:nvPr/>
        </p:nvSpPr>
        <p:spPr>
          <a:xfrm>
            <a:off x="536258" y="795814"/>
            <a:ext cx="2198251" cy="563880"/>
          </a:xfrm>
          <a:prstGeom prst="rect">
            <a:avLst/>
          </a:prstGeom>
          <a:noFill/>
          <a:ln>
            <a:noFill/>
          </a:ln>
        </p:spPr>
        <p:txBody>
          <a:bodyPr wrap="none" lIns="0" tIns="0" rIns="0" bIns="0" anchor="t" anchorCtr="0">
            <a:spAutoFit/>
          </a:bodyPr>
          <a:lstStyle/>
          <a:p>
            <a:pPr algn="l"/>
            <a:r>
              <a:rPr lang="zh-CN" sz="2775" b="1" dirty="0">
                <a:solidFill>
                  <a:srgbClr val="1A1A2E"/>
                </a:solidFill>
                <a:latin typeface="Georgia"/>
                <a:ea typeface="Microsoft YaHei"/>
                <a:cs typeface="Georgia"/>
              </a:rPr>
              <a:t>总结与展望</a:t>
            </a:r>
          </a:p>
        </p:txBody>
      </p:sp>
      <p:grpSp>
        <p:nvGrpSpPr>
          <p:cNvPr id="20" name="Group 20"/>
          <p:cNvGrpSpPr/>
          <p:nvPr/>
        </p:nvGrpSpPr>
        <p:grpSpPr>
          <a:xfrm>
            <a:off x="571500" y="1619250"/>
            <a:ext cx="5238750" cy="4572000"/>
            <a:chOff x="571500" y="1619250"/>
            <a:chExt cx="5238750" cy="4572000"/>
          </a:xfrm>
        </p:grpSpPr>
        <p:sp>
          <p:nvSpPr>
            <p:cNvPr id="7" name="Rectangle 7"/>
            <p:cNvSpPr/>
            <p:nvPr/>
          </p:nvSpPr>
          <p:spPr>
            <a:xfrm>
              <a:off x="571500" y="1619250"/>
              <a:ext cx="5238750" cy="4572000"/>
            </a:xfrm>
            <a:prstGeom prst="roundRect">
              <a:avLst>
                <a:gd name="adj" fmla="val 2500"/>
              </a:avLst>
            </a:prstGeom>
            <a:solidFill>
              <a:srgbClr val="FFFFFF"/>
            </a:solidFill>
            <a:ln>
              <a:noFill/>
            </a:ln>
          </p:spPr>
        </p:sp>
        <p:sp>
          <p:nvSpPr>
            <p:cNvPr id="8" name="Rectangle 8"/>
            <p:cNvSpPr/>
            <p:nvPr/>
          </p:nvSpPr>
          <p:spPr>
            <a:xfrm>
              <a:off x="571500" y="1619250"/>
              <a:ext cx="5238750" cy="76200"/>
            </a:xfrm>
            <a:prstGeom prst="roundRect">
              <a:avLst>
                <a:gd name="adj" fmla="val 50000"/>
              </a:avLst>
            </a:prstGeom>
            <a:solidFill>
              <a:srgbClr val="52C41A"/>
            </a:solidFill>
            <a:ln>
              <a:noFill/>
            </a:ln>
          </p:spPr>
        </p:sp>
        <p:sp>
          <p:nvSpPr>
            <p:cNvPr id="9" name="Freeform 9"/>
            <p:cNvSpPr/>
            <p:nvPr/>
          </p:nvSpPr>
          <p:spPr>
            <a:xfrm>
              <a:off x="787400" y="1930400"/>
              <a:ext cx="254055" cy="255208"/>
            </a:xfrm>
            <a:custGeom>
              <a:avLst/>
              <a:gdLst/>
              <a:ahLst/>
              <a:cxnLst/>
              <a:rect l="l" t="t" r="r" b="b"/>
              <a:pathLst>
                <a:path w="254055" h="255208">
                  <a:moveTo>
                    <a:pt x="127000" y="0"/>
                  </a:moveTo>
                  <a:cubicBezTo>
                    <a:pt x="197142" y="0"/>
                    <a:pt x="254000" y="56858"/>
                    <a:pt x="254000" y="127000"/>
                  </a:cubicBezTo>
                  <a:cubicBezTo>
                    <a:pt x="254055" y="196377"/>
                    <a:pt x="198426" y="252960"/>
                    <a:pt x="129058" y="254084"/>
                  </a:cubicBezTo>
                  <a:cubicBezTo>
                    <a:pt x="59690" y="255208"/>
                    <a:pt x="2256" y="200457"/>
                    <a:pt x="64" y="131115"/>
                  </a:cubicBezTo>
                  <a:lnTo>
                    <a:pt x="0" y="127000"/>
                  </a:lnTo>
                  <a:lnTo>
                    <a:pt x="51" y="123444"/>
                  </a:lnTo>
                  <a:cubicBezTo>
                    <a:pt x="1930" y="54953"/>
                    <a:pt x="58039" y="0"/>
                    <a:pt x="127000" y="0"/>
                  </a:cubicBezTo>
                  <a:close/>
                  <a:moveTo>
                    <a:pt x="127000" y="114300"/>
                  </a:moveTo>
                  <a:lnTo>
                    <a:pt x="114300" y="114300"/>
                  </a:lnTo>
                  <a:lnTo>
                    <a:pt x="112814" y="114389"/>
                  </a:lnTo>
                  <a:cubicBezTo>
                    <a:pt x="106425" y="115149"/>
                    <a:pt x="101614" y="120566"/>
                    <a:pt x="101614" y="127000"/>
                  </a:cubicBezTo>
                  <a:cubicBezTo>
                    <a:pt x="101614" y="133434"/>
                    <a:pt x="106425" y="138851"/>
                    <a:pt x="112814" y="139611"/>
                  </a:cubicBezTo>
                  <a:lnTo>
                    <a:pt x="114300" y="139700"/>
                  </a:lnTo>
                  <a:lnTo>
                    <a:pt x="114300" y="177800"/>
                  </a:lnTo>
                  <a:lnTo>
                    <a:pt x="114389" y="179286"/>
                  </a:lnTo>
                  <a:cubicBezTo>
                    <a:pt x="115077" y="185121"/>
                    <a:pt x="119679" y="189723"/>
                    <a:pt x="125514" y="190411"/>
                  </a:cubicBezTo>
                  <a:lnTo>
                    <a:pt x="127000" y="190500"/>
                  </a:lnTo>
                  <a:lnTo>
                    <a:pt x="139700" y="190500"/>
                  </a:lnTo>
                  <a:lnTo>
                    <a:pt x="141186" y="190411"/>
                  </a:lnTo>
                  <a:cubicBezTo>
                    <a:pt x="147021" y="189723"/>
                    <a:pt x="151623" y="185121"/>
                    <a:pt x="152311" y="179286"/>
                  </a:cubicBezTo>
                  <a:lnTo>
                    <a:pt x="152400" y="177800"/>
                  </a:lnTo>
                  <a:lnTo>
                    <a:pt x="152311" y="176314"/>
                  </a:lnTo>
                  <a:cubicBezTo>
                    <a:pt x="151689" y="171006"/>
                    <a:pt x="147810" y="166655"/>
                    <a:pt x="142608" y="165430"/>
                  </a:cubicBezTo>
                  <a:lnTo>
                    <a:pt x="141186" y="165176"/>
                  </a:lnTo>
                  <a:lnTo>
                    <a:pt x="139700" y="165100"/>
                  </a:lnTo>
                  <a:lnTo>
                    <a:pt x="139700" y="127000"/>
                  </a:lnTo>
                  <a:lnTo>
                    <a:pt x="139611" y="125514"/>
                  </a:lnTo>
                  <a:cubicBezTo>
                    <a:pt x="138923" y="119679"/>
                    <a:pt x="134321" y="115077"/>
                    <a:pt x="128486" y="114389"/>
                  </a:cubicBezTo>
                  <a:lnTo>
                    <a:pt x="127000" y="114300"/>
                  </a:lnTo>
                  <a:close/>
                  <a:moveTo>
                    <a:pt x="127127" y="76200"/>
                  </a:moveTo>
                  <a:lnTo>
                    <a:pt x="125514" y="76289"/>
                  </a:lnTo>
                  <a:cubicBezTo>
                    <a:pt x="119125" y="77049"/>
                    <a:pt x="114314" y="82466"/>
                    <a:pt x="114314" y="88900"/>
                  </a:cubicBezTo>
                  <a:cubicBezTo>
                    <a:pt x="114314" y="95334"/>
                    <a:pt x="119125" y="100751"/>
                    <a:pt x="125514" y="101511"/>
                  </a:cubicBezTo>
                  <a:lnTo>
                    <a:pt x="127000" y="101600"/>
                  </a:lnTo>
                  <a:lnTo>
                    <a:pt x="128613" y="101511"/>
                  </a:lnTo>
                  <a:cubicBezTo>
                    <a:pt x="135002" y="100751"/>
                    <a:pt x="139813" y="95334"/>
                    <a:pt x="139813" y="88900"/>
                  </a:cubicBezTo>
                  <a:cubicBezTo>
                    <a:pt x="139813" y="82466"/>
                    <a:pt x="135002" y="77049"/>
                    <a:pt x="128613" y="76289"/>
                  </a:cubicBezTo>
                  <a:lnTo>
                    <a:pt x="127127" y="76200"/>
                  </a:lnTo>
                  <a:close/>
                </a:path>
              </a:pathLst>
            </a:custGeom>
            <a:solidFill>
              <a:srgbClr val="52C41A"/>
            </a:solidFill>
            <a:ln>
              <a:noFill/>
            </a:ln>
          </p:spPr>
        </p:sp>
        <p:sp>
          <p:nvSpPr>
            <p:cNvPr id="10" name="TextBox 10"/>
            <p:cNvSpPr txBox="1"/>
            <p:nvPr/>
          </p:nvSpPr>
          <p:spPr>
            <a:xfrm>
              <a:off x="1141095" y="1955482"/>
              <a:ext cx="801005" cy="335280"/>
            </a:xfrm>
            <a:prstGeom prst="rect">
              <a:avLst/>
            </a:prstGeom>
            <a:noFill/>
            <a:ln>
              <a:noFill/>
            </a:ln>
          </p:spPr>
          <p:txBody>
            <a:bodyPr wrap="none" lIns="0" tIns="0" rIns="0" bIns="0" anchor="t" anchorCtr="0">
              <a:spAutoFit/>
            </a:bodyPr>
            <a:lstStyle/>
            <a:p>
              <a:pPr algn="l"/>
              <a:r>
                <a:rPr lang="zh-CN" sz="1650" b="1" dirty="0">
                  <a:solidFill>
                    <a:srgbClr val="52C41A"/>
                  </a:solidFill>
                  <a:latin typeface="Arial"/>
                  <a:ea typeface="Microsoft YaHei"/>
                  <a:cs typeface="Arial"/>
                </a:rPr>
                <a:t>已完成</a:t>
              </a:r>
            </a:p>
          </p:txBody>
        </p:sp>
        <p:sp>
          <p:nvSpPr>
            <p:cNvPr id="11" name="TextBox 11"/>
            <p:cNvSpPr txBox="1"/>
            <p:nvPr/>
          </p:nvSpPr>
          <p:spPr>
            <a:xfrm>
              <a:off x="842010" y="2537460"/>
              <a:ext cx="2308860" cy="243840"/>
            </a:xfrm>
            <a:prstGeom prst="rect">
              <a:avLst/>
            </a:prstGeom>
            <a:noFill/>
            <a:ln>
              <a:noFill/>
            </a:ln>
          </p:spPr>
          <p:txBody>
            <a:bodyPr wrap="none" lIns="0" tIns="0" rIns="0" bIns="0" anchor="t" anchorCtr="0">
              <a:spAutoFit/>
            </a:bodyPr>
            <a:lstStyle/>
            <a:p>
              <a:pPr algn="l"/>
              <a:r>
                <a:rPr lang="zh-CN" sz="1200" b="1" dirty="0">
                  <a:solidFill>
                    <a:srgbClr val="52C41A"/>
                  </a:solidFill>
                  <a:latin typeface="Arial"/>
                  <a:ea typeface="Microsoft YaHei"/>
                  <a:cs typeface="Arial"/>
                </a:rPr>
                <a:t>✓</a:t>
              </a:r>
              <a:r>
                <a:rPr lang="zh-CN" sz="1200" dirty="0">
                  <a:solidFill>
                    <a:srgbClr val="1A1A2E"/>
                  </a:solidFill>
                  <a:latin typeface="Arial"/>
                  <a:ea typeface="Microsoft YaHei"/>
                  <a:cs typeface="Arial"/>
                </a:rPr>
                <a:t xml:space="preserve"> 景点数据入库（117个景点）</a:t>
              </a:r>
            </a:p>
          </p:txBody>
        </p:sp>
        <p:sp>
          <p:nvSpPr>
            <p:cNvPr id="12" name="TextBox 12"/>
            <p:cNvSpPr txBox="1"/>
            <p:nvPr/>
          </p:nvSpPr>
          <p:spPr>
            <a:xfrm>
              <a:off x="842010" y="2918460"/>
              <a:ext cx="1870710" cy="243840"/>
            </a:xfrm>
            <a:prstGeom prst="rect">
              <a:avLst/>
            </a:prstGeom>
            <a:noFill/>
            <a:ln>
              <a:noFill/>
            </a:ln>
          </p:spPr>
          <p:txBody>
            <a:bodyPr wrap="none" lIns="0" tIns="0" rIns="0" bIns="0" anchor="t" anchorCtr="0">
              <a:spAutoFit/>
            </a:bodyPr>
            <a:lstStyle/>
            <a:p>
              <a:pPr algn="l"/>
              <a:r>
                <a:rPr lang="zh-CN" sz="1200" b="1" dirty="0">
                  <a:solidFill>
                    <a:srgbClr val="52C41A"/>
                  </a:solidFill>
                  <a:latin typeface="Arial"/>
                  <a:ea typeface="Microsoft YaHei"/>
                  <a:cs typeface="Arial"/>
                </a:rPr>
                <a:t>✓</a:t>
              </a:r>
              <a:r>
                <a:rPr lang="zh-CN" sz="1200" dirty="0">
                  <a:solidFill>
                    <a:srgbClr val="1A1A2E"/>
                  </a:solidFill>
                  <a:latin typeface="Arial"/>
                  <a:ea typeface="Microsoft YaHei"/>
                  <a:cs typeface="Arial"/>
                </a:rPr>
                <a:t xml:space="preserve"> 智能问答系统（RAG）</a:t>
              </a:r>
            </a:p>
          </p:txBody>
        </p:sp>
        <p:sp>
          <p:nvSpPr>
            <p:cNvPr id="13" name="TextBox 13"/>
            <p:cNvSpPr txBox="1"/>
            <p:nvPr/>
          </p:nvSpPr>
          <p:spPr>
            <a:xfrm>
              <a:off x="842010" y="3299460"/>
              <a:ext cx="1231011" cy="243840"/>
            </a:xfrm>
            <a:prstGeom prst="rect">
              <a:avLst/>
            </a:prstGeom>
            <a:noFill/>
            <a:ln>
              <a:noFill/>
            </a:ln>
          </p:spPr>
          <p:txBody>
            <a:bodyPr wrap="none" lIns="0" tIns="0" rIns="0" bIns="0" anchor="t" anchorCtr="0">
              <a:spAutoFit/>
            </a:bodyPr>
            <a:lstStyle/>
            <a:p>
              <a:pPr algn="l"/>
              <a:r>
                <a:rPr lang="zh-CN" sz="1200" b="1" dirty="0">
                  <a:solidFill>
                    <a:srgbClr val="52C41A"/>
                  </a:solidFill>
                  <a:latin typeface="Arial"/>
                  <a:ea typeface="Microsoft YaHei"/>
                  <a:cs typeface="Arial"/>
                </a:rPr>
                <a:t>✓</a:t>
              </a:r>
              <a:r>
                <a:rPr lang="zh-CN" sz="1200" dirty="0">
                  <a:solidFill>
                    <a:srgbClr val="1A1A2E"/>
                  </a:solidFill>
                  <a:latin typeface="Arial"/>
                  <a:ea typeface="Microsoft YaHei"/>
                  <a:cs typeface="Arial"/>
                </a:rPr>
                <a:t xml:space="preserve"> 路线推荐功能</a:t>
              </a:r>
            </a:p>
          </p:txBody>
        </p:sp>
        <p:sp>
          <p:nvSpPr>
            <p:cNvPr id="14" name="TextBox 14"/>
            <p:cNvSpPr txBox="1"/>
            <p:nvPr/>
          </p:nvSpPr>
          <p:spPr>
            <a:xfrm>
              <a:off x="842010" y="3680460"/>
              <a:ext cx="2037207" cy="243840"/>
            </a:xfrm>
            <a:prstGeom prst="rect">
              <a:avLst/>
            </a:prstGeom>
            <a:noFill/>
            <a:ln>
              <a:noFill/>
            </a:ln>
          </p:spPr>
          <p:txBody>
            <a:bodyPr wrap="none" lIns="0" tIns="0" rIns="0" bIns="0" anchor="t" anchorCtr="0">
              <a:spAutoFit/>
            </a:bodyPr>
            <a:lstStyle/>
            <a:p>
              <a:pPr algn="l"/>
              <a:r>
                <a:rPr lang="zh-CN" sz="1200" b="1" dirty="0">
                  <a:solidFill>
                    <a:srgbClr val="52C41A"/>
                  </a:solidFill>
                  <a:latin typeface="Arial"/>
                  <a:ea typeface="Microsoft YaHei"/>
                  <a:cs typeface="Arial"/>
                </a:rPr>
                <a:t>✓</a:t>
              </a:r>
              <a:r>
                <a:rPr lang="zh-CN" sz="1200" dirty="0">
                  <a:solidFill>
                    <a:srgbClr val="1A1A2E"/>
                  </a:solidFill>
                  <a:latin typeface="Arial"/>
                  <a:ea typeface="Microsoft YaHei"/>
                  <a:cs typeface="Arial"/>
                </a:rPr>
                <a:t xml:space="preserve"> 地图可视化（Leaflet）</a:t>
              </a:r>
            </a:p>
          </p:txBody>
        </p:sp>
        <p:sp>
          <p:nvSpPr>
            <p:cNvPr id="15" name="TextBox 15"/>
            <p:cNvSpPr txBox="1"/>
            <p:nvPr/>
          </p:nvSpPr>
          <p:spPr>
            <a:xfrm>
              <a:off x="842010" y="4061460"/>
              <a:ext cx="1616583" cy="243840"/>
            </a:xfrm>
            <a:prstGeom prst="rect">
              <a:avLst/>
            </a:prstGeom>
            <a:noFill/>
            <a:ln>
              <a:noFill/>
            </a:ln>
          </p:spPr>
          <p:txBody>
            <a:bodyPr wrap="none" lIns="0" tIns="0" rIns="0" bIns="0" anchor="t" anchorCtr="0">
              <a:spAutoFit/>
            </a:bodyPr>
            <a:lstStyle/>
            <a:p>
              <a:pPr algn="l"/>
              <a:r>
                <a:rPr lang="zh-CN" sz="1200" b="1" dirty="0">
                  <a:solidFill>
                    <a:srgbClr val="52C41A"/>
                  </a:solidFill>
                  <a:latin typeface="Arial"/>
                  <a:ea typeface="Microsoft YaHei"/>
                  <a:cs typeface="Arial"/>
                </a:rPr>
                <a:t>✓</a:t>
              </a:r>
              <a:r>
                <a:rPr lang="zh-CN" sz="1200" dirty="0">
                  <a:solidFill>
                    <a:srgbClr val="1A1A2E"/>
                  </a:solidFill>
                  <a:latin typeface="Arial"/>
                  <a:ea typeface="Microsoft YaHei"/>
                  <a:cs typeface="Arial"/>
                </a:rPr>
                <a:t xml:space="preserve"> 管理后台（CRUD）</a:t>
              </a:r>
            </a:p>
          </p:txBody>
        </p:sp>
        <p:sp>
          <p:nvSpPr>
            <p:cNvPr id="16" name="TextBox 16"/>
            <p:cNvSpPr txBox="1"/>
            <p:nvPr/>
          </p:nvSpPr>
          <p:spPr>
            <a:xfrm>
              <a:off x="842010" y="4442460"/>
              <a:ext cx="1406271" cy="243840"/>
            </a:xfrm>
            <a:prstGeom prst="rect">
              <a:avLst/>
            </a:prstGeom>
            <a:noFill/>
            <a:ln>
              <a:noFill/>
            </a:ln>
          </p:spPr>
          <p:txBody>
            <a:bodyPr wrap="none" lIns="0" tIns="0" rIns="0" bIns="0" anchor="t" anchorCtr="0">
              <a:spAutoFit/>
            </a:bodyPr>
            <a:lstStyle/>
            <a:p>
              <a:pPr algn="l"/>
              <a:r>
                <a:rPr lang="zh-CN" sz="1200" b="1" dirty="0">
                  <a:solidFill>
                    <a:srgbClr val="52C41A"/>
                  </a:solidFill>
                  <a:latin typeface="Arial"/>
                  <a:ea typeface="Microsoft YaHei"/>
                  <a:cs typeface="Arial"/>
                </a:rPr>
                <a:t>✓</a:t>
              </a:r>
              <a:r>
                <a:rPr lang="zh-CN" sz="1200" dirty="0">
                  <a:solidFill>
                    <a:srgbClr val="1A1A2E"/>
                  </a:solidFill>
                  <a:latin typeface="Arial"/>
                  <a:ea typeface="Microsoft YaHei"/>
                  <a:cs typeface="Arial"/>
                </a:rPr>
                <a:t xml:space="preserve"> 数据可视化大屏</a:t>
              </a:r>
            </a:p>
          </p:txBody>
        </p:sp>
        <p:sp>
          <p:nvSpPr>
            <p:cNvPr id="17" name="TextBox 17"/>
            <p:cNvSpPr txBox="1"/>
            <p:nvPr/>
          </p:nvSpPr>
          <p:spPr>
            <a:xfrm>
              <a:off x="842010" y="4823460"/>
              <a:ext cx="880491" cy="243840"/>
            </a:xfrm>
            <a:prstGeom prst="rect">
              <a:avLst/>
            </a:prstGeom>
            <a:noFill/>
            <a:ln>
              <a:noFill/>
            </a:ln>
          </p:spPr>
          <p:txBody>
            <a:bodyPr wrap="none" lIns="0" tIns="0" rIns="0" bIns="0" anchor="t" anchorCtr="0">
              <a:spAutoFit/>
            </a:bodyPr>
            <a:lstStyle/>
            <a:p>
              <a:pPr algn="l"/>
              <a:r>
                <a:rPr lang="zh-CN" sz="1200" b="1" dirty="0">
                  <a:solidFill>
                    <a:srgbClr val="52C41A"/>
                  </a:solidFill>
                  <a:latin typeface="Arial"/>
                  <a:ea typeface="Microsoft YaHei"/>
                  <a:cs typeface="Arial"/>
                </a:rPr>
                <a:t>✓</a:t>
              </a:r>
              <a:r>
                <a:rPr lang="zh-CN" sz="1200" dirty="0">
                  <a:solidFill>
                    <a:srgbClr val="1A1A2E"/>
                  </a:solidFill>
                  <a:latin typeface="Arial"/>
                  <a:ea typeface="Microsoft YaHei"/>
                  <a:cs typeface="Arial"/>
                </a:rPr>
                <a:t xml:space="preserve"> 收藏功能</a:t>
              </a:r>
            </a:p>
          </p:txBody>
        </p:sp>
        <p:sp>
          <p:nvSpPr>
            <p:cNvPr id="18" name="TextBox 18"/>
            <p:cNvSpPr txBox="1"/>
            <p:nvPr/>
          </p:nvSpPr>
          <p:spPr>
            <a:xfrm>
              <a:off x="842010" y="5204460"/>
              <a:ext cx="1204722" cy="243840"/>
            </a:xfrm>
            <a:prstGeom prst="rect">
              <a:avLst/>
            </a:prstGeom>
            <a:noFill/>
            <a:ln>
              <a:noFill/>
            </a:ln>
          </p:spPr>
          <p:txBody>
            <a:bodyPr wrap="none" lIns="0" tIns="0" rIns="0" bIns="0" anchor="t" anchorCtr="0">
              <a:spAutoFit/>
            </a:bodyPr>
            <a:lstStyle/>
            <a:p>
              <a:pPr algn="l"/>
              <a:r>
                <a:rPr lang="zh-CN" sz="1200" b="1" dirty="0">
                  <a:solidFill>
                    <a:srgbClr val="52C41A"/>
                  </a:solidFill>
                  <a:latin typeface="Arial"/>
                  <a:ea typeface="Microsoft YaHei"/>
                  <a:cs typeface="Arial"/>
                </a:rPr>
                <a:t>✓</a:t>
              </a:r>
              <a:r>
                <a:rPr lang="zh-CN" sz="1200" dirty="0">
                  <a:solidFill>
                    <a:srgbClr val="1A1A2E"/>
                  </a:solidFill>
                  <a:latin typeface="Arial"/>
                  <a:ea typeface="Microsoft YaHei"/>
                  <a:cs typeface="Arial"/>
                </a:rPr>
                <a:t xml:space="preserve"> 响应式UI设计</a:t>
              </a:r>
            </a:p>
          </p:txBody>
        </p:sp>
        <p:sp>
          <p:nvSpPr>
            <p:cNvPr id="19" name="TextBox 19"/>
            <p:cNvSpPr txBox="1"/>
            <p:nvPr/>
          </p:nvSpPr>
          <p:spPr>
            <a:xfrm>
              <a:off x="843915" y="5792152"/>
              <a:ext cx="1153811" cy="213360"/>
            </a:xfrm>
            <a:prstGeom prst="rect">
              <a:avLst/>
            </a:prstGeom>
            <a:noFill/>
            <a:ln>
              <a:noFill/>
            </a:ln>
          </p:spPr>
          <p:txBody>
            <a:bodyPr wrap="none" lIns="0" tIns="0" rIns="0" bIns="0" anchor="t" anchorCtr="0">
              <a:spAutoFit/>
            </a:bodyPr>
            <a:lstStyle/>
            <a:p>
              <a:pPr algn="l"/>
              <a:r>
                <a:rPr lang="zh-CN" sz="1050" b="1" dirty="0">
                  <a:solidFill>
                    <a:srgbClr val="52C41A"/>
                  </a:solidFill>
                  <a:latin typeface="Arial"/>
                  <a:ea typeface="Microsoft YaHei"/>
                  <a:cs typeface="Arial"/>
                </a:rPr>
                <a:t>主路已全部跑通</a:t>
              </a:r>
            </a:p>
          </p:txBody>
        </p:sp>
      </p:grpSp>
      <p:grpSp>
        <p:nvGrpSpPr>
          <p:cNvPr id="39" name="Group 39"/>
          <p:cNvGrpSpPr/>
          <p:nvPr/>
        </p:nvGrpSpPr>
        <p:grpSpPr>
          <a:xfrm>
            <a:off x="6381750" y="1619250"/>
            <a:ext cx="5238750" cy="4572000"/>
            <a:chOff x="6381750" y="1619250"/>
            <a:chExt cx="5238750" cy="4572000"/>
          </a:xfrm>
        </p:grpSpPr>
        <p:sp>
          <p:nvSpPr>
            <p:cNvPr id="21" name="Rectangle 21"/>
            <p:cNvSpPr/>
            <p:nvPr/>
          </p:nvSpPr>
          <p:spPr>
            <a:xfrm>
              <a:off x="6381750" y="1619250"/>
              <a:ext cx="5238750" cy="4572000"/>
            </a:xfrm>
            <a:prstGeom prst="roundRect">
              <a:avLst>
                <a:gd name="adj" fmla="val 2500"/>
              </a:avLst>
            </a:prstGeom>
            <a:solidFill>
              <a:srgbClr val="FFFFFF"/>
            </a:solidFill>
            <a:ln>
              <a:noFill/>
            </a:ln>
          </p:spPr>
        </p:sp>
        <p:sp>
          <p:nvSpPr>
            <p:cNvPr id="22" name="Rectangle 22"/>
            <p:cNvSpPr/>
            <p:nvPr/>
          </p:nvSpPr>
          <p:spPr>
            <a:xfrm>
              <a:off x="6381750" y="1619250"/>
              <a:ext cx="5238750" cy="76200"/>
            </a:xfrm>
            <a:prstGeom prst="roundRect">
              <a:avLst>
                <a:gd name="adj" fmla="val 50000"/>
              </a:avLst>
            </a:prstGeom>
            <a:solidFill>
              <a:srgbClr val="FA8C16"/>
            </a:solidFill>
            <a:ln>
              <a:noFill/>
            </a:ln>
          </p:spPr>
        </p:sp>
        <p:grpSp>
          <p:nvGrpSpPr>
            <p:cNvPr id="26" name="Group 26"/>
            <p:cNvGrpSpPr/>
            <p:nvPr/>
          </p:nvGrpSpPr>
          <p:grpSpPr>
            <a:xfrm>
              <a:off x="6593421" y="1938871"/>
              <a:ext cx="249758" cy="237058"/>
              <a:chOff x="6593421" y="1938871"/>
              <a:chExt cx="249758" cy="237058"/>
            </a:xfrm>
          </p:grpSpPr>
          <p:sp>
            <p:nvSpPr>
              <p:cNvPr id="23" name="Freeform 23"/>
              <p:cNvSpPr/>
              <p:nvPr/>
            </p:nvSpPr>
            <p:spPr>
              <a:xfrm>
                <a:off x="6762750" y="2091271"/>
                <a:ext cx="80429" cy="84658"/>
              </a:xfrm>
              <a:custGeom>
                <a:avLst/>
                <a:gdLst/>
                <a:ahLst/>
                <a:cxnLst/>
                <a:rect l="l" t="t" r="r" b="b"/>
                <a:pathLst>
                  <a:path w="80429" h="84658">
                    <a:moveTo>
                      <a:pt x="12700" y="55029"/>
                    </a:moveTo>
                    <a:cubicBezTo>
                      <a:pt x="5686" y="55029"/>
                      <a:pt x="0" y="49343"/>
                      <a:pt x="0" y="42329"/>
                    </a:cubicBezTo>
                    <a:cubicBezTo>
                      <a:pt x="0" y="35315"/>
                      <a:pt x="5686" y="29629"/>
                      <a:pt x="12700" y="29629"/>
                    </a:cubicBezTo>
                    <a:cubicBezTo>
                      <a:pt x="19714" y="29629"/>
                      <a:pt x="25400" y="23943"/>
                      <a:pt x="25400" y="16929"/>
                    </a:cubicBezTo>
                    <a:cubicBezTo>
                      <a:pt x="25400" y="0"/>
                      <a:pt x="50800" y="0"/>
                      <a:pt x="50800" y="16929"/>
                    </a:cubicBezTo>
                    <a:cubicBezTo>
                      <a:pt x="50800" y="23943"/>
                      <a:pt x="56486" y="29629"/>
                      <a:pt x="63500" y="29629"/>
                    </a:cubicBezTo>
                    <a:cubicBezTo>
                      <a:pt x="80429" y="29629"/>
                      <a:pt x="80429" y="55029"/>
                      <a:pt x="63500" y="55029"/>
                    </a:cubicBezTo>
                    <a:cubicBezTo>
                      <a:pt x="56486" y="55029"/>
                      <a:pt x="50800" y="60715"/>
                      <a:pt x="50800" y="67729"/>
                    </a:cubicBezTo>
                    <a:cubicBezTo>
                      <a:pt x="50800" y="84658"/>
                      <a:pt x="25400" y="84658"/>
                      <a:pt x="25400" y="67729"/>
                    </a:cubicBezTo>
                    <a:cubicBezTo>
                      <a:pt x="25400" y="60715"/>
                      <a:pt x="19714" y="55029"/>
                      <a:pt x="12700" y="55029"/>
                    </a:cubicBezTo>
                  </a:path>
                </a:pathLst>
              </a:custGeom>
              <a:solidFill>
                <a:srgbClr val="FA8C16"/>
              </a:solidFill>
              <a:ln>
                <a:noFill/>
              </a:ln>
            </p:spPr>
          </p:sp>
          <p:sp>
            <p:nvSpPr>
              <p:cNvPr id="24" name="Freeform 24"/>
              <p:cNvSpPr/>
              <p:nvPr/>
            </p:nvSpPr>
            <p:spPr>
              <a:xfrm>
                <a:off x="6593421" y="1964271"/>
                <a:ext cx="186258" cy="182029"/>
              </a:xfrm>
              <a:custGeom>
                <a:avLst/>
                <a:gdLst/>
                <a:ahLst/>
                <a:cxnLst/>
                <a:rect l="l" t="t" r="r" b="b"/>
                <a:pathLst>
                  <a:path w="186258" h="182029">
                    <a:moveTo>
                      <a:pt x="16929" y="80429"/>
                    </a:moveTo>
                    <a:cubicBezTo>
                      <a:pt x="51999" y="80429"/>
                      <a:pt x="80429" y="51999"/>
                      <a:pt x="80429" y="16929"/>
                    </a:cubicBezTo>
                    <a:cubicBezTo>
                      <a:pt x="80429" y="0"/>
                      <a:pt x="105829" y="0"/>
                      <a:pt x="105829" y="16929"/>
                    </a:cubicBezTo>
                    <a:cubicBezTo>
                      <a:pt x="105829" y="51999"/>
                      <a:pt x="134259" y="80429"/>
                      <a:pt x="169329" y="80429"/>
                    </a:cubicBezTo>
                    <a:cubicBezTo>
                      <a:pt x="186258" y="80429"/>
                      <a:pt x="186258" y="105829"/>
                      <a:pt x="169329" y="105829"/>
                    </a:cubicBezTo>
                    <a:cubicBezTo>
                      <a:pt x="134259" y="105829"/>
                      <a:pt x="105829" y="134259"/>
                      <a:pt x="105829" y="169329"/>
                    </a:cubicBezTo>
                    <a:cubicBezTo>
                      <a:pt x="105829" y="176343"/>
                      <a:pt x="100143" y="182029"/>
                      <a:pt x="93129" y="182029"/>
                    </a:cubicBezTo>
                    <a:cubicBezTo>
                      <a:pt x="86115" y="182029"/>
                      <a:pt x="80429" y="176343"/>
                      <a:pt x="80429" y="169329"/>
                    </a:cubicBezTo>
                    <a:cubicBezTo>
                      <a:pt x="80429" y="134259"/>
                      <a:pt x="51999" y="105829"/>
                      <a:pt x="16929" y="105829"/>
                    </a:cubicBezTo>
                    <a:cubicBezTo>
                      <a:pt x="0" y="105829"/>
                      <a:pt x="0" y="80429"/>
                      <a:pt x="16929" y="80429"/>
                    </a:cubicBezTo>
                  </a:path>
                </a:pathLst>
              </a:custGeom>
              <a:solidFill>
                <a:srgbClr val="FA8C16"/>
              </a:solidFill>
              <a:ln>
                <a:noFill/>
              </a:ln>
            </p:spPr>
          </p:sp>
          <p:sp>
            <p:nvSpPr>
              <p:cNvPr id="25" name="Freeform 25"/>
              <p:cNvSpPr/>
              <p:nvPr/>
            </p:nvSpPr>
            <p:spPr>
              <a:xfrm>
                <a:off x="6762750" y="1938871"/>
                <a:ext cx="80429" cy="84658"/>
              </a:xfrm>
              <a:custGeom>
                <a:avLst/>
                <a:gdLst/>
                <a:ahLst/>
                <a:cxnLst/>
                <a:rect l="l" t="t" r="r" b="b"/>
                <a:pathLst>
                  <a:path w="80429" h="84658">
                    <a:moveTo>
                      <a:pt x="12700" y="55029"/>
                    </a:moveTo>
                    <a:cubicBezTo>
                      <a:pt x="5686" y="55029"/>
                      <a:pt x="0" y="49343"/>
                      <a:pt x="0" y="42329"/>
                    </a:cubicBezTo>
                    <a:cubicBezTo>
                      <a:pt x="0" y="35315"/>
                      <a:pt x="5686" y="29629"/>
                      <a:pt x="12700" y="29629"/>
                    </a:cubicBezTo>
                    <a:cubicBezTo>
                      <a:pt x="19714" y="29629"/>
                      <a:pt x="25400" y="23943"/>
                      <a:pt x="25400" y="16929"/>
                    </a:cubicBezTo>
                    <a:cubicBezTo>
                      <a:pt x="25400" y="0"/>
                      <a:pt x="50800" y="0"/>
                      <a:pt x="50800" y="16929"/>
                    </a:cubicBezTo>
                    <a:cubicBezTo>
                      <a:pt x="50800" y="23943"/>
                      <a:pt x="56486" y="29629"/>
                      <a:pt x="63500" y="29629"/>
                    </a:cubicBezTo>
                    <a:cubicBezTo>
                      <a:pt x="80429" y="29629"/>
                      <a:pt x="80429" y="55029"/>
                      <a:pt x="63500" y="55029"/>
                    </a:cubicBezTo>
                    <a:cubicBezTo>
                      <a:pt x="56486" y="55029"/>
                      <a:pt x="50800" y="60715"/>
                      <a:pt x="50800" y="67729"/>
                    </a:cubicBezTo>
                    <a:cubicBezTo>
                      <a:pt x="50800" y="84658"/>
                      <a:pt x="25400" y="84658"/>
                      <a:pt x="25400" y="67729"/>
                    </a:cubicBezTo>
                    <a:cubicBezTo>
                      <a:pt x="25400" y="60715"/>
                      <a:pt x="19714" y="55029"/>
                      <a:pt x="12700" y="55029"/>
                    </a:cubicBezTo>
                  </a:path>
                </a:pathLst>
              </a:custGeom>
              <a:solidFill>
                <a:srgbClr val="FA8C16"/>
              </a:solidFill>
              <a:ln>
                <a:noFill/>
              </a:ln>
            </p:spPr>
          </p:sp>
        </p:grpSp>
        <p:sp>
          <p:nvSpPr>
            <p:cNvPr id="27" name="TextBox 27"/>
            <p:cNvSpPr txBox="1"/>
            <p:nvPr/>
          </p:nvSpPr>
          <p:spPr>
            <a:xfrm>
              <a:off x="6951345" y="1955482"/>
              <a:ext cx="801005" cy="335280"/>
            </a:xfrm>
            <a:prstGeom prst="rect">
              <a:avLst/>
            </a:prstGeom>
            <a:noFill/>
            <a:ln>
              <a:noFill/>
            </a:ln>
          </p:spPr>
          <p:txBody>
            <a:bodyPr wrap="none" lIns="0" tIns="0" rIns="0" bIns="0" anchor="t" anchorCtr="0">
              <a:spAutoFit/>
            </a:bodyPr>
            <a:lstStyle/>
            <a:p>
              <a:pPr algn="l"/>
              <a:r>
                <a:rPr lang="zh-CN" sz="1650" b="1" dirty="0">
                  <a:solidFill>
                    <a:srgbClr val="FA8C16"/>
                  </a:solidFill>
                  <a:latin typeface="Arial"/>
                  <a:ea typeface="Microsoft YaHei"/>
                  <a:cs typeface="Arial"/>
                </a:rPr>
                <a:t>待优化</a:t>
              </a:r>
            </a:p>
          </p:txBody>
        </p:sp>
        <p:sp>
          <p:nvSpPr>
            <p:cNvPr id="28" name="TextBox 28"/>
            <p:cNvSpPr txBox="1"/>
            <p:nvPr/>
          </p:nvSpPr>
          <p:spPr>
            <a:xfrm>
              <a:off x="6652260" y="2537460"/>
              <a:ext cx="1231011" cy="243840"/>
            </a:xfrm>
            <a:prstGeom prst="rect">
              <a:avLst/>
            </a:prstGeom>
            <a:noFill/>
            <a:ln>
              <a:noFill/>
            </a:ln>
          </p:spPr>
          <p:txBody>
            <a:bodyPr wrap="none" lIns="0" tIns="0" rIns="0" bIns="0" anchor="t" anchorCtr="0">
              <a:spAutoFit/>
            </a:bodyPr>
            <a:lstStyle/>
            <a:p>
              <a:pPr algn="l"/>
              <a:r>
                <a:rPr lang="zh-CN" sz="1200" b="1" dirty="0">
                  <a:solidFill>
                    <a:srgbClr val="FA8C16"/>
                  </a:solidFill>
                  <a:latin typeface="Arial"/>
                  <a:ea typeface="Microsoft YaHei"/>
                  <a:cs typeface="Arial"/>
                </a:rPr>
                <a:t>→</a:t>
              </a:r>
              <a:r>
                <a:rPr lang="zh-CN" sz="1200" dirty="0">
                  <a:solidFill>
                    <a:srgbClr val="1A1A2E"/>
                  </a:solidFill>
                  <a:latin typeface="Arial"/>
                  <a:ea typeface="Microsoft YaHei"/>
                  <a:cs typeface="Arial"/>
                </a:rPr>
                <a:t xml:space="preserve"> 用户账号系统</a:t>
              </a:r>
            </a:p>
          </p:txBody>
        </p:sp>
        <p:sp>
          <p:nvSpPr>
            <p:cNvPr id="29" name="TextBox 29"/>
            <p:cNvSpPr txBox="1"/>
            <p:nvPr/>
          </p:nvSpPr>
          <p:spPr>
            <a:xfrm>
              <a:off x="6939915" y="2791778"/>
              <a:ext cx="1406842"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登录注册、个人中心</a:t>
              </a:r>
            </a:p>
          </p:txBody>
        </p:sp>
        <p:sp>
          <p:nvSpPr>
            <p:cNvPr id="30" name="TextBox 30"/>
            <p:cNvSpPr txBox="1"/>
            <p:nvPr/>
          </p:nvSpPr>
          <p:spPr>
            <a:xfrm>
              <a:off x="6652260" y="3204210"/>
              <a:ext cx="1231011" cy="243840"/>
            </a:xfrm>
            <a:prstGeom prst="rect">
              <a:avLst/>
            </a:prstGeom>
            <a:noFill/>
            <a:ln>
              <a:noFill/>
            </a:ln>
          </p:spPr>
          <p:txBody>
            <a:bodyPr wrap="none" lIns="0" tIns="0" rIns="0" bIns="0" anchor="t" anchorCtr="0">
              <a:spAutoFit/>
            </a:bodyPr>
            <a:lstStyle/>
            <a:p>
              <a:pPr algn="l"/>
              <a:r>
                <a:rPr lang="zh-CN" sz="1200" b="1" dirty="0">
                  <a:solidFill>
                    <a:srgbClr val="FA8C16"/>
                  </a:solidFill>
                  <a:latin typeface="Arial"/>
                  <a:ea typeface="Microsoft YaHei"/>
                  <a:cs typeface="Arial"/>
                </a:rPr>
                <a:t>→</a:t>
              </a:r>
              <a:r>
                <a:rPr lang="zh-CN" sz="1200" dirty="0">
                  <a:solidFill>
                    <a:srgbClr val="1A1A2E"/>
                  </a:solidFill>
                  <a:latin typeface="Arial"/>
                  <a:ea typeface="Microsoft YaHei"/>
                  <a:cs typeface="Arial"/>
                </a:rPr>
                <a:t xml:space="preserve"> 多轮对话记忆</a:t>
              </a:r>
            </a:p>
          </p:txBody>
        </p:sp>
        <p:sp>
          <p:nvSpPr>
            <p:cNvPr id="31" name="TextBox 31"/>
            <p:cNvSpPr txBox="1"/>
            <p:nvPr/>
          </p:nvSpPr>
          <p:spPr>
            <a:xfrm>
              <a:off x="6939915" y="3458528"/>
              <a:ext cx="1560195"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上下文理解、连续追问</a:t>
              </a:r>
            </a:p>
          </p:txBody>
        </p:sp>
        <p:sp>
          <p:nvSpPr>
            <p:cNvPr id="32" name="TextBox 32"/>
            <p:cNvSpPr txBox="1"/>
            <p:nvPr/>
          </p:nvSpPr>
          <p:spPr>
            <a:xfrm>
              <a:off x="6652260" y="3870960"/>
              <a:ext cx="1231011" cy="243840"/>
            </a:xfrm>
            <a:prstGeom prst="rect">
              <a:avLst/>
            </a:prstGeom>
            <a:noFill/>
            <a:ln>
              <a:noFill/>
            </a:ln>
          </p:spPr>
          <p:txBody>
            <a:bodyPr wrap="none" lIns="0" tIns="0" rIns="0" bIns="0" anchor="t" anchorCtr="0">
              <a:spAutoFit/>
            </a:bodyPr>
            <a:lstStyle/>
            <a:p>
              <a:pPr algn="l"/>
              <a:r>
                <a:rPr lang="zh-CN" sz="1200" b="1" dirty="0">
                  <a:solidFill>
                    <a:srgbClr val="FA8C16"/>
                  </a:solidFill>
                  <a:latin typeface="Arial"/>
                  <a:ea typeface="Microsoft YaHei"/>
                  <a:cs typeface="Arial"/>
                </a:rPr>
                <a:t>→</a:t>
              </a:r>
              <a:r>
                <a:rPr lang="zh-CN" sz="1200" dirty="0">
                  <a:solidFill>
                    <a:srgbClr val="1A1A2E"/>
                  </a:solidFill>
                  <a:latin typeface="Arial"/>
                  <a:ea typeface="Microsoft YaHei"/>
                  <a:cs typeface="Arial"/>
                </a:rPr>
                <a:t xml:space="preserve"> 更多景点数据</a:t>
              </a:r>
            </a:p>
          </p:txBody>
        </p:sp>
        <p:sp>
          <p:nvSpPr>
            <p:cNvPr id="33" name="TextBox 33"/>
            <p:cNvSpPr txBox="1"/>
            <p:nvPr/>
          </p:nvSpPr>
          <p:spPr>
            <a:xfrm>
              <a:off x="6939915" y="4125278"/>
              <a:ext cx="946785"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持续爬取更新</a:t>
              </a:r>
            </a:p>
          </p:txBody>
        </p:sp>
        <p:sp>
          <p:nvSpPr>
            <p:cNvPr id="34" name="TextBox 34"/>
            <p:cNvSpPr txBox="1"/>
            <p:nvPr/>
          </p:nvSpPr>
          <p:spPr>
            <a:xfrm>
              <a:off x="6652260" y="4537710"/>
              <a:ext cx="880491" cy="243840"/>
            </a:xfrm>
            <a:prstGeom prst="rect">
              <a:avLst/>
            </a:prstGeom>
            <a:noFill/>
            <a:ln>
              <a:noFill/>
            </a:ln>
          </p:spPr>
          <p:txBody>
            <a:bodyPr wrap="none" lIns="0" tIns="0" rIns="0" bIns="0" anchor="t" anchorCtr="0">
              <a:spAutoFit/>
            </a:bodyPr>
            <a:lstStyle/>
            <a:p>
              <a:pPr algn="l"/>
              <a:r>
                <a:rPr lang="zh-CN" sz="1200" b="1" dirty="0">
                  <a:solidFill>
                    <a:srgbClr val="FA8C16"/>
                  </a:solidFill>
                  <a:latin typeface="Arial"/>
                  <a:ea typeface="Microsoft YaHei"/>
                  <a:cs typeface="Arial"/>
                </a:rPr>
                <a:t>→</a:t>
              </a:r>
              <a:r>
                <a:rPr lang="zh-CN" sz="1200" dirty="0">
                  <a:solidFill>
                    <a:srgbClr val="1A1A2E"/>
                  </a:solidFill>
                  <a:latin typeface="Arial"/>
                  <a:ea typeface="Microsoft YaHei"/>
                  <a:cs typeface="Arial"/>
                </a:rPr>
                <a:t xml:space="preserve"> 语音交互</a:t>
              </a:r>
            </a:p>
          </p:txBody>
        </p:sp>
        <p:sp>
          <p:nvSpPr>
            <p:cNvPr id="35" name="TextBox 35"/>
            <p:cNvSpPr txBox="1"/>
            <p:nvPr/>
          </p:nvSpPr>
          <p:spPr>
            <a:xfrm>
              <a:off x="6939915" y="4792028"/>
              <a:ext cx="1406842"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语音输入、语音播报</a:t>
              </a:r>
            </a:p>
          </p:txBody>
        </p:sp>
        <p:sp>
          <p:nvSpPr>
            <p:cNvPr id="36" name="TextBox 36"/>
            <p:cNvSpPr txBox="1"/>
            <p:nvPr/>
          </p:nvSpPr>
          <p:spPr>
            <a:xfrm>
              <a:off x="6652260" y="5204460"/>
              <a:ext cx="1055751" cy="243840"/>
            </a:xfrm>
            <a:prstGeom prst="rect">
              <a:avLst/>
            </a:prstGeom>
            <a:noFill/>
            <a:ln>
              <a:noFill/>
            </a:ln>
          </p:spPr>
          <p:txBody>
            <a:bodyPr wrap="none" lIns="0" tIns="0" rIns="0" bIns="0" anchor="t" anchorCtr="0">
              <a:spAutoFit/>
            </a:bodyPr>
            <a:lstStyle/>
            <a:p>
              <a:pPr algn="l"/>
              <a:r>
                <a:rPr lang="zh-CN" sz="1200" b="1" dirty="0">
                  <a:solidFill>
                    <a:srgbClr val="FA8C16"/>
                  </a:solidFill>
                  <a:latin typeface="Arial"/>
                  <a:ea typeface="Microsoft YaHei"/>
                  <a:cs typeface="Arial"/>
                </a:rPr>
                <a:t>→</a:t>
              </a:r>
              <a:r>
                <a:rPr lang="zh-CN" sz="1200" dirty="0">
                  <a:solidFill>
                    <a:srgbClr val="1A1A2E"/>
                  </a:solidFill>
                  <a:latin typeface="Arial"/>
                  <a:ea typeface="Microsoft YaHei"/>
                  <a:cs typeface="Arial"/>
                </a:rPr>
                <a:t xml:space="preserve"> 移动端适配</a:t>
              </a:r>
            </a:p>
          </p:txBody>
        </p:sp>
        <p:sp>
          <p:nvSpPr>
            <p:cNvPr id="37" name="TextBox 37"/>
            <p:cNvSpPr txBox="1"/>
            <p:nvPr/>
          </p:nvSpPr>
          <p:spPr>
            <a:xfrm>
              <a:off x="6939915" y="5458778"/>
              <a:ext cx="916115" cy="213360"/>
            </a:xfrm>
            <a:prstGeom prst="rect">
              <a:avLst/>
            </a:prstGeom>
            <a:noFill/>
            <a:ln>
              <a:noFill/>
            </a:ln>
          </p:spPr>
          <p:txBody>
            <a:bodyPr wrap="none" lIns="0" tIns="0" rIns="0" bIns="0" anchor="t" anchorCtr="0">
              <a:spAutoFit/>
            </a:bodyPr>
            <a:lstStyle/>
            <a:p>
              <a:pPr algn="l"/>
              <a:r>
                <a:rPr lang="zh-CN" sz="1050" dirty="0">
                  <a:solidFill>
                    <a:srgbClr val="999999"/>
                  </a:solidFill>
                  <a:latin typeface="Arial"/>
                  <a:ea typeface="Microsoft YaHei"/>
                  <a:cs typeface="Arial"/>
                </a:rPr>
                <a:t>小程序 / App</a:t>
              </a:r>
            </a:p>
          </p:txBody>
        </p:sp>
        <p:sp>
          <p:nvSpPr>
            <p:cNvPr id="38" name="TextBox 38"/>
            <p:cNvSpPr txBox="1"/>
            <p:nvPr/>
          </p:nvSpPr>
          <p:spPr>
            <a:xfrm>
              <a:off x="6654165" y="5792152"/>
              <a:ext cx="1475851" cy="213360"/>
            </a:xfrm>
            <a:prstGeom prst="rect">
              <a:avLst/>
            </a:prstGeom>
            <a:noFill/>
            <a:ln>
              <a:noFill/>
            </a:ln>
          </p:spPr>
          <p:txBody>
            <a:bodyPr wrap="none" lIns="0" tIns="0" rIns="0" bIns="0" anchor="t" anchorCtr="0">
              <a:spAutoFit/>
            </a:bodyPr>
            <a:lstStyle/>
            <a:p>
              <a:pPr algn="l"/>
              <a:r>
                <a:rPr lang="zh-CN" sz="1050" b="1" dirty="0">
                  <a:solidFill>
                    <a:srgbClr val="FA8C16"/>
                  </a:solidFill>
                  <a:latin typeface="Arial"/>
                  <a:ea typeface="Microsoft YaHei"/>
                  <a:cs typeface="Arial"/>
                </a:rPr>
                <a:t>未来可期，持续迭代</a:t>
              </a:r>
            </a:p>
          </p:txBody>
        </p:sp>
      </p:grpSp>
      <p:sp>
        <p:nvSpPr>
          <p:cNvPr id="40" name="TextBox 40"/>
          <p:cNvSpPr txBox="1"/>
          <p:nvPr/>
        </p:nvSpPr>
        <p:spPr>
          <a:xfrm>
            <a:off x="11608118" y="6562249"/>
            <a:ext cx="181404" cy="198120"/>
          </a:xfrm>
          <a:prstGeom prst="rect">
            <a:avLst/>
          </a:prstGeom>
          <a:noFill/>
          <a:ln>
            <a:noFill/>
          </a:ln>
        </p:spPr>
        <p:txBody>
          <a:bodyPr wrap="none" lIns="0" tIns="0" rIns="0" bIns="0" anchor="t" anchorCtr="0">
            <a:spAutoFit/>
          </a:bodyPr>
          <a:lstStyle/>
          <a:p>
            <a:pPr algn="l"/>
            <a:r>
              <a:rPr lang="zh-CN" sz="975" dirty="0">
                <a:solidFill>
                  <a:srgbClr val="999999"/>
                </a:solidFill>
                <a:latin typeface="Arial"/>
                <a:ea typeface="Microsoft YaHei"/>
                <a:cs typeface="Arial"/>
              </a:rPr>
              <a:t>09</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par>
                          <p:cTn id="8" fill="hold">
                            <p:stCondLst>
                              <p:cond delay="900"/>
                            </p:stCondLst>
                            <p:childTnLst>
                              <p:par>
                                <p:cTn id="9" presetID="21"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heel(4)">
                                      <p:cBhvr>
                                        <p:cTn id="11"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D1B2A">
                  <a:alpha val="50000"/>
                </a:srgbClr>
              </a:gs>
              <a:gs pos="50000">
                <a:srgbClr val="1A1A2E">
                  <a:alpha val="40000"/>
                </a:srgbClr>
              </a:gs>
              <a:gs pos="100000">
                <a:srgbClr val="0D1B2A">
                  <a:alpha val="70000"/>
                </a:srgbClr>
              </a:gs>
            </a:gsLst>
            <a:lin ang="5400000" scaled="1"/>
          </a:gradFill>
          <a:ln>
            <a:noFill/>
          </a:ln>
        </p:spPr>
      </p:sp>
      <p:sp>
        <p:nvSpPr>
          <p:cNvPr id="4" name="Rectangle 4"/>
          <p:cNvSpPr/>
          <p:nvPr/>
        </p:nvSpPr>
        <p:spPr>
          <a:xfrm>
            <a:off x="0" y="0"/>
            <a:ext cx="12192000" cy="6858000"/>
          </a:xfrm>
          <a:prstGeom prst="rect">
            <a:avLst/>
          </a:prstGeom>
          <a:gradFill>
            <a:gsLst>
              <a:gs pos="0">
                <a:srgbClr val="00B96B">
                  <a:alpha val="15000"/>
                </a:srgbClr>
              </a:gs>
              <a:gs pos="100000">
                <a:srgbClr val="00B96B">
                  <a:alpha val="0"/>
                </a:srgbClr>
              </a:gs>
            </a:gsLst>
            <a:path path="circle">
              <a:fillToRect l="50000" t="50000" r="50000" b="50000"/>
            </a:path>
          </a:gradFill>
          <a:ln>
            <a:noFill/>
          </a:ln>
        </p:spPr>
      </p:sp>
      <p:sp>
        <p:nvSpPr>
          <p:cNvPr id="5" name="Ellipse 5"/>
          <p:cNvSpPr/>
          <p:nvPr/>
        </p:nvSpPr>
        <p:spPr>
          <a:xfrm>
            <a:off x="1333500" y="1333500"/>
            <a:ext cx="1143000" cy="1143000"/>
          </a:xfrm>
          <a:prstGeom prst="ellipse">
            <a:avLst/>
          </a:prstGeom>
          <a:solidFill>
            <a:srgbClr val="FFFFFF">
              <a:alpha val="6000"/>
            </a:srgbClr>
          </a:solidFill>
          <a:ln>
            <a:noFill/>
          </a:ln>
        </p:spPr>
      </p:sp>
      <p:sp>
        <p:nvSpPr>
          <p:cNvPr id="6" name="Ellipse 6"/>
          <p:cNvSpPr/>
          <p:nvPr/>
        </p:nvSpPr>
        <p:spPr>
          <a:xfrm>
            <a:off x="9525000" y="4191000"/>
            <a:ext cx="1524000" cy="1524000"/>
          </a:xfrm>
          <a:prstGeom prst="ellipse">
            <a:avLst/>
          </a:prstGeom>
          <a:solidFill>
            <a:srgbClr val="FFFFFF">
              <a:alpha val="5000"/>
            </a:srgbClr>
          </a:solidFill>
          <a:ln>
            <a:noFill/>
          </a:ln>
        </p:spPr>
      </p:sp>
      <p:sp>
        <p:nvSpPr>
          <p:cNvPr id="7" name="Ellipse 7"/>
          <p:cNvSpPr/>
          <p:nvPr/>
        </p:nvSpPr>
        <p:spPr>
          <a:xfrm>
            <a:off x="5715000" y="5334000"/>
            <a:ext cx="762000" cy="762000"/>
          </a:xfrm>
          <a:prstGeom prst="ellipse">
            <a:avLst/>
          </a:prstGeom>
          <a:solidFill>
            <a:srgbClr val="FFFFFF">
              <a:alpha val="8000"/>
            </a:srgbClr>
          </a:solidFill>
          <a:ln>
            <a:noFill/>
          </a:ln>
        </p:spPr>
      </p:sp>
      <p:grpSp>
        <p:nvGrpSpPr>
          <p:cNvPr id="11" name="Group 11"/>
          <p:cNvGrpSpPr/>
          <p:nvPr/>
        </p:nvGrpSpPr>
        <p:grpSpPr>
          <a:xfrm>
            <a:off x="5899156" y="1955806"/>
            <a:ext cx="374638" cy="355587"/>
            <a:chOff x="5899156" y="1955806"/>
            <a:chExt cx="374638" cy="355587"/>
          </a:xfrm>
        </p:grpSpPr>
        <p:sp>
          <p:nvSpPr>
            <p:cNvPr id="8" name="Freeform 8"/>
            <p:cNvSpPr/>
            <p:nvPr/>
          </p:nvSpPr>
          <p:spPr>
            <a:xfrm>
              <a:off x="6153150" y="2184406"/>
              <a:ext cx="120644" cy="126987"/>
            </a:xfrm>
            <a:custGeom>
              <a:avLst/>
              <a:gdLst/>
              <a:ahLst/>
              <a:cxnLst/>
              <a:rect l="l" t="t" r="r" b="b"/>
              <a:pathLst>
                <a:path w="120644" h="126987">
                  <a:moveTo>
                    <a:pt x="19050" y="82544"/>
                  </a:moveTo>
                  <a:cubicBezTo>
                    <a:pt x="8529" y="82544"/>
                    <a:pt x="0" y="74015"/>
                    <a:pt x="0" y="63494"/>
                  </a:cubicBezTo>
                  <a:cubicBezTo>
                    <a:pt x="0" y="52973"/>
                    <a:pt x="8529" y="44444"/>
                    <a:pt x="19050" y="44444"/>
                  </a:cubicBezTo>
                  <a:cubicBezTo>
                    <a:pt x="29571" y="44444"/>
                    <a:pt x="38100" y="35915"/>
                    <a:pt x="38100" y="25394"/>
                  </a:cubicBezTo>
                  <a:cubicBezTo>
                    <a:pt x="38100" y="0"/>
                    <a:pt x="76200" y="0"/>
                    <a:pt x="76200" y="25394"/>
                  </a:cubicBezTo>
                  <a:cubicBezTo>
                    <a:pt x="76200" y="35915"/>
                    <a:pt x="84729" y="44444"/>
                    <a:pt x="95250" y="44444"/>
                  </a:cubicBezTo>
                  <a:cubicBezTo>
                    <a:pt x="120644" y="44444"/>
                    <a:pt x="120644" y="82544"/>
                    <a:pt x="95250" y="82544"/>
                  </a:cubicBezTo>
                  <a:cubicBezTo>
                    <a:pt x="84729" y="82544"/>
                    <a:pt x="76200" y="91073"/>
                    <a:pt x="76200" y="101594"/>
                  </a:cubicBezTo>
                  <a:cubicBezTo>
                    <a:pt x="76200" y="126987"/>
                    <a:pt x="38100" y="126987"/>
                    <a:pt x="38100" y="101594"/>
                  </a:cubicBezTo>
                  <a:cubicBezTo>
                    <a:pt x="38100" y="91073"/>
                    <a:pt x="29571" y="82544"/>
                    <a:pt x="19050" y="82544"/>
                  </a:cubicBezTo>
                </a:path>
              </a:pathLst>
            </a:custGeom>
            <a:solidFill>
              <a:srgbClr val="FFFFFF"/>
            </a:solidFill>
            <a:ln>
              <a:noFill/>
            </a:ln>
          </p:spPr>
        </p:sp>
        <p:sp>
          <p:nvSpPr>
            <p:cNvPr id="9" name="Freeform 9"/>
            <p:cNvSpPr/>
            <p:nvPr/>
          </p:nvSpPr>
          <p:spPr>
            <a:xfrm>
              <a:off x="5899156" y="1993906"/>
              <a:ext cx="279387" cy="273044"/>
            </a:xfrm>
            <a:custGeom>
              <a:avLst/>
              <a:gdLst/>
              <a:ahLst/>
              <a:cxnLst/>
              <a:rect l="l" t="t" r="r" b="b"/>
              <a:pathLst>
                <a:path w="279387" h="273044">
                  <a:moveTo>
                    <a:pt x="25394" y="120644"/>
                  </a:moveTo>
                  <a:cubicBezTo>
                    <a:pt x="77999" y="120644"/>
                    <a:pt x="120644" y="77999"/>
                    <a:pt x="120644" y="25394"/>
                  </a:cubicBezTo>
                  <a:cubicBezTo>
                    <a:pt x="120644" y="0"/>
                    <a:pt x="158744" y="0"/>
                    <a:pt x="158744" y="25394"/>
                  </a:cubicBezTo>
                  <a:cubicBezTo>
                    <a:pt x="158744" y="77999"/>
                    <a:pt x="201389" y="120644"/>
                    <a:pt x="253994" y="120644"/>
                  </a:cubicBezTo>
                  <a:cubicBezTo>
                    <a:pt x="279387" y="120644"/>
                    <a:pt x="279387" y="158744"/>
                    <a:pt x="253994" y="158744"/>
                  </a:cubicBezTo>
                  <a:cubicBezTo>
                    <a:pt x="201389" y="158744"/>
                    <a:pt x="158744" y="201389"/>
                    <a:pt x="158744" y="253994"/>
                  </a:cubicBezTo>
                  <a:cubicBezTo>
                    <a:pt x="158744" y="264515"/>
                    <a:pt x="150215" y="273044"/>
                    <a:pt x="139694" y="273044"/>
                  </a:cubicBezTo>
                  <a:cubicBezTo>
                    <a:pt x="129173" y="273044"/>
                    <a:pt x="120644" y="264515"/>
                    <a:pt x="120644" y="253994"/>
                  </a:cubicBezTo>
                  <a:cubicBezTo>
                    <a:pt x="120644" y="201389"/>
                    <a:pt x="77999" y="158744"/>
                    <a:pt x="25394" y="158744"/>
                  </a:cubicBezTo>
                  <a:cubicBezTo>
                    <a:pt x="0" y="158744"/>
                    <a:pt x="0" y="120644"/>
                    <a:pt x="25394" y="120644"/>
                  </a:cubicBezTo>
                </a:path>
              </a:pathLst>
            </a:custGeom>
            <a:solidFill>
              <a:srgbClr val="FFFFFF"/>
            </a:solidFill>
            <a:ln>
              <a:noFill/>
            </a:ln>
          </p:spPr>
        </p:sp>
        <p:sp>
          <p:nvSpPr>
            <p:cNvPr id="10" name="Freeform 10"/>
            <p:cNvSpPr/>
            <p:nvPr/>
          </p:nvSpPr>
          <p:spPr>
            <a:xfrm>
              <a:off x="6153150" y="1955806"/>
              <a:ext cx="120644" cy="126987"/>
            </a:xfrm>
            <a:custGeom>
              <a:avLst/>
              <a:gdLst/>
              <a:ahLst/>
              <a:cxnLst/>
              <a:rect l="l" t="t" r="r" b="b"/>
              <a:pathLst>
                <a:path w="120644" h="126987">
                  <a:moveTo>
                    <a:pt x="19050" y="82544"/>
                  </a:moveTo>
                  <a:cubicBezTo>
                    <a:pt x="8529" y="82544"/>
                    <a:pt x="0" y="74015"/>
                    <a:pt x="0" y="63494"/>
                  </a:cubicBezTo>
                  <a:cubicBezTo>
                    <a:pt x="0" y="52973"/>
                    <a:pt x="8529" y="44444"/>
                    <a:pt x="19050" y="44444"/>
                  </a:cubicBezTo>
                  <a:cubicBezTo>
                    <a:pt x="29571" y="44444"/>
                    <a:pt x="38100" y="35915"/>
                    <a:pt x="38100" y="25394"/>
                  </a:cubicBezTo>
                  <a:cubicBezTo>
                    <a:pt x="38100" y="0"/>
                    <a:pt x="76200" y="0"/>
                    <a:pt x="76200" y="25394"/>
                  </a:cubicBezTo>
                  <a:cubicBezTo>
                    <a:pt x="76200" y="35915"/>
                    <a:pt x="84729" y="44444"/>
                    <a:pt x="95250" y="44444"/>
                  </a:cubicBezTo>
                  <a:cubicBezTo>
                    <a:pt x="120644" y="44444"/>
                    <a:pt x="120644" y="82544"/>
                    <a:pt x="95250" y="82544"/>
                  </a:cubicBezTo>
                  <a:cubicBezTo>
                    <a:pt x="84729" y="82544"/>
                    <a:pt x="76200" y="91073"/>
                    <a:pt x="76200" y="101594"/>
                  </a:cubicBezTo>
                  <a:cubicBezTo>
                    <a:pt x="76200" y="126987"/>
                    <a:pt x="38100" y="126987"/>
                    <a:pt x="38100" y="101594"/>
                  </a:cubicBezTo>
                  <a:cubicBezTo>
                    <a:pt x="38100" y="91073"/>
                    <a:pt x="29571" y="82544"/>
                    <a:pt x="19050" y="82544"/>
                  </a:cubicBezTo>
                </a:path>
              </a:pathLst>
            </a:custGeom>
            <a:solidFill>
              <a:srgbClr val="FFFFFF"/>
            </a:solidFill>
            <a:ln>
              <a:noFill/>
            </a:ln>
          </p:spPr>
        </p:sp>
      </p:grpSp>
      <p:sp>
        <p:nvSpPr>
          <p:cNvPr id="12" name="TextBox 12"/>
          <p:cNvSpPr txBox="1"/>
          <p:nvPr/>
        </p:nvSpPr>
        <p:spPr>
          <a:xfrm>
            <a:off x="4850320" y="2341245"/>
            <a:ext cx="2491359" cy="792480"/>
          </a:xfrm>
          <a:prstGeom prst="rect">
            <a:avLst/>
          </a:prstGeom>
          <a:noFill/>
          <a:ln>
            <a:noFill/>
          </a:ln>
        </p:spPr>
        <p:txBody>
          <a:bodyPr wrap="none" lIns="0" tIns="0" rIns="0" bIns="0" anchor="t" anchorCtr="0">
            <a:spAutoFit/>
          </a:bodyPr>
          <a:lstStyle/>
          <a:p>
            <a:pPr algn="ctr"/>
            <a:r>
              <a:rPr lang="zh-CN" sz="3900" b="1" dirty="0">
                <a:solidFill>
                  <a:srgbClr val="FFFFFF"/>
                </a:solidFill>
                <a:latin typeface="Georgia"/>
                <a:ea typeface="Microsoft YaHei"/>
                <a:cs typeface="Georgia"/>
              </a:rPr>
              <a:t>感谢聆听</a:t>
            </a:r>
          </a:p>
        </p:txBody>
      </p:sp>
      <p:sp>
        <p:nvSpPr>
          <p:cNvPr id="13" name="Line 13"/>
          <p:cNvSpPr/>
          <p:nvPr/>
        </p:nvSpPr>
        <p:spPr>
          <a:xfrm>
            <a:off x="5334000" y="3048000"/>
            <a:ext cx="1524000" cy="9525"/>
          </a:xfrm>
          <a:custGeom>
            <a:avLst/>
            <a:gdLst/>
            <a:ahLst/>
            <a:cxnLst/>
            <a:rect l="l" t="t" r="r" b="b"/>
            <a:pathLst>
              <a:path w="1524000" h="9525">
                <a:moveTo>
                  <a:pt x="0" y="0"/>
                </a:moveTo>
                <a:lnTo>
                  <a:pt x="1524000" y="0"/>
                </a:lnTo>
              </a:path>
            </a:pathLst>
          </a:custGeom>
          <a:noFill/>
          <a:ln w="19050">
            <a:solidFill>
              <a:srgbClr val="00B96B"/>
            </a:solidFill>
          </a:ln>
        </p:spPr>
      </p:sp>
      <p:sp>
        <p:nvSpPr>
          <p:cNvPr id="14" name="TextBox 14"/>
          <p:cNvSpPr txBox="1"/>
          <p:nvPr/>
        </p:nvSpPr>
        <p:spPr>
          <a:xfrm>
            <a:off x="5432917" y="3392805"/>
            <a:ext cx="1326166" cy="426720"/>
          </a:xfrm>
          <a:prstGeom prst="rect">
            <a:avLst/>
          </a:prstGeom>
          <a:noFill/>
          <a:ln>
            <a:noFill/>
          </a:ln>
        </p:spPr>
        <p:txBody>
          <a:bodyPr wrap="none" lIns="0" tIns="0" rIns="0" bIns="0" anchor="t" anchorCtr="0">
            <a:spAutoFit/>
          </a:bodyPr>
          <a:lstStyle/>
          <a:p>
            <a:pPr algn="ctr"/>
            <a:r>
              <a:rPr lang="zh-CN" sz="2100" dirty="0">
                <a:solidFill>
                  <a:srgbClr val="FFFFFF">
                    <a:alpha val="90000"/>
                  </a:srgbClr>
                </a:solidFill>
                <a:latin typeface="Arial"/>
                <a:ea typeface="Microsoft YaHei"/>
                <a:cs typeface="Arial"/>
              </a:rPr>
              <a:t>Q&amp;A 环节</a:t>
            </a:r>
          </a:p>
        </p:txBody>
      </p:sp>
      <p:sp>
        <p:nvSpPr>
          <p:cNvPr id="15" name="TextBox 15"/>
          <p:cNvSpPr txBox="1"/>
          <p:nvPr/>
        </p:nvSpPr>
        <p:spPr>
          <a:xfrm>
            <a:off x="4895850" y="4045268"/>
            <a:ext cx="2400300" cy="274320"/>
          </a:xfrm>
          <a:prstGeom prst="rect">
            <a:avLst/>
          </a:prstGeom>
          <a:noFill/>
          <a:ln>
            <a:noFill/>
          </a:ln>
        </p:spPr>
        <p:txBody>
          <a:bodyPr wrap="none" lIns="0" tIns="0" rIns="0" bIns="0" anchor="t" anchorCtr="0">
            <a:spAutoFit/>
          </a:bodyPr>
          <a:lstStyle/>
          <a:p>
            <a:pPr algn="ctr"/>
            <a:r>
              <a:rPr lang="zh-CN" sz="1350" dirty="0">
                <a:solidFill>
                  <a:srgbClr val="FFFFFF">
                    <a:alpha val="80000"/>
                  </a:srgbClr>
                </a:solidFill>
                <a:latin typeface="Arial"/>
                <a:ea typeface="Microsoft YaHei"/>
                <a:cs typeface="Arial"/>
              </a:rPr>
              <a:t>贵州旅游景点智能问答助手</a:t>
            </a:r>
          </a:p>
        </p:txBody>
      </p:sp>
      <p:sp>
        <p:nvSpPr>
          <p:cNvPr id="16" name="Rectangle 16"/>
          <p:cNvSpPr/>
          <p:nvPr/>
        </p:nvSpPr>
        <p:spPr>
          <a:xfrm>
            <a:off x="0" y="6477000"/>
            <a:ext cx="12192000" cy="381000"/>
          </a:xfrm>
          <a:prstGeom prst="rect">
            <a:avLst/>
          </a:prstGeom>
          <a:solidFill>
            <a:srgbClr val="000000">
              <a:alpha val="40000"/>
            </a:srgbClr>
          </a:solidFill>
          <a:ln>
            <a:noFill/>
          </a:ln>
        </p:spPr>
      </p:sp>
      <p:sp>
        <p:nvSpPr>
          <p:cNvPr id="17" name="TextBox 17"/>
          <p:cNvSpPr txBox="1"/>
          <p:nvPr/>
        </p:nvSpPr>
        <p:spPr>
          <a:xfrm>
            <a:off x="4535031" y="6619399"/>
            <a:ext cx="3121938" cy="198120"/>
          </a:xfrm>
          <a:prstGeom prst="rect">
            <a:avLst/>
          </a:prstGeom>
          <a:noFill/>
          <a:ln>
            <a:noFill/>
          </a:ln>
        </p:spPr>
        <p:txBody>
          <a:bodyPr wrap="none" lIns="0" tIns="0" rIns="0" bIns="0" anchor="t" anchorCtr="0">
            <a:spAutoFit/>
          </a:bodyPr>
          <a:lstStyle/>
          <a:p>
            <a:pPr algn="ctr"/>
            <a:r>
              <a:rPr lang="zh-CN" sz="975" dirty="0">
                <a:solidFill>
                  <a:srgbClr val="FFFFFF">
                    <a:alpha val="70000"/>
                  </a:srgbClr>
                </a:solidFill>
                <a:latin typeface="Arial"/>
                <a:ea typeface="Microsoft YaHei"/>
                <a:cs typeface="Arial"/>
              </a:rPr>
              <a:t>基于 RAG 的智慧旅游问答系统 · 期末答辩 · 2026</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